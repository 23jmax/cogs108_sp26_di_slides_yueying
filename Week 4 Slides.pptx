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Helvetica Neue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Light-italic.fntdata"/><Relationship Id="rId27" Type="http://schemas.openxmlformats.org/officeDocument/2006/relationships/font" Target="fonts/HelveticaNeue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069ffc55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069ffc55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69ffc55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69ffc55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69ffc55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069ffc55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069ffc55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069ffc55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69ffc55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069ffc55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69ffc553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069ffc553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69ffc553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69ffc553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069ffc55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069ffc55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69ffc553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69ffc553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69ffc553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069ffc553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069ffc553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069ffc553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69ffc553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069ffc553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69ffc553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69ffc553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69ffc553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069ffc553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69ffc553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69ffc553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69ffc553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069ffc553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69ffc553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069ffc553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069ffc553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069ffc553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Summarize what is in the data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Counts, means, missingness, tables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Look for patterns and generate ideas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Flexible and discovery-oriented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Use sample data to say something about a broader population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Often involves uncertainty estimates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Forecast unknown or future outcomes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Accuracy matters more than explanation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069ffc55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069ffc55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069ffc553_0_1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069ffc553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66750" y="2652713"/>
            <a:ext cx="78105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4294967295" type="ctrTitle"/>
          </p:nvPr>
        </p:nvSpPr>
        <p:spPr>
          <a:xfrm>
            <a:off x="666750" y="862013"/>
            <a:ext cx="53418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venir"/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Week 4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" name="Google Shape;59;p14"/>
          <p:cNvSpPr txBox="1"/>
          <p:nvPr>
            <p:ph idx="4294967295" type="subTitle"/>
          </p:nvPr>
        </p:nvSpPr>
        <p:spPr>
          <a:xfrm>
            <a:off x="666750" y="3228234"/>
            <a:ext cx="3041100" cy="1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</a:pPr>
            <a:r>
              <a:rPr lang="en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COGS 108 </a:t>
            </a:r>
            <a:r>
              <a:rPr lang="en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SP</a:t>
            </a:r>
            <a:r>
              <a:rPr lang="en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2026</a:t>
            </a:r>
            <a:endParaRPr sz="20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667290" y="2809875"/>
            <a:ext cx="7809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6017239" y="294615"/>
            <a:ext cx="2468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2850" y="4716425"/>
            <a:ext cx="534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*By: Jason Chen &amp; Jessica Cheng, Spring 2026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Due dates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234950" lvl="0" marL="266700" rtl="0" algn="l"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•"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A1 and Project Review: Wednesday (04/22)</a:t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3495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Char char="•"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D3: Friday (04/24)</a:t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Reminder:</a:t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Datahub Feedback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9" name="Google Shape;69;p15" title="Screenshot 2026-04-22 at 10.42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475" y="3236250"/>
            <a:ext cx="5889471" cy="16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Data Ethics: core ideas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33425" y="834200"/>
            <a:ext cx="52104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Principles</a:t>
            </a:r>
            <a:endParaRPr b="1"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venir"/>
              <a:buChar char="○"/>
            </a:pPr>
            <a:r>
              <a:rPr lang="en" sz="1900"/>
              <a:t>Respect for persons / autonomy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Beneficence: aim to help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Non-maleficence: avoid harm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Justice: fairness in burdens and benefits</a:t>
            </a:r>
            <a:endParaRPr sz="1900"/>
          </a:p>
          <a:p>
            <a:pPr indent="-34925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Reminders</a:t>
            </a:r>
            <a:endParaRPr b="1"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Good intentions do not guarantee ethical outcomes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Harms can be indirect, delayed, or unintended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Biased data can produce biased results</a:t>
            </a:r>
            <a:endParaRPr sz="1900"/>
          </a:p>
          <a:p>
            <a:pPr indent="-34925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 system can be legal, technical, and still unethical</a:t>
            </a:r>
            <a:endParaRPr sz="19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175" y="1568450"/>
            <a:ext cx="3009900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Data Ethics: core ideas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33425" y="1318050"/>
            <a:ext cx="5210400" cy="25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●"/>
            </a:pPr>
            <a:r>
              <a:rPr b="1" lang="en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Think like a reviewer</a:t>
            </a:r>
            <a:endParaRPr b="1"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○"/>
            </a:pPr>
            <a:r>
              <a:rPr lang="en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Who are the stakeholders?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○"/>
            </a:pPr>
            <a:r>
              <a:rPr lang="en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Who could be harmed?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○"/>
            </a:pPr>
            <a:r>
              <a:rPr lang="en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 assumptions are built into the data?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○"/>
            </a:pPr>
            <a:r>
              <a:rPr lang="en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Can people contest or appeal decisions?</a:t>
            </a:r>
            <a:endParaRPr b="1" sz="22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825" y="1568450"/>
            <a:ext cx="3009900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Privacy, PII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Personally identifiable information (PII)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2100"/>
              <a:t>Direct identifiers</a:t>
            </a:r>
            <a:r>
              <a:rPr lang="en" sz="2100"/>
              <a:t>: name, SSN, license number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2100"/>
              <a:t>Indirect identifiers </a:t>
            </a:r>
            <a:r>
              <a:rPr lang="en" sz="2100"/>
              <a:t>can also matter if data are linkable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2100">
                <a:solidFill>
                  <a:srgbClr val="FF0000"/>
                </a:solidFill>
              </a:rPr>
              <a:t>Location</a:t>
            </a:r>
            <a:r>
              <a:rPr b="1" lang="en" sz="2100"/>
              <a:t>, education, financial, and medical data can become identifying in context</a:t>
            </a:r>
            <a:endParaRPr b="1" sz="21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050" y="2937200"/>
            <a:ext cx="3565100" cy="20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Proxies, and consent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●"/>
            </a:pPr>
            <a:r>
              <a:rPr b="1" lang="en" sz="2100">
                <a:solidFill>
                  <a:srgbClr val="FF0000"/>
                </a:solidFill>
              </a:rPr>
              <a:t>Proxy variables</a:t>
            </a:r>
            <a:endParaRPr b="1" sz="2100">
              <a:solidFill>
                <a:srgbClr val="FF0000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 feature may stand in for a sensitive trait without naming it directly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That can still create </a:t>
            </a:r>
            <a:r>
              <a:rPr b="1" lang="en" sz="2100"/>
              <a:t>unfair or discriminatory outcomes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Always ask what the variable is really capturing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●"/>
            </a:pPr>
            <a:r>
              <a:rPr b="1" lang="en" sz="2100">
                <a:solidFill>
                  <a:srgbClr val="FF0000"/>
                </a:solidFill>
              </a:rPr>
              <a:t>Informed consent</a:t>
            </a:r>
            <a:endParaRPr b="1" sz="2100">
              <a:solidFill>
                <a:srgbClr val="FF0000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Participation should be voluntary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People should understand what is collected and the risks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Consent can be withdrawn in many research settings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Strong data science questions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Specific</a:t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Measurable</a:t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Answerable with obtainable data</a:t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Clear about variables, population, and time frame</a:t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Narrow enough to do, broad enough to matter</a:t>
            </a:r>
            <a:endParaRPr sz="2100"/>
          </a:p>
        </p:txBody>
      </p:sp>
      <p:pic>
        <p:nvPicPr>
          <p:cNvPr descr="Person asks a question and wants to get – Royalty-Free Vector | VectorStock" id="103" name="Google Shape;103;p20"/>
          <p:cNvPicPr preferRelativeResize="0"/>
          <p:nvPr/>
        </p:nvPicPr>
        <p:blipFill rotWithShape="1">
          <a:blip r:embed="rId3">
            <a:alphaModFix/>
          </a:blip>
          <a:srcRect b="8189" l="0" r="0" t="0"/>
          <a:stretch/>
        </p:blipFill>
        <p:spPr>
          <a:xfrm>
            <a:off x="6705625" y="133350"/>
            <a:ext cx="2268350" cy="22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Strong data science questions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Person asks a question and wants to get – Royalty-Free Vector | VectorStock" id="109" name="Google Shape;109;p21"/>
          <p:cNvPicPr preferRelativeResize="0"/>
          <p:nvPr/>
        </p:nvPicPr>
        <p:blipFill rotWithShape="1">
          <a:blip r:embed="rId3">
            <a:alphaModFix/>
          </a:blip>
          <a:srcRect b="8189" l="0" r="0" t="0"/>
          <a:stretch/>
        </p:blipFill>
        <p:spPr>
          <a:xfrm>
            <a:off x="6705625" y="133350"/>
            <a:ext cx="2268350" cy="22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816725" y="990750"/>
            <a:ext cx="75105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Red Flags</a:t>
            </a:r>
            <a:endParaRPr sz="2100"/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Too vague</a:t>
            </a:r>
            <a:endParaRPr sz="2100"/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Undefined outcomes</a:t>
            </a:r>
            <a:endParaRPr sz="2100"/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No clear metric</a:t>
            </a:r>
            <a:endParaRPr sz="2100"/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Requires unavailable data</a:t>
            </a:r>
            <a:endParaRPr sz="2100"/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Asks for causation with only observational data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Evaluation: metrics are not the same as goals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633425" y="1162050"/>
            <a:ext cx="51390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 lnSpcReduction="20000"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●"/>
            </a:pPr>
            <a:r>
              <a:rPr b="1" lang="en" sz="2100">
                <a:solidFill>
                  <a:srgbClr val="FF0000"/>
                </a:solidFill>
              </a:rPr>
              <a:t>Goodhart’s law</a:t>
            </a:r>
            <a:endParaRPr b="1" sz="2100">
              <a:solidFill>
                <a:srgbClr val="FF0000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When a measure becomes a target, it stops being a reliable measure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Optimizing the proxy can distort the real goal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Common failure mode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A platform optimizes for clicks, time, or engagement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Those metrics may not represent truth, learning, safety, or well-being</a:t>
            </a:r>
            <a:endParaRPr sz="2100"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425" y="1872289"/>
            <a:ext cx="3104275" cy="20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Correlation, causation, and confounding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4027450" y="1162050"/>
            <a:ext cx="48186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 fontScale="92500" lnSpcReduction="10000"/>
          </a:bodyPr>
          <a:lstStyle/>
          <a:p>
            <a:pPr indent="-3519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100">
                <a:solidFill>
                  <a:srgbClr val="FF0000"/>
                </a:solidFill>
              </a:rPr>
              <a:t>Correlation </a:t>
            </a:r>
            <a:r>
              <a:rPr lang="en" sz="2100"/>
              <a:t>tells you</a:t>
            </a:r>
            <a:endParaRPr sz="2100"/>
          </a:p>
          <a:p>
            <a:pPr indent="-35194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Direction and strength of association</a:t>
            </a:r>
            <a:endParaRPr sz="2100"/>
          </a:p>
          <a:p>
            <a:pPr indent="-35194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How variables move together</a:t>
            </a:r>
            <a:endParaRPr sz="2100"/>
          </a:p>
          <a:p>
            <a:pPr indent="-3519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Correlation does NOT tell you</a:t>
            </a:r>
            <a:endParaRPr sz="2100"/>
          </a:p>
          <a:p>
            <a:pPr indent="-35194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That one variable </a:t>
            </a:r>
            <a:r>
              <a:rPr b="1" lang="en" sz="2100"/>
              <a:t>caused </a:t>
            </a:r>
            <a:r>
              <a:rPr lang="en" sz="2100"/>
              <a:t>the other</a:t>
            </a:r>
            <a:endParaRPr sz="2100"/>
          </a:p>
          <a:p>
            <a:pPr indent="-35194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That there is no hidden third variable</a:t>
            </a:r>
            <a:endParaRPr sz="2100"/>
          </a:p>
          <a:p>
            <a:pPr indent="-35194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That the relationship is meaningful outside the observed setting</a:t>
            </a:r>
            <a:endParaRPr sz="2100"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75" y="1594072"/>
            <a:ext cx="3490877" cy="195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633425" y="2100750"/>
            <a:ext cx="4536900" cy="27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Histogram: 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one numeric distribution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File:Histogram example.svg - Wikimedia Commons"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550" y="1395225"/>
            <a:ext cx="3464825" cy="27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33425" y="982200"/>
            <a:ext cx="45369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Char char="●"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Boxplot: </a:t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Char char="○"/>
            </a:pPr>
            <a:r>
              <a:rPr lang="en" sz="2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numeric distribution across groups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File:Elements of a boxplot pt.svg - Wikimedia Commons" id="138" name="Google Shape;138;p25"/>
          <p:cNvPicPr preferRelativeResize="0"/>
          <p:nvPr/>
        </p:nvPicPr>
        <p:blipFill rotWithShape="1">
          <a:blip r:embed="rId3">
            <a:alphaModFix/>
          </a:blip>
          <a:srcRect b="0" l="0" r="0" t="24959"/>
          <a:stretch/>
        </p:blipFill>
        <p:spPr>
          <a:xfrm>
            <a:off x="1190675" y="2654050"/>
            <a:ext cx="6580950" cy="18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633425" y="982200"/>
            <a:ext cx="45369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Scatterplot: 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relationship between two numeric variables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File:Scatterplot of education and income.png - Wikimedia Commons"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649" y="368412"/>
            <a:ext cx="4067075" cy="45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633425" y="1962600"/>
            <a:ext cx="45369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Char char="●"/>
            </a:pPr>
            <a:r>
              <a:rPr lang="en" sz="2400">
                <a:latin typeface="Avenir"/>
                <a:ea typeface="Avenir"/>
                <a:cs typeface="Avenir"/>
                <a:sym typeface="Avenir"/>
              </a:rPr>
              <a:t>Line plot: 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Char char="○"/>
            </a:pPr>
            <a:r>
              <a:rPr lang="en" sz="2400">
                <a:latin typeface="Avenir"/>
                <a:ea typeface="Avenir"/>
                <a:cs typeface="Avenir"/>
                <a:sym typeface="Avenir"/>
              </a:rPr>
              <a:t>change over time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File:Pandas lineplot.png - Wikimedia Commons"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025" y="59600"/>
            <a:ext cx="3668874" cy="2761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Matplotlib3 lineplot.svg - Wikimedia Commons"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500" y="2738950"/>
            <a:ext cx="3002874" cy="22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519925" y="1846650"/>
            <a:ext cx="4428600" cy="1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Char char="●"/>
            </a:pPr>
            <a:r>
              <a:rPr lang="en" sz="2400">
                <a:latin typeface="Avenir"/>
                <a:ea typeface="Avenir"/>
                <a:cs typeface="Avenir"/>
                <a:sym typeface="Avenir"/>
              </a:rPr>
              <a:t>Stacked bar chart: 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Char char="○"/>
            </a:pPr>
            <a:r>
              <a:rPr lang="en" sz="2400">
                <a:latin typeface="Avenir"/>
                <a:ea typeface="Avenir"/>
                <a:cs typeface="Avenir"/>
                <a:sym typeface="Avenir"/>
              </a:rPr>
              <a:t>composition/proportions across categories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File:Wikipedia-medicine-2.png - Wikipedia"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16276" r="0" t="0"/>
          <a:stretch/>
        </p:blipFill>
        <p:spPr>
          <a:xfrm>
            <a:off x="5110500" y="1283350"/>
            <a:ext cx="4904251" cy="29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Visualization choices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General design habits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Use informative titles and labels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Prefer comparisons people can judge accurately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Annotate clearly when it reduces confusion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Avoid decorative choices that hide the pattern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Library choices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633413" y="11620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s</a:t>
            </a:r>
            <a:r>
              <a:rPr lang="en" sz="2100">
                <a:latin typeface="Avenir"/>
                <a:ea typeface="Avenir"/>
                <a:cs typeface="Avenir"/>
                <a:sym typeface="Avenir"/>
              </a:rPr>
              <a:t>eaborn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high-level statistical graphics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m</a:t>
            </a:r>
            <a:r>
              <a:rPr lang="en" sz="2100">
                <a:latin typeface="Avenir"/>
                <a:ea typeface="Avenir"/>
                <a:cs typeface="Avenir"/>
                <a:sym typeface="Avenir"/>
              </a:rPr>
              <a:t>atplotlib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venir"/>
              <a:buChar char="○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detailed control and fine-tuning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seaborn · PyPI"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123375"/>
            <a:ext cx="4000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5775" y="3076975"/>
            <a:ext cx="4360249" cy="14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nir"/>
                <a:ea typeface="Avenir"/>
                <a:cs typeface="Avenir"/>
                <a:sym typeface="Avenir"/>
              </a:rPr>
              <a:t>Common analysis types</a:t>
            </a:r>
            <a:endParaRPr b="1"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633413" y="108585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 fontScale="92500" lnSpcReduction="20000"/>
          </a:bodyPr>
          <a:lstStyle/>
          <a:p>
            <a:pPr indent="-3519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en" sz="2100">
                <a:solidFill>
                  <a:srgbClr val="FF0000"/>
                </a:solidFill>
              </a:rPr>
              <a:t>Descriptive</a:t>
            </a:r>
            <a:endParaRPr b="1" sz="2100">
              <a:solidFill>
                <a:srgbClr val="FF0000"/>
              </a:solidFill>
            </a:endParaRPr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Summarize what is in the data</a:t>
            </a:r>
            <a:endParaRPr sz="2100"/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Counts, means, missingness, tables</a:t>
            </a:r>
            <a:endParaRPr sz="2100"/>
          </a:p>
          <a:p>
            <a:pPr indent="-35194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en" sz="2100">
                <a:solidFill>
                  <a:srgbClr val="FF0000"/>
                </a:solidFill>
              </a:rPr>
              <a:t>Exploratory</a:t>
            </a:r>
            <a:endParaRPr b="1" sz="2100">
              <a:solidFill>
                <a:srgbClr val="FF0000"/>
              </a:solidFill>
            </a:endParaRPr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Look for patterns and generate ideas</a:t>
            </a:r>
            <a:endParaRPr sz="2100"/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Flexible and discovery-oriented</a:t>
            </a:r>
            <a:endParaRPr sz="2100"/>
          </a:p>
          <a:p>
            <a:pPr indent="-35194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en" sz="2100">
                <a:solidFill>
                  <a:srgbClr val="FF0000"/>
                </a:solidFill>
              </a:rPr>
              <a:t>Inferential</a:t>
            </a:r>
            <a:endParaRPr b="1" sz="2100">
              <a:solidFill>
                <a:srgbClr val="FF0000"/>
              </a:solidFill>
            </a:endParaRPr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Use sample data to say something about a broader population</a:t>
            </a:r>
            <a:endParaRPr sz="2100"/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Often involves uncertainty estimates</a:t>
            </a:r>
            <a:endParaRPr sz="2100"/>
          </a:p>
          <a:p>
            <a:pPr indent="-35194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en" sz="2100">
                <a:solidFill>
                  <a:srgbClr val="FF0000"/>
                </a:solidFill>
              </a:rPr>
              <a:t>Predictive</a:t>
            </a:r>
            <a:endParaRPr b="1" sz="2100">
              <a:solidFill>
                <a:srgbClr val="FF0000"/>
              </a:solidFill>
            </a:endParaRPr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Forecast unknown or future outcomes</a:t>
            </a:r>
            <a:endParaRPr sz="2100"/>
          </a:p>
          <a:p>
            <a:pPr indent="-35194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Accuracy matters more than explanation</a:t>
            </a:r>
            <a:endParaRPr sz="2100"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225" y="176400"/>
            <a:ext cx="3692775" cy="20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Quiz Time</a:t>
            </a:r>
            <a:endParaRPr sz="5000"/>
          </a:p>
        </p:txBody>
      </p:sp>
      <p:sp>
        <p:nvSpPr>
          <p:cNvPr id="187" name="Google Shape;187;p32"/>
          <p:cNvSpPr txBox="1"/>
          <p:nvPr/>
        </p:nvSpPr>
        <p:spPr>
          <a:xfrm>
            <a:off x="5203325" y="4372900"/>
            <a:ext cx="382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Access Code: code here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1444950" y="3181100"/>
            <a:ext cx="625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NO Phone, NO Communication, No Notes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venir"/>
              <a:buNone/>
            </a:pPr>
            <a:r>
              <a:rPr lang="en" sz="3000">
                <a:latin typeface="Avenir"/>
                <a:ea typeface="Avenir"/>
                <a:cs typeface="Avenir"/>
                <a:sym typeface="Avenir"/>
              </a:rPr>
              <a:t>Your time to …</a:t>
            </a:r>
            <a:endParaRPr sz="3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633413" y="1362075"/>
            <a:ext cx="76248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234950" lvl="0" marL="2667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100"/>
              <a:buFont typeface="Avenir"/>
              <a:buChar char="●"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Work on D3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