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Play"/>
      <p:regular r:id="rId29"/>
      <p:bold r:id="rId30"/>
    </p:embeddedFont>
    <p:embeddedFont>
      <p:font typeface="Helvetica Neue Light"/>
      <p:regular r:id="rId31"/>
      <p:bold r:id="rId32"/>
      <p:italic r:id="rId33"/>
      <p:boldItalic r:id="rId34"/>
    </p:embeddedFont>
    <p:embeddedFont>
      <p:font typeface="Roboto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Light-regular.fntdata"/><Relationship Id="rId30" Type="http://schemas.openxmlformats.org/officeDocument/2006/relationships/font" Target="fonts/Play-bold.fntdata"/><Relationship Id="rId11" Type="http://schemas.openxmlformats.org/officeDocument/2006/relationships/slide" Target="slides/slide6.xml"/><Relationship Id="rId33" Type="http://schemas.openxmlformats.org/officeDocument/2006/relationships/font" Target="fonts/HelveticaNeueLight-italic.fntdata"/><Relationship Id="rId10" Type="http://schemas.openxmlformats.org/officeDocument/2006/relationships/slide" Target="slides/slide5.xml"/><Relationship Id="rId32" Type="http://schemas.openxmlformats.org/officeDocument/2006/relationships/font" Target="fonts/HelveticaNeueLight-bold.fntdata"/><Relationship Id="rId13" Type="http://schemas.openxmlformats.org/officeDocument/2006/relationships/slide" Target="slides/slide8.xml"/><Relationship Id="rId35" Type="http://schemas.openxmlformats.org/officeDocument/2006/relationships/font" Target="fonts/RobotoMono-regular.fntdata"/><Relationship Id="rId12" Type="http://schemas.openxmlformats.org/officeDocument/2006/relationships/slide" Target="slides/slide7.xml"/><Relationship Id="rId34" Type="http://schemas.openxmlformats.org/officeDocument/2006/relationships/font" Target="fonts/HelveticaNeueLight-boldItalic.fntdata"/><Relationship Id="rId15" Type="http://schemas.openxmlformats.org/officeDocument/2006/relationships/slide" Target="slides/slide10.xml"/><Relationship Id="rId37" Type="http://schemas.openxmlformats.org/officeDocument/2006/relationships/font" Target="fonts/RobotoMono-italic.fntdata"/><Relationship Id="rId14" Type="http://schemas.openxmlformats.org/officeDocument/2006/relationships/slide" Target="slides/slide9.xml"/><Relationship Id="rId36" Type="http://schemas.openxmlformats.org/officeDocument/2006/relationships/font" Target="fonts/RobotoMon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RobotoMon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e069ffc553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g3e069ffc55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069ffc55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069ffc55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99adf6e26_0_97: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g3e99adf6e26_0_97: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Supervised learning uses labeled data. The model learns from known targets. Examples include linear regression, logistic regression, SVM, and random forest.</a:t>
            </a:r>
            <a:endParaRPr/>
          </a:p>
          <a:p>
            <a:pPr indent="0" lvl="0" marL="0" rtl="0" algn="l">
              <a:lnSpc>
                <a:spcPct val="115000"/>
              </a:lnSpc>
              <a:spcBef>
                <a:spcPts val="1200"/>
              </a:spcBef>
              <a:spcAft>
                <a:spcPts val="0"/>
              </a:spcAft>
              <a:buClr>
                <a:schemeClr val="dk1"/>
              </a:buClr>
              <a:buSzPts val="1100"/>
              <a:buFont typeface="Arial"/>
              <a:buNone/>
            </a:pPr>
            <a:r>
              <a:rPr lang="en"/>
              <a:t>Unsupervised learning uses unlabeled data. The goal is to find hidden structure or patterns. Examples include k-means, PCA, t-SNE, and hierarchical clustering.</a:t>
            </a:r>
            <a:endParaRPr/>
          </a:p>
          <a:p>
            <a:pPr indent="0" lvl="0" marL="0" rtl="0" algn="l">
              <a:lnSpc>
                <a:spcPct val="115000"/>
              </a:lnSpc>
              <a:spcBef>
                <a:spcPts val="1200"/>
              </a:spcBef>
              <a:spcAft>
                <a:spcPts val="1200"/>
              </a:spcAft>
              <a:buSzPts val="1100"/>
              <a:buNone/>
            </a:pPr>
            <a:r>
              <a:rPr lang="en"/>
              <a:t>The key distinction is whether the model has known answers during training. Supervised learning learns from known answers. Unsupervised learning tries to discover patterns without known answers.</a:t>
            </a:r>
            <a:endParaRPr/>
          </a:p>
        </p:txBody>
      </p:sp>
      <p:sp>
        <p:nvSpPr>
          <p:cNvPr id="73" name="Google Shape;73;g3e99adf6e26_0_97: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99adf6e26_0_25: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e99adf6e26_0_25: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A linear classifier separates data using a straight line, a flat plane, or a hyperplane in higher dimensions. Logistic regression and linear SVMs are examples of linear models. These models are usually stable, interpretable, and computationally efficient.</a:t>
            </a:r>
            <a:endParaRPr/>
          </a:p>
          <a:p>
            <a:pPr indent="0" lvl="0" marL="0" rtl="0" algn="l">
              <a:lnSpc>
                <a:spcPct val="115000"/>
              </a:lnSpc>
              <a:spcBef>
                <a:spcPts val="1200"/>
              </a:spcBef>
              <a:spcAft>
                <a:spcPts val="1200"/>
              </a:spcAft>
              <a:buSzPts val="1100"/>
              <a:buNone/>
            </a:pPr>
            <a:r>
              <a:rPr lang="en"/>
              <a:t>A non-linear classifier can create curved or more complex decision boundaries. Kernel SVMs, random forests, k-nearest neighbors, and deep learning models are examples. These models can capture more complicated patterns, but they can also overfit more easily. The key idea is that model flexibility should match the structure of the data.</a:t>
            </a:r>
            <a:endParaRPr/>
          </a:p>
        </p:txBody>
      </p:sp>
      <p:sp>
        <p:nvSpPr>
          <p:cNvPr id="87" name="Google Shape;87;g3e99adf6e26_0_25: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99adf6e26_0_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g3e99adf6e26_0_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Different classifiers can create very different decision boundaries on the same dataset. A linear model tries to separate the data with a straight boundary. A non-linear model can bend around the data more flexibly.</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The important takeaway is not that one model is always better. The correct model depends on the dataset and the goal. We should use validation data or cross-validation to estimate how well a model generalizes. We should not choose a model only because it looks good on the training data.</a:t>
            </a:r>
            <a:endParaRPr sz="1200">
              <a:solidFill>
                <a:schemeClr val="dk1"/>
              </a:solidFill>
            </a:endParaRPr>
          </a:p>
        </p:txBody>
      </p:sp>
      <p:sp>
        <p:nvSpPr>
          <p:cNvPr id="99" name="Google Shape;99;g3e99adf6e26_0_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99adf6e26_2_6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g3e99adf6e26_2_6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k-nearest neighbors, or kNN, is based on local voting. When we classify a new point, the model looks at the closest training points and uses their labels to make a prediction.</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The main hyperparameter is k. This controls how many neighbors get to vote. A small k means the model focuses on very local patterns. A larger k means the model averages over more points.</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Because kNN uses distance, feature scaling matters. If one feature has much larger numbers than another feature, it can dominate the distance calculation. That is why standardizing numerical features is often important for kNN.</a:t>
            </a:r>
            <a:endParaRPr sz="1200">
              <a:solidFill>
                <a:schemeClr val="dk1"/>
              </a:solidFill>
            </a:endParaRPr>
          </a:p>
        </p:txBody>
      </p:sp>
      <p:sp>
        <p:nvSpPr>
          <p:cNvPr id="113" name="Google Shape;113;g3e99adf6e26_2_6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99adf6e26_2_9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g3e99adf6e26_2_9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Changing k changes how complex or flexible the kNN model is. When k is small, the model can follow local details very closely. This can make it sensitive to noise, and it may memorize patterns that do not generalize.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When k is larger, the decision boundary becomes smoother. This reduces variance, but if k becomes too large, the model may underfit and miss important structure.</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The main principle is that we should choose k using validation performance, not training performance. Training performance alone can make overly flexible models look better than they really are.</a:t>
            </a:r>
            <a:endParaRPr sz="1200">
              <a:solidFill>
                <a:schemeClr val="dk1"/>
              </a:solidFill>
            </a:endParaRPr>
          </a:p>
        </p:txBody>
      </p:sp>
      <p:sp>
        <p:nvSpPr>
          <p:cNvPr id="136" name="Google Shape;136;g3e99adf6e26_2_9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99adf6e26_2_11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g3e99adf6e26_2_11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 support vector machine tries to find a decision boundary that separates the classes while maximizing the margin. The margin is the empty space between the decision boundary and the closest training points.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The closest training points are called support vectors. These points are especially important because they determine the position of the margin and the boundary.</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For a linear SVM, the boundary is linear in the feature space. This means it is a straight line in two dimensions, a plane in three dimensions, or a hyperplane in higher dimensions.</a:t>
            </a:r>
            <a:endParaRPr sz="1200">
              <a:solidFill>
                <a:schemeClr val="dk1"/>
              </a:solidFill>
            </a:endParaRPr>
          </a:p>
        </p:txBody>
      </p:sp>
      <p:sp>
        <p:nvSpPr>
          <p:cNvPr id="158" name="Google Shape;158;g3e99adf6e26_2_11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e41a760e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e41a760e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99adf6e26_2_16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g3e99adf6e26_2_16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Kernels allow models like SVMs to solve non-linear problems. The basic idea is to transform the data into a higher-dimensional feature space. In the original space, the classes may not be separable by a straight line. After transformation, a linear separator may work.</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The kernel trick lets the model use this higher-dimensional idea without explicitly building every transformed feature. This is why a kernel SVM can create a non-linear boundary while still relying on a linear separator in the transformed feature space.</a:t>
            </a:r>
            <a:endParaRPr sz="1200">
              <a:solidFill>
                <a:schemeClr val="dk1"/>
              </a:solidFill>
            </a:endParaRPr>
          </a:p>
        </p:txBody>
      </p:sp>
      <p:sp>
        <p:nvSpPr>
          <p:cNvPr id="186" name="Google Shape;186;g3e99adf6e26_2_16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99adf6e26_2_13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g3e99adf6e26_2_13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The SVM hyperparameter C controls how strongly the model tries to avoid mistakes on the training data. A large C acts more like a hard margin. The model tries harder to classify training points correctly, even if this creates a boundary that is less robust.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 small C creates a softer margin. The model allows some training mistakes in exchange for a simpler or more stable boundary.</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When data are noisy, a softer margin can generalize better. The model does not need to chase every unusual point in the training set.</a:t>
            </a:r>
            <a:endParaRPr sz="1200">
              <a:solidFill>
                <a:schemeClr val="dk1"/>
              </a:solidFill>
            </a:endParaRPr>
          </a:p>
        </p:txBody>
      </p:sp>
      <p:sp>
        <p:nvSpPr>
          <p:cNvPr id="208" name="Google Shape;208;g3e99adf6e26_2_13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e99adf6e26_2_19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g3e99adf6e26_2_19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 decision tree makes predictions using a sequence of if-then rules. Each internal node asks a question about one feature, such as whether a value is less than or equal to a threshold.</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Each split divides the data into smaller groups. These splits create axis-aligned decision boundaries, meaning the boundaries are perpendicular to one feature axis at a time.</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Decision trees are useful because they are relatively interpretable. However, deeper trees can become very flexible and may overfit. The more depth we allow, the more complex the rules become.</a:t>
            </a:r>
            <a:endParaRPr sz="1200">
              <a:solidFill>
                <a:schemeClr val="dk1"/>
              </a:solidFill>
            </a:endParaRPr>
          </a:p>
        </p:txBody>
      </p:sp>
      <p:sp>
        <p:nvSpPr>
          <p:cNvPr id="231" name="Google Shape;231;g3e99adf6e26_2_19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99adf6e26_2_25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g3e99adf6e26_2_25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Accuracy measures the fraction of predictions that are correct. This can be useful, but it can also be misleading when the classes are imbalanced.</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For example, if one class is very rare, a model can get high accuracy by always predicting the majority class. But that model may completely fail to detect the rare class that we actually care about.</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That is why we need class-specific metrics. Recall, specificity, and precision help us understand different kinds of performance beyond overall accuracy.</a:t>
            </a:r>
            <a:endParaRPr sz="1200">
              <a:solidFill>
                <a:schemeClr val="dk1"/>
              </a:solidFill>
            </a:endParaRPr>
          </a:p>
        </p:txBody>
      </p:sp>
      <p:sp>
        <p:nvSpPr>
          <p:cNvPr id="251" name="Google Shape;251;g3e99adf6e26_2_25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99adf6e26_2_38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g3e99adf6e26_2_38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Before using terms like true positive, false positive, false negative, and true negative, we need to define the positive class.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 true positive means the model predicted positive and the actual class was positive. A false positive means the model predicted positive, but the actual class was negative. A false negative means the model predicted negative, but the actual class was positive. A true negative means the model predicted negative and the actual class was negative.</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These labels are always relative to what we call the positive class. If the positive class changes, the interpretation of the confusion matrix changes too.</a:t>
            </a:r>
            <a:endParaRPr sz="1200">
              <a:solidFill>
                <a:schemeClr val="dk1"/>
              </a:solidFill>
            </a:endParaRPr>
          </a:p>
        </p:txBody>
      </p:sp>
      <p:sp>
        <p:nvSpPr>
          <p:cNvPr id="374" name="Google Shape;374;g3e99adf6e26_2_38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99adf6e26_2_41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g3e99adf6e26_2_41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Accuracy asks: out of all examples, what percentage did we predict correctly?</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Recall, also called sensitivity, asks: out of the actual positives, what percentage did we detect?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Specificity asks: out of the actual negatives, what percentage did we correctly reject?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Precision, also called positive predictive value, asks: out of the examples predicted positive, what percentage were actually positive?</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A useful shortcut is to ask what group is in the denominator. That tells you what population the metric is focusing on.</a:t>
            </a:r>
            <a:endParaRPr sz="1200">
              <a:solidFill>
                <a:schemeClr val="dk1"/>
              </a:solidFill>
            </a:endParaRPr>
          </a:p>
        </p:txBody>
      </p:sp>
      <p:sp>
        <p:nvSpPr>
          <p:cNvPr id="401" name="Google Shape;401;g3e99adf6e26_2_41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e99adf6e26_2_23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g3e99adf6e26_2_237: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For regression problems, the target is continuous rather than categorical. Instead of using accuracy or a confusion matrix, we compare predicted values with true values using error metrics.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Mean squared error averages the squared errors. Root mean squared error is the square root of mean squared error, so it is in the same units as the target variable. Mean absolute error averages the absolute size of the errors.</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Squared-error metrics punish large errors especially strongly. MAE is less dominated by extreme outliers. So the best metric depends on what kind of prediction error matters most for the problem.</a:t>
            </a:r>
            <a:endParaRPr sz="1200">
              <a:solidFill>
                <a:schemeClr val="dk1"/>
              </a:solidFill>
            </a:endParaRPr>
          </a:p>
        </p:txBody>
      </p:sp>
      <p:sp>
        <p:nvSpPr>
          <p:cNvPr id="428" name="Google Shape;428;g3e99adf6e26_2_237: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99adf6e26_2_44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g3e99adf6e26_2_44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ROC curves are used for binary classification models that produce scores or probabilities. The ROC curve shows how the true positive rate and false positive rate change as the classification threshold changes.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AUC stands for area under the ROC curve. It summarizes how well the model separates positives from negatives across thresholds.</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A higher AUC means better separation. Random-like performance is near 0.5 for balanced binary data, and perfect separation is 1. The important idea is that ROC-AUC evaluates ranking or separation, not just one fixed threshold.</a:t>
            </a:r>
            <a:endParaRPr sz="1200">
              <a:solidFill>
                <a:schemeClr val="dk1"/>
              </a:solidFill>
            </a:endParaRPr>
          </a:p>
        </p:txBody>
      </p:sp>
      <p:sp>
        <p:nvSpPr>
          <p:cNvPr id="447" name="Google Shape;447;g3e99adf6e26_2_44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e99adf6e26_2_47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g3e99adf6e26_2_47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Model selection means choosing among different algorithms, hyperparameters, and feature sets. For example, we might compare kNN, SVMs, decision trees, or neural networks. We might also compare different values of k, C, kernel type, or max depth.</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Trying many models is allowed, but we need to compare them on data that were not used for fitting. This is why validation data matters.</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The test set should not be used repeatedly for tuning. If we tune using the test set, the test set stops being an honest estimate of future performance.</a:t>
            </a:r>
            <a:endParaRPr sz="1200">
              <a:solidFill>
                <a:schemeClr val="dk1"/>
              </a:solidFill>
            </a:endParaRPr>
          </a:p>
        </p:txBody>
      </p:sp>
      <p:sp>
        <p:nvSpPr>
          <p:cNvPr id="469" name="Google Shape;469;g3e99adf6e26_2_47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e99adf6e26_2_50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g3e99adf6e26_2_50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 reliable workflow separates fitting, choosing, and final testing.</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First, shuffle and split the data into training, validation, and test sets. Second, train each candidate model on the training data. Third, choose the best candidate using validation performance. Then refit that selected model using the training plus validation data. Finally, evaluate once on the test set.</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The validation set is for choosing the model. The test set is for estimating final performance. Keeping those roles separate helps prevent overfitting.</a:t>
            </a:r>
            <a:endParaRPr sz="1200">
              <a:solidFill>
                <a:schemeClr val="dk1"/>
              </a:solidFill>
            </a:endParaRPr>
          </a:p>
        </p:txBody>
      </p:sp>
      <p:sp>
        <p:nvSpPr>
          <p:cNvPr id="493" name="Google Shape;493;g3e99adf6e26_2_50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e99adf6e26_2_53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7" name="Google Shape;517;g3e99adf6e26_2_53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The notebook workflow follows a standard machine learning recipe. We start with raw data, define features and the target, preprocess the features, fit models, evaluate performance, and select a model.</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Preprocessing can include standardizing continuous features and one-hot encoding categorical variables. Standardization matters for models that depend on distance or feature magnitude. One-hot encoding is useful for unordered categorical variables.</a:t>
            </a:r>
            <a:endParaRPr sz="1100">
              <a:solidFill>
                <a:schemeClr val="dk1"/>
              </a:solidFill>
            </a:endParaRPr>
          </a:p>
          <a:p>
            <a:pPr indent="0" lvl="0" marL="0" rtl="0" algn="l">
              <a:lnSpc>
                <a:spcPct val="115000"/>
              </a:lnSpc>
              <a:spcBef>
                <a:spcPts val="1200"/>
              </a:spcBef>
              <a:spcAft>
                <a:spcPts val="1200"/>
              </a:spcAft>
              <a:buSzPts val="1100"/>
              <a:buNone/>
            </a:pPr>
            <a:r>
              <a:rPr lang="en" sz="1100">
                <a:solidFill>
                  <a:schemeClr val="dk1"/>
                </a:solidFill>
              </a:rPr>
              <a:t>In sklearn, useful tools include </a:t>
            </a:r>
            <a:r>
              <a:rPr lang="en" sz="1100">
                <a:solidFill>
                  <a:srgbClr val="188038"/>
                </a:solidFill>
                <a:latin typeface="Roboto Mono"/>
                <a:ea typeface="Roboto Mono"/>
                <a:cs typeface="Roboto Mono"/>
                <a:sym typeface="Roboto Mono"/>
              </a:rPr>
              <a:t>train_test_split</a:t>
            </a:r>
            <a:r>
              <a:rPr lang="en" sz="1100">
                <a:solidFill>
                  <a:schemeClr val="dk1"/>
                </a:solidFill>
              </a:rPr>
              <a:t>, </a:t>
            </a:r>
            <a:r>
              <a:rPr lang="en" sz="1100">
                <a:solidFill>
                  <a:srgbClr val="188038"/>
                </a:solidFill>
                <a:latin typeface="Roboto Mono"/>
                <a:ea typeface="Roboto Mono"/>
                <a:cs typeface="Roboto Mono"/>
                <a:sym typeface="Roboto Mono"/>
              </a:rPr>
              <a:t>cross_val_score</a:t>
            </a:r>
            <a:r>
              <a:rPr lang="en" sz="1100">
                <a:solidFill>
                  <a:schemeClr val="dk1"/>
                </a:solidFill>
              </a:rPr>
              <a:t>, </a:t>
            </a:r>
            <a:r>
              <a:rPr lang="en" sz="1100">
                <a:solidFill>
                  <a:srgbClr val="188038"/>
                </a:solidFill>
                <a:latin typeface="Roboto Mono"/>
                <a:ea typeface="Roboto Mono"/>
                <a:cs typeface="Roboto Mono"/>
                <a:sym typeface="Roboto Mono"/>
              </a:rPr>
              <a:t>cross_val_predict</a:t>
            </a:r>
            <a:r>
              <a:rPr lang="en" sz="1100">
                <a:solidFill>
                  <a:schemeClr val="dk1"/>
                </a:solidFill>
              </a:rPr>
              <a:t>, </a:t>
            </a:r>
            <a:r>
              <a:rPr lang="en" sz="1100">
                <a:solidFill>
                  <a:srgbClr val="188038"/>
                </a:solidFill>
                <a:latin typeface="Roboto Mono"/>
                <a:ea typeface="Roboto Mono"/>
                <a:cs typeface="Roboto Mono"/>
                <a:sym typeface="Roboto Mono"/>
              </a:rPr>
              <a:t>GridSearchCV</a:t>
            </a:r>
            <a:r>
              <a:rPr lang="en" sz="1100">
                <a:solidFill>
                  <a:schemeClr val="dk1"/>
                </a:solidFill>
              </a:rPr>
              <a:t>, and </a:t>
            </a:r>
            <a:r>
              <a:rPr lang="en" sz="1100">
                <a:solidFill>
                  <a:srgbClr val="188038"/>
                </a:solidFill>
                <a:latin typeface="Roboto Mono"/>
                <a:ea typeface="Roboto Mono"/>
                <a:cs typeface="Roboto Mono"/>
                <a:sym typeface="Roboto Mono"/>
              </a:rPr>
              <a:t>Pipeline</a:t>
            </a:r>
            <a:r>
              <a:rPr lang="en" sz="1100">
                <a:solidFill>
                  <a:schemeClr val="dk1"/>
                </a:solidFill>
              </a:rPr>
              <a:t>. The main principle is to avoid leakage between training, validation, and test data.</a:t>
            </a:r>
            <a:endParaRPr sz="1200">
              <a:solidFill>
                <a:schemeClr val="dk1"/>
              </a:solidFill>
            </a:endParaRPr>
          </a:p>
        </p:txBody>
      </p:sp>
      <p:sp>
        <p:nvSpPr>
          <p:cNvPr id="518" name="Google Shape;518;g3e99adf6e26_2_53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e99adf6e26_2_568: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g3e99adf6e26_2_568: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For text data, models cannot directly understand raw sentences. We need to convert text into numerical or structured features.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Tokenization splits text into units, such as words, terms, or n-grams. Term frequency measures how common a term is within one document. Inverse document frequency downweights terms that appear in many documents, because those terms are usually less informative.</a:t>
            </a:r>
            <a:endParaRPr sz="1200">
              <a:solidFill>
                <a:schemeClr val="dk1"/>
              </a:solidFill>
            </a:endParaRPr>
          </a:p>
          <a:p>
            <a:pPr indent="0" lvl="0" marL="0" rtl="0" algn="l">
              <a:lnSpc>
                <a:spcPct val="115000"/>
              </a:lnSpc>
              <a:spcBef>
                <a:spcPts val="1200"/>
              </a:spcBef>
              <a:spcAft>
                <a:spcPts val="1200"/>
              </a:spcAft>
              <a:buSzPts val="1100"/>
              <a:buNone/>
            </a:pPr>
            <a:r>
              <a:rPr lang="en" sz="1200">
                <a:solidFill>
                  <a:schemeClr val="dk1"/>
                </a:solidFill>
              </a:rPr>
              <a:t>Sentiment analysis tries to infer emotional tone or polarity from text. Important preprocessing choices include the tokenizer, whether to remove stop words, whether to stem or lemmatize words, and how to handle very rare or very common terms.</a:t>
            </a:r>
            <a:endParaRPr sz="1200">
              <a:solidFill>
                <a:schemeClr val="dk1"/>
              </a:solidFill>
            </a:endParaRPr>
          </a:p>
        </p:txBody>
      </p:sp>
      <p:sp>
        <p:nvSpPr>
          <p:cNvPr id="554" name="Google Shape;554;g3e99adf6e26_2_568: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e069ffc553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e069ffc553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e069ffc553_0_14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g3e069ffc553_0_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_1">
    <p:spTree>
      <p:nvGrpSpPr>
        <p:cNvPr id="50" name="Shape 50"/>
        <p:cNvGrpSpPr/>
        <p:nvPr/>
      </p:nvGrpSpPr>
      <p:grpSpPr>
        <a:xfrm>
          <a:off x="0" y="0"/>
          <a:ext cx="0" cy="0"/>
          <a:chOff x="0" y="0"/>
          <a:chExt cx="0" cy="0"/>
        </a:xfrm>
      </p:grpSpPr>
      <p:sp>
        <p:nvSpPr>
          <p:cNvPr id="51" name="Google Shape;51;p13"/>
          <p:cNvSpPr txBox="1"/>
          <p:nvPr>
            <p:ph type="title"/>
          </p:nvPr>
        </p:nvSpPr>
        <p:spPr>
          <a:xfrm>
            <a:off x="666750" y="862013"/>
            <a:ext cx="7810500" cy="1743000"/>
          </a:xfrm>
          <a:prstGeom prst="rect">
            <a:avLst/>
          </a:prstGeom>
          <a:noFill/>
          <a:ln>
            <a:noFill/>
          </a:ln>
        </p:spPr>
        <p:txBody>
          <a:bodyPr anchorCtr="0" anchor="b" bIns="19050" lIns="19050" spcFirstLastPara="1" rIns="19050" wrap="square" tIns="19050">
            <a:norm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p:txBody>
      </p:sp>
      <p:sp>
        <p:nvSpPr>
          <p:cNvPr id="52" name="Google Shape;52;p13"/>
          <p:cNvSpPr txBox="1"/>
          <p:nvPr>
            <p:ph idx="1" type="body"/>
          </p:nvPr>
        </p:nvSpPr>
        <p:spPr>
          <a:xfrm>
            <a:off x="666750" y="2652713"/>
            <a:ext cx="7810500" cy="207090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2000"/>
              <a:buFont typeface="Avenir"/>
              <a:buNone/>
              <a:defRPr sz="2000"/>
            </a:lvl1pPr>
            <a:lvl2pPr indent="-228600" lvl="1" marL="914400" algn="ctr">
              <a:lnSpc>
                <a:spcPct val="100000"/>
              </a:lnSpc>
              <a:spcBef>
                <a:spcPts val="0"/>
              </a:spcBef>
              <a:spcAft>
                <a:spcPts val="0"/>
              </a:spcAft>
              <a:buClr>
                <a:srgbClr val="000000"/>
              </a:buClr>
              <a:buSzPts val="2000"/>
              <a:buFont typeface="Avenir"/>
              <a:buNone/>
              <a:defRPr sz="2000"/>
            </a:lvl2pPr>
            <a:lvl3pPr indent="-228600" lvl="2" marL="1371600" algn="ctr">
              <a:lnSpc>
                <a:spcPct val="100000"/>
              </a:lnSpc>
              <a:spcBef>
                <a:spcPts val="0"/>
              </a:spcBef>
              <a:spcAft>
                <a:spcPts val="0"/>
              </a:spcAft>
              <a:buClr>
                <a:srgbClr val="000000"/>
              </a:buClr>
              <a:buSzPts val="2000"/>
              <a:buFont typeface="Avenir"/>
              <a:buNone/>
              <a:defRPr sz="2000"/>
            </a:lvl3pPr>
            <a:lvl4pPr indent="-228600" lvl="3" marL="1828800" algn="ctr">
              <a:lnSpc>
                <a:spcPct val="100000"/>
              </a:lnSpc>
              <a:spcBef>
                <a:spcPts val="0"/>
              </a:spcBef>
              <a:spcAft>
                <a:spcPts val="0"/>
              </a:spcAft>
              <a:buClr>
                <a:srgbClr val="000000"/>
              </a:buClr>
              <a:buSzPts val="2000"/>
              <a:buFont typeface="Avenir"/>
              <a:buNone/>
              <a:defRPr sz="2000"/>
            </a:lvl4pPr>
            <a:lvl5pPr indent="-228600" lvl="4" marL="2286000" algn="ctr">
              <a:lnSpc>
                <a:spcPct val="100000"/>
              </a:lnSpc>
              <a:spcBef>
                <a:spcPts val="0"/>
              </a:spcBef>
              <a:spcAft>
                <a:spcPts val="0"/>
              </a:spcAft>
              <a:buClr>
                <a:srgbClr val="000000"/>
              </a:buClr>
              <a:buSzPts val="2000"/>
              <a:buFont typeface="Avenir"/>
              <a:buNone/>
              <a:defRPr sz="2000"/>
            </a:lvl5pPr>
            <a:lvl6pPr indent="-279400" lvl="5" marL="2743200" algn="l">
              <a:lnSpc>
                <a:spcPct val="100000"/>
              </a:lnSpc>
              <a:spcBef>
                <a:spcPts val="1500"/>
              </a:spcBef>
              <a:spcAft>
                <a:spcPts val="0"/>
              </a:spcAft>
              <a:buClr>
                <a:srgbClr val="000000"/>
              </a:buClr>
              <a:buSzPts val="800"/>
              <a:buChar char="■"/>
              <a:defRPr/>
            </a:lvl6pPr>
            <a:lvl7pPr indent="-279400" lvl="6" marL="3200400" algn="l">
              <a:lnSpc>
                <a:spcPct val="100000"/>
              </a:lnSpc>
              <a:spcBef>
                <a:spcPts val="1500"/>
              </a:spcBef>
              <a:spcAft>
                <a:spcPts val="0"/>
              </a:spcAft>
              <a:buClr>
                <a:srgbClr val="000000"/>
              </a:buClr>
              <a:buSzPts val="800"/>
              <a:buChar char="●"/>
              <a:defRPr/>
            </a:lvl7pPr>
            <a:lvl8pPr indent="-279400" lvl="7" marL="3657600" algn="l">
              <a:lnSpc>
                <a:spcPct val="100000"/>
              </a:lnSpc>
              <a:spcBef>
                <a:spcPts val="1500"/>
              </a:spcBef>
              <a:spcAft>
                <a:spcPts val="0"/>
              </a:spcAft>
              <a:buClr>
                <a:srgbClr val="000000"/>
              </a:buClr>
              <a:buSzPts val="800"/>
              <a:buChar char="○"/>
              <a:defRPr/>
            </a:lvl8pPr>
            <a:lvl9pPr indent="-279400" lvl="8" marL="4114800" algn="l">
              <a:lnSpc>
                <a:spcPct val="100000"/>
              </a:lnSpc>
              <a:spcBef>
                <a:spcPts val="1500"/>
              </a:spcBef>
              <a:spcAft>
                <a:spcPts val="0"/>
              </a:spcAft>
              <a:buClr>
                <a:srgbClr val="000000"/>
              </a:buClr>
              <a:buSzPts val="800"/>
              <a:buChar char="■"/>
              <a:defRPr/>
            </a:lvl9pPr>
          </a:lstStyle>
          <a:p/>
        </p:txBody>
      </p:sp>
      <p:sp>
        <p:nvSpPr>
          <p:cNvPr id="53" name="Google Shape;53;p13"/>
          <p:cNvSpPr txBox="1"/>
          <p:nvPr>
            <p:ph idx="12" type="sldNum"/>
          </p:nvPr>
        </p:nvSpPr>
        <p:spPr>
          <a:xfrm>
            <a:off x="4484637" y="4905375"/>
            <a:ext cx="170100" cy="177000"/>
          </a:xfrm>
          <a:prstGeom prst="rect">
            <a:avLst/>
          </a:prstGeom>
          <a:noFill/>
          <a:ln>
            <a:noFill/>
          </a:ln>
        </p:spPr>
        <p:txBody>
          <a:bodyPr anchorCtr="0" anchor="t" bIns="19050" lIns="19050" spcFirstLastPara="1" rIns="19050" wrap="square" tIns="19050">
            <a:spAutoFit/>
          </a:bodyPr>
          <a:lstStyle>
            <a:lvl1pPr indent="0" lvl="0"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5"/>
          <p:cNvSpPr txBox="1"/>
          <p:nvPr>
            <p:ph type="title"/>
          </p:nvPr>
        </p:nvSpPr>
        <p:spPr>
          <a:xfrm>
            <a:off x="666750" y="862013"/>
            <a:ext cx="5341800" cy="1743000"/>
          </a:xfrm>
          <a:prstGeom prst="rect">
            <a:avLst/>
          </a:prstGeom>
          <a:noFill/>
          <a:ln>
            <a:noFill/>
          </a:ln>
        </p:spPr>
        <p:txBody>
          <a:bodyPr anchorCtr="0" anchor="b" bIns="19050" lIns="19050" spcFirstLastPara="1" rIns="19050" wrap="square" tIns="19050">
            <a:normAutofit/>
          </a:bodyPr>
          <a:lstStyle/>
          <a:p>
            <a:pPr indent="0" lvl="0" marL="0" marR="0" rtl="0" algn="l">
              <a:lnSpc>
                <a:spcPct val="100000"/>
              </a:lnSpc>
              <a:spcBef>
                <a:spcPts val="0"/>
              </a:spcBef>
              <a:spcAft>
                <a:spcPts val="0"/>
              </a:spcAft>
              <a:buClr>
                <a:srgbClr val="000000"/>
              </a:buClr>
              <a:buSzPts val="4200"/>
              <a:buFont typeface="Avenir"/>
              <a:buNone/>
            </a:pPr>
            <a:r>
              <a:rPr lang="en">
                <a:latin typeface="Avenir"/>
                <a:ea typeface="Avenir"/>
                <a:cs typeface="Avenir"/>
                <a:sym typeface="Avenir"/>
              </a:rPr>
              <a:t>Week 8</a:t>
            </a:r>
            <a:endParaRPr>
              <a:latin typeface="Avenir"/>
              <a:ea typeface="Avenir"/>
              <a:cs typeface="Avenir"/>
              <a:sym typeface="Avenir"/>
            </a:endParaRPr>
          </a:p>
        </p:txBody>
      </p:sp>
      <p:sp>
        <p:nvSpPr>
          <p:cNvPr id="60" name="Google Shape;60;p15"/>
          <p:cNvSpPr txBox="1"/>
          <p:nvPr>
            <p:ph idx="1" type="body"/>
          </p:nvPr>
        </p:nvSpPr>
        <p:spPr>
          <a:xfrm>
            <a:off x="666750" y="3228234"/>
            <a:ext cx="3041100" cy="1671000"/>
          </a:xfrm>
          <a:prstGeom prst="rect">
            <a:avLst/>
          </a:prstGeom>
          <a:noFill/>
          <a:ln>
            <a:noFill/>
          </a:ln>
        </p:spPr>
        <p:txBody>
          <a:bodyPr anchorCtr="0" anchor="t" bIns="19050" lIns="19050" spcFirstLastPara="1" rIns="19050" wrap="square" tIns="19050">
            <a:normAutofit/>
          </a:bodyPr>
          <a:lstStyle/>
          <a:p>
            <a:pPr indent="0" lvl="0" marL="0" rtl="0" algn="l">
              <a:spcBef>
                <a:spcPts val="0"/>
              </a:spcBef>
              <a:spcAft>
                <a:spcPts val="0"/>
              </a:spcAft>
              <a:buClr>
                <a:schemeClr val="dk1"/>
              </a:buClr>
              <a:buSzPts val="2000"/>
              <a:buFont typeface="Avenir"/>
              <a:buNone/>
            </a:pPr>
            <a:r>
              <a:rPr lang="en" sz="2000">
                <a:solidFill>
                  <a:schemeClr val="dk1"/>
                </a:solidFill>
                <a:latin typeface="Avenir"/>
                <a:ea typeface="Avenir"/>
                <a:cs typeface="Avenir"/>
                <a:sym typeface="Avenir"/>
              </a:rPr>
              <a:t>COGS 108 </a:t>
            </a:r>
            <a:r>
              <a:rPr lang="en" sz="2000">
                <a:solidFill>
                  <a:schemeClr val="dk1"/>
                </a:solidFill>
                <a:latin typeface="Avenir"/>
                <a:ea typeface="Avenir"/>
                <a:cs typeface="Avenir"/>
                <a:sym typeface="Avenir"/>
              </a:rPr>
              <a:t>SP</a:t>
            </a:r>
            <a:r>
              <a:rPr lang="en" sz="2000">
                <a:solidFill>
                  <a:schemeClr val="dk1"/>
                </a:solidFill>
                <a:latin typeface="Avenir"/>
                <a:ea typeface="Avenir"/>
                <a:cs typeface="Avenir"/>
                <a:sym typeface="Avenir"/>
              </a:rPr>
              <a:t> 2026</a:t>
            </a:r>
            <a:endParaRPr sz="2000">
              <a:solidFill>
                <a:schemeClr val="dk1"/>
              </a:solidFill>
              <a:latin typeface="Avenir"/>
              <a:ea typeface="Avenir"/>
              <a:cs typeface="Avenir"/>
              <a:sym typeface="Avenir"/>
            </a:endParaRPr>
          </a:p>
          <a:p>
            <a:pPr indent="0" lvl="0" marL="0" marR="0" rtl="0" algn="l">
              <a:lnSpc>
                <a:spcPct val="100000"/>
              </a:lnSpc>
              <a:spcBef>
                <a:spcPts val="0"/>
              </a:spcBef>
              <a:spcAft>
                <a:spcPts val="0"/>
              </a:spcAft>
              <a:buClr>
                <a:srgbClr val="000000"/>
              </a:buClr>
              <a:buSzPts val="2000"/>
              <a:buFont typeface="Avenir"/>
              <a:buNone/>
            </a:pPr>
            <a:r>
              <a:t/>
            </a:r>
            <a:endParaRPr>
              <a:latin typeface="Avenir"/>
              <a:ea typeface="Avenir"/>
              <a:cs typeface="Avenir"/>
              <a:sym typeface="Avenir"/>
            </a:endParaRPr>
          </a:p>
        </p:txBody>
      </p:sp>
      <p:cxnSp>
        <p:nvCxnSpPr>
          <p:cNvPr id="61" name="Google Shape;61;p15"/>
          <p:cNvCxnSpPr/>
          <p:nvPr/>
        </p:nvCxnSpPr>
        <p:spPr>
          <a:xfrm>
            <a:off x="667290" y="2809875"/>
            <a:ext cx="7809300" cy="0"/>
          </a:xfrm>
          <a:prstGeom prst="straightConnector1">
            <a:avLst/>
          </a:prstGeom>
          <a:noFill/>
          <a:ln cap="flat" cmpd="sng" w="25400">
            <a:solidFill>
              <a:srgbClr val="000000"/>
            </a:solidFill>
            <a:prstDash val="solid"/>
            <a:miter lim="400000"/>
            <a:headEnd len="sm" w="sm" type="none"/>
            <a:tailEnd len="sm" w="sm" type="none"/>
          </a:ln>
        </p:spPr>
      </p:cxnSp>
      <p:sp>
        <p:nvSpPr>
          <p:cNvPr id="62" name="Google Shape;62;p15"/>
          <p:cNvSpPr txBox="1"/>
          <p:nvPr/>
        </p:nvSpPr>
        <p:spPr>
          <a:xfrm>
            <a:off x="6017239" y="294615"/>
            <a:ext cx="2468700" cy="22860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000000"/>
              </a:buClr>
              <a:buSzPts val="2000"/>
              <a:buFont typeface="Avenir"/>
              <a:buNone/>
            </a:pPr>
            <a:r>
              <a:t/>
            </a:r>
            <a:endParaRPr b="1" i="0" sz="2000" u="none" cap="none" strike="noStrike">
              <a:solidFill>
                <a:srgbClr val="000000"/>
              </a:solidFill>
              <a:latin typeface="Avenir"/>
              <a:ea typeface="Avenir"/>
              <a:cs typeface="Avenir"/>
              <a:sym typeface="Avenir"/>
            </a:endParaRPr>
          </a:p>
        </p:txBody>
      </p:sp>
      <p:sp>
        <p:nvSpPr>
          <p:cNvPr id="63" name="Google Shape;63;p15"/>
          <p:cNvSpPr txBox="1"/>
          <p:nvPr/>
        </p:nvSpPr>
        <p:spPr>
          <a:xfrm>
            <a:off x="92850" y="4716425"/>
            <a:ext cx="5347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*By: Jason Chen &amp; Jessica Cheng, Spring 2026</a:t>
            </a:r>
            <a:endParaRPr sz="12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6"/>
          <p:cNvSpPr txBox="1"/>
          <p:nvPr/>
        </p:nvSpPr>
        <p:spPr>
          <a:xfrm>
            <a:off x="633413" y="133350"/>
            <a:ext cx="7877100" cy="857400"/>
          </a:xfrm>
          <a:prstGeom prst="rect">
            <a:avLst/>
          </a:prstGeom>
          <a:noFill/>
          <a:ln>
            <a:noFill/>
          </a:ln>
        </p:spPr>
        <p:txBody>
          <a:bodyPr anchorCtr="0" anchor="ctr" bIns="19050" lIns="19050" spcFirstLastPara="1" rIns="19050" wrap="square" tIns="19050">
            <a:normAutofit/>
          </a:bodyPr>
          <a:lstStyle/>
          <a:p>
            <a:pPr indent="0" lvl="0" marL="0" rtl="0" algn="l">
              <a:spcBef>
                <a:spcPts val="0"/>
              </a:spcBef>
              <a:spcAft>
                <a:spcPts val="0"/>
              </a:spcAft>
              <a:buNone/>
            </a:pPr>
            <a:r>
              <a:rPr b="1" lang="en" sz="3000">
                <a:latin typeface="Avenir"/>
                <a:ea typeface="Avenir"/>
                <a:cs typeface="Avenir"/>
                <a:sym typeface="Avenir"/>
              </a:rPr>
              <a:t>Due</a:t>
            </a:r>
            <a:r>
              <a:rPr b="1" lang="en" sz="3000">
                <a:latin typeface="Avenir"/>
                <a:ea typeface="Avenir"/>
                <a:cs typeface="Avenir"/>
                <a:sym typeface="Avenir"/>
              </a:rPr>
              <a:t> dates</a:t>
            </a:r>
            <a:endParaRPr b="1" sz="3000">
              <a:latin typeface="Avenir"/>
              <a:ea typeface="Avenir"/>
              <a:cs typeface="Avenir"/>
              <a:sym typeface="Avenir"/>
            </a:endParaRPr>
          </a:p>
        </p:txBody>
      </p:sp>
      <p:sp>
        <p:nvSpPr>
          <p:cNvPr id="69" name="Google Shape;69;p16"/>
          <p:cNvSpPr txBox="1"/>
          <p:nvPr/>
        </p:nvSpPr>
        <p:spPr>
          <a:xfrm>
            <a:off x="633413" y="1162050"/>
            <a:ext cx="7877100" cy="3486300"/>
          </a:xfrm>
          <a:prstGeom prst="rect">
            <a:avLst/>
          </a:prstGeom>
          <a:noFill/>
          <a:ln>
            <a:noFill/>
          </a:ln>
        </p:spPr>
        <p:txBody>
          <a:bodyPr anchorCtr="0" anchor="t" bIns="19050" lIns="19050" spcFirstLastPara="1" rIns="19050" wrap="square" tIns="19050">
            <a:normAutofit/>
          </a:bodyPr>
          <a:lstStyle/>
          <a:p>
            <a:pPr indent="-234950" lvl="0" marL="266700" rtl="0" algn="l">
              <a:spcBef>
                <a:spcPts val="0"/>
              </a:spcBef>
              <a:spcAft>
                <a:spcPts val="0"/>
              </a:spcAft>
              <a:buSzPts val="2100"/>
              <a:buFont typeface="Avenir"/>
              <a:buChar char="•"/>
            </a:pPr>
            <a:r>
              <a:rPr lang="en" sz="2100">
                <a:solidFill>
                  <a:schemeClr val="dk1"/>
                </a:solidFill>
                <a:latin typeface="Avenir"/>
                <a:ea typeface="Avenir"/>
                <a:cs typeface="Avenir"/>
                <a:sym typeface="Avenir"/>
              </a:rPr>
              <a:t>A3</a:t>
            </a:r>
            <a:r>
              <a:rPr lang="en" sz="2100">
                <a:solidFill>
                  <a:schemeClr val="dk1"/>
                </a:solidFill>
                <a:latin typeface="Avenir"/>
                <a:ea typeface="Avenir"/>
                <a:cs typeface="Avenir"/>
                <a:sym typeface="Avenir"/>
              </a:rPr>
              <a:t>: Thursday (05/21)</a:t>
            </a:r>
            <a:endParaRPr sz="2100">
              <a:solidFill>
                <a:schemeClr val="dk1"/>
              </a:solidFill>
              <a:latin typeface="Avenir"/>
              <a:ea typeface="Avenir"/>
              <a:cs typeface="Avenir"/>
              <a:sym typeface="Avenir"/>
            </a:endParaRPr>
          </a:p>
          <a:p>
            <a:pPr indent="-234950" lvl="0" marL="266700" rtl="0" algn="l">
              <a:spcBef>
                <a:spcPts val="0"/>
              </a:spcBef>
              <a:spcAft>
                <a:spcPts val="0"/>
              </a:spcAft>
              <a:buClr>
                <a:schemeClr val="dk1"/>
              </a:buClr>
              <a:buSzPts val="2100"/>
              <a:buFont typeface="Avenir"/>
              <a:buChar char="•"/>
            </a:pPr>
            <a:r>
              <a:rPr lang="en" sz="2100">
                <a:solidFill>
                  <a:schemeClr val="dk1"/>
                </a:solidFill>
                <a:latin typeface="Avenir"/>
                <a:ea typeface="Avenir"/>
                <a:cs typeface="Avenir"/>
                <a:sym typeface="Avenir"/>
              </a:rPr>
              <a:t>D7: Friday (05/22)</a:t>
            </a:r>
            <a:endParaRPr sz="2100">
              <a:latin typeface="Avenir"/>
              <a:ea typeface="Avenir"/>
              <a:cs typeface="Avenir"/>
              <a:sym typeface="Aveni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74" name="Shape 74"/>
        <p:cNvGrpSpPr/>
        <p:nvPr/>
      </p:nvGrpSpPr>
      <p:grpSpPr>
        <a:xfrm>
          <a:off x="0" y="0"/>
          <a:ext cx="0" cy="0"/>
          <a:chOff x="0" y="0"/>
          <a:chExt cx="0" cy="0"/>
        </a:xfrm>
      </p:grpSpPr>
      <p:sp>
        <p:nvSpPr>
          <p:cNvPr id="75" name="Google Shape;75;p17"/>
          <p:cNvSpPr/>
          <p:nvPr/>
        </p:nvSpPr>
        <p:spPr>
          <a:xfrm>
            <a:off x="377200" y="311468"/>
            <a:ext cx="8161200" cy="3087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8324A"/>
              </a:buClr>
              <a:buSzPts val="2300"/>
              <a:buFont typeface="Play"/>
              <a:buNone/>
            </a:pPr>
            <a:r>
              <a:rPr b="1" i="0" lang="en" sz="2300" u="none" cap="none" strike="noStrike">
                <a:solidFill>
                  <a:srgbClr val="18324A"/>
                </a:solidFill>
                <a:latin typeface="Play"/>
                <a:ea typeface="Play"/>
                <a:cs typeface="Play"/>
                <a:sym typeface="Play"/>
              </a:rPr>
              <a:t>Learning Modes &amp; Classification Metrics</a:t>
            </a:r>
            <a:endParaRPr b="0" i="0" sz="2300" u="none" cap="none" strike="noStrike">
              <a:solidFill>
                <a:schemeClr val="dk1"/>
              </a:solidFill>
              <a:latin typeface="Arial"/>
              <a:ea typeface="Arial"/>
              <a:cs typeface="Arial"/>
              <a:sym typeface="Arial"/>
            </a:endParaRPr>
          </a:p>
        </p:txBody>
      </p:sp>
      <p:sp>
        <p:nvSpPr>
          <p:cNvPr id="76" name="Google Shape;76;p17"/>
          <p:cNvSpPr/>
          <p:nvPr/>
        </p:nvSpPr>
        <p:spPr>
          <a:xfrm>
            <a:off x="384058" y="695516"/>
            <a:ext cx="73383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Arial"/>
              <a:buNone/>
            </a:pPr>
            <a:r>
              <a:rPr b="0" i="0" lang="en" sz="900" u="none" cap="none" strike="noStrike">
                <a:solidFill>
                  <a:srgbClr val="6B7280"/>
                </a:solidFill>
                <a:latin typeface="Arial"/>
                <a:ea typeface="Arial"/>
                <a:cs typeface="Arial"/>
                <a:sym typeface="Arial"/>
              </a:rPr>
              <a:t>Before choosing a metric, identify the task and the error you care about.</a:t>
            </a:r>
            <a:endParaRPr b="0" i="0" sz="900" u="none" cap="none" strike="noStrike">
              <a:solidFill>
                <a:schemeClr val="dk1"/>
              </a:solidFill>
              <a:latin typeface="Arial"/>
              <a:ea typeface="Arial"/>
              <a:cs typeface="Arial"/>
              <a:sym typeface="Arial"/>
            </a:endParaRPr>
          </a:p>
        </p:txBody>
      </p:sp>
      <p:sp>
        <p:nvSpPr>
          <p:cNvPr id="77" name="Google Shape;77;p17"/>
          <p:cNvSpPr/>
          <p:nvPr/>
        </p:nvSpPr>
        <p:spPr>
          <a:xfrm>
            <a:off x="548650" y="982081"/>
            <a:ext cx="2575500" cy="308700"/>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575" lIns="575" spcFirstLastPara="1" rIns="575" wrap="square" tIns="575">
            <a:noAutofit/>
          </a:bodyPr>
          <a:lstStyle/>
          <a:p>
            <a:pPr indent="0" lvl="0" marL="0" marR="0" rtl="0" algn="ctr">
              <a:spcBef>
                <a:spcPts val="0"/>
              </a:spcBef>
              <a:spcAft>
                <a:spcPts val="0"/>
              </a:spcAft>
              <a:buClr>
                <a:srgbClr val="3AA6A6"/>
              </a:buClr>
              <a:buSzPts val="800"/>
              <a:buFont typeface="Arial"/>
              <a:buNone/>
            </a:pPr>
            <a:r>
              <a:rPr b="1" lang="en" sz="1800">
                <a:solidFill>
                  <a:srgbClr val="3AA6A6"/>
                </a:solidFill>
              </a:rPr>
              <a:t>Supervised Learning</a:t>
            </a:r>
            <a:endParaRPr b="1" sz="1800">
              <a:solidFill>
                <a:srgbClr val="3AA6A6"/>
              </a:solidFill>
            </a:endParaRPr>
          </a:p>
        </p:txBody>
      </p:sp>
      <p:sp>
        <p:nvSpPr>
          <p:cNvPr id="78" name="Google Shape;78;p17"/>
          <p:cNvSpPr/>
          <p:nvPr/>
        </p:nvSpPr>
        <p:spPr>
          <a:xfrm>
            <a:off x="548650" y="1441594"/>
            <a:ext cx="3703500" cy="3293100"/>
          </a:xfrm>
          <a:prstGeom prst="rect">
            <a:avLst/>
          </a:prstGeom>
          <a:noFill/>
          <a:ln>
            <a:noFill/>
          </a:ln>
        </p:spPr>
        <p:txBody>
          <a:bodyPr anchorCtr="0" anchor="t" bIns="375" lIns="375" spcFirstLastPara="1" rIns="375" wrap="square" tIns="375">
            <a:noAutofit/>
          </a:bodyPr>
          <a:lstStyle/>
          <a:p>
            <a:pPr indent="-349250" lvl="0" marL="457200" marR="0" rtl="0" algn="l">
              <a:spcBef>
                <a:spcPts val="0"/>
              </a:spcBef>
              <a:spcAft>
                <a:spcPts val="0"/>
              </a:spcAft>
              <a:buClr>
                <a:srgbClr val="222222"/>
              </a:buClr>
              <a:buSzPts val="1900"/>
              <a:buFont typeface="Arial"/>
              <a:buChar char="●"/>
            </a:pPr>
            <a:r>
              <a:rPr lang="en" sz="1900">
                <a:solidFill>
                  <a:srgbClr val="222222"/>
                </a:solidFill>
              </a:rPr>
              <a:t>Use labeled data</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Learns relationship between features and known targets</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Goal is prediction/classification</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Has </a:t>
            </a:r>
            <a:r>
              <a:rPr lang="en" sz="1900">
                <a:solidFill>
                  <a:srgbClr val="222222"/>
                </a:solidFill>
                <a:highlight>
                  <a:srgbClr val="FFFF00"/>
                </a:highlight>
              </a:rPr>
              <a:t>ground truth labels</a:t>
            </a:r>
            <a:r>
              <a:rPr lang="en" sz="1900">
                <a:solidFill>
                  <a:srgbClr val="222222"/>
                </a:solidFill>
              </a:rPr>
              <a:t> during training</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Examples: Linear Regression, Logistic Regression, </a:t>
            </a:r>
            <a:r>
              <a:rPr lang="en" sz="1900">
                <a:solidFill>
                  <a:srgbClr val="222222"/>
                </a:solidFill>
                <a:highlight>
                  <a:srgbClr val="FFFF00"/>
                </a:highlight>
              </a:rPr>
              <a:t>SVM</a:t>
            </a:r>
            <a:r>
              <a:rPr lang="en" sz="1900">
                <a:solidFill>
                  <a:srgbClr val="222222"/>
                </a:solidFill>
              </a:rPr>
              <a:t>, Random Forest, </a:t>
            </a:r>
            <a:r>
              <a:rPr lang="en" sz="1900">
                <a:solidFill>
                  <a:srgbClr val="222222"/>
                </a:solidFill>
                <a:highlight>
                  <a:srgbClr val="FFFF00"/>
                </a:highlight>
              </a:rPr>
              <a:t>KNN</a:t>
            </a:r>
            <a:endParaRPr sz="1900">
              <a:solidFill>
                <a:srgbClr val="222222"/>
              </a:solidFill>
              <a:highlight>
                <a:srgbClr val="FFFF00"/>
              </a:highlight>
            </a:endParaRPr>
          </a:p>
        </p:txBody>
      </p:sp>
      <p:sp>
        <p:nvSpPr>
          <p:cNvPr id="79" name="Google Shape;79;p17"/>
          <p:cNvSpPr/>
          <p:nvPr/>
        </p:nvSpPr>
        <p:spPr>
          <a:xfrm>
            <a:off x="4883025" y="1405900"/>
            <a:ext cx="4146600" cy="1645800"/>
          </a:xfrm>
          <a:prstGeom prst="rect">
            <a:avLst/>
          </a:prstGeom>
          <a:noFill/>
          <a:ln>
            <a:noFill/>
          </a:ln>
        </p:spPr>
        <p:txBody>
          <a:bodyPr anchorCtr="0" anchor="t" bIns="375" lIns="375" spcFirstLastPara="1" rIns="375" wrap="square" tIns="375">
            <a:noAutofit/>
          </a:bodyPr>
          <a:lstStyle/>
          <a:p>
            <a:pPr indent="-349250" lvl="0" marL="457200" marR="0" rtl="0" algn="l">
              <a:spcBef>
                <a:spcPts val="0"/>
              </a:spcBef>
              <a:spcAft>
                <a:spcPts val="0"/>
              </a:spcAft>
              <a:buClr>
                <a:srgbClr val="222222"/>
              </a:buClr>
              <a:buSzPts val="1900"/>
              <a:buFont typeface="Arial"/>
              <a:buChar char="●"/>
            </a:pPr>
            <a:r>
              <a:rPr lang="en" sz="1900">
                <a:solidFill>
                  <a:srgbClr val="222222"/>
                </a:solidFill>
              </a:rPr>
              <a:t>Use unlabeled data</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Finds hidden structure or patterns in data</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Goal is discovery, grouping, or dimensionality reduction</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No ground truth labels provided</a:t>
            </a:r>
            <a:endParaRPr sz="1900">
              <a:solidFill>
                <a:srgbClr val="222222"/>
              </a:solidFill>
            </a:endParaRPr>
          </a:p>
          <a:p>
            <a:pPr indent="-349250" lvl="0" marL="457200" marR="0" rtl="0" algn="l">
              <a:spcBef>
                <a:spcPts val="0"/>
              </a:spcBef>
              <a:spcAft>
                <a:spcPts val="0"/>
              </a:spcAft>
              <a:buClr>
                <a:srgbClr val="222222"/>
              </a:buClr>
              <a:buSzPts val="1900"/>
              <a:buChar char="●"/>
            </a:pPr>
            <a:r>
              <a:rPr lang="en" sz="1900">
                <a:solidFill>
                  <a:srgbClr val="222222"/>
                </a:solidFill>
              </a:rPr>
              <a:t>Examples: </a:t>
            </a:r>
            <a:r>
              <a:rPr lang="en" sz="1900">
                <a:solidFill>
                  <a:srgbClr val="222222"/>
                </a:solidFill>
                <a:highlight>
                  <a:srgbClr val="FFFF00"/>
                </a:highlight>
              </a:rPr>
              <a:t>K-means, PCA</a:t>
            </a:r>
            <a:r>
              <a:rPr lang="en" sz="1900">
                <a:solidFill>
                  <a:srgbClr val="222222"/>
                </a:solidFill>
              </a:rPr>
              <a:t>, t-SNE, Hierarchical Clustering, </a:t>
            </a:r>
            <a:r>
              <a:rPr lang="en" sz="1900">
                <a:solidFill>
                  <a:srgbClr val="222222"/>
                </a:solidFill>
                <a:highlight>
                  <a:srgbClr val="FFFF00"/>
                </a:highlight>
              </a:rPr>
              <a:t>DBSCAN</a:t>
            </a:r>
            <a:endParaRPr sz="1900">
              <a:solidFill>
                <a:srgbClr val="222222"/>
              </a:solidFill>
              <a:highlight>
                <a:srgbClr val="FFFF00"/>
              </a:highlight>
            </a:endParaRPr>
          </a:p>
        </p:txBody>
      </p:sp>
      <p:sp>
        <p:nvSpPr>
          <p:cNvPr id="80" name="Google Shape;80;p17"/>
          <p:cNvSpPr/>
          <p:nvPr/>
        </p:nvSpPr>
        <p:spPr>
          <a:xfrm>
            <a:off x="5044450" y="946375"/>
            <a:ext cx="2575500" cy="308700"/>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575" lIns="575" spcFirstLastPara="1" rIns="575" wrap="square" tIns="575">
            <a:noAutofit/>
          </a:bodyPr>
          <a:lstStyle/>
          <a:p>
            <a:pPr indent="0" lvl="0" marL="0" marR="0" rtl="0" algn="ctr">
              <a:spcBef>
                <a:spcPts val="0"/>
              </a:spcBef>
              <a:spcAft>
                <a:spcPts val="0"/>
              </a:spcAft>
              <a:buClr>
                <a:srgbClr val="3AA6A6"/>
              </a:buClr>
              <a:buSzPts val="800"/>
              <a:buFont typeface="Arial"/>
              <a:buNone/>
            </a:pPr>
            <a:r>
              <a:rPr b="1" lang="en" sz="1800">
                <a:solidFill>
                  <a:srgbClr val="3AA6A6"/>
                </a:solidFill>
              </a:rPr>
              <a:t>Unsupervised Learning</a:t>
            </a:r>
            <a:endParaRPr b="1" sz="1800">
              <a:solidFill>
                <a:srgbClr val="3AA6A6"/>
              </a:solidFill>
            </a:endParaRPr>
          </a:p>
        </p:txBody>
      </p:sp>
      <p:sp>
        <p:nvSpPr>
          <p:cNvPr id="81" name="Google Shape;81;p17"/>
          <p:cNvSpPr/>
          <p:nvPr/>
        </p:nvSpPr>
        <p:spPr>
          <a:xfrm>
            <a:off x="788044" y="4486381"/>
            <a:ext cx="7544100" cy="30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700">
                <a:solidFill>
                  <a:schemeClr val="accent1"/>
                </a:solidFill>
                <a:latin typeface="Play"/>
                <a:ea typeface="Play"/>
                <a:cs typeface="Play"/>
                <a:sym typeface="Play"/>
              </a:rPr>
              <a:t>Supervised learning learns from known answers.</a:t>
            </a:r>
            <a:endParaRPr b="1" sz="1700">
              <a:solidFill>
                <a:schemeClr val="accent1"/>
              </a:solidFill>
              <a:latin typeface="Play"/>
              <a:ea typeface="Play"/>
              <a:cs typeface="Play"/>
              <a:sym typeface="Play"/>
            </a:endParaRPr>
          </a:p>
          <a:p>
            <a:pPr indent="0" lvl="0" marL="0" rtl="0" algn="ctr">
              <a:spcBef>
                <a:spcPts val="0"/>
              </a:spcBef>
              <a:spcAft>
                <a:spcPts val="0"/>
              </a:spcAft>
              <a:buClr>
                <a:schemeClr val="dk1"/>
              </a:buClr>
              <a:buSzPts val="1100"/>
              <a:buFont typeface="Arial"/>
              <a:buNone/>
            </a:pPr>
            <a:r>
              <a:rPr b="1" lang="en" sz="1700">
                <a:solidFill>
                  <a:schemeClr val="accent1"/>
                </a:solidFill>
                <a:latin typeface="Play"/>
                <a:ea typeface="Play"/>
                <a:cs typeface="Play"/>
                <a:sym typeface="Play"/>
              </a:rPr>
              <a:t>Unsupervised learning tries to discover patterns without answers.</a:t>
            </a:r>
            <a:endParaRPr b="1" sz="1700">
              <a:solidFill>
                <a:schemeClr val="accent1"/>
              </a:solidFill>
              <a:latin typeface="Play"/>
              <a:ea typeface="Play"/>
              <a:cs typeface="Play"/>
              <a:sym typeface="Play"/>
            </a:endParaRPr>
          </a:p>
        </p:txBody>
      </p:sp>
      <p:sp>
        <p:nvSpPr>
          <p:cNvPr id="82" name="Google Shape;82;p17"/>
          <p:cNvSpPr/>
          <p:nvPr/>
        </p:nvSpPr>
        <p:spPr>
          <a:xfrm>
            <a:off x="0" y="0"/>
            <a:ext cx="9143700" cy="109800"/>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83" name="Google Shape;83;p17"/>
          <p:cNvSpPr/>
          <p:nvPr/>
        </p:nvSpPr>
        <p:spPr>
          <a:xfrm>
            <a:off x="377204" y="178301"/>
            <a:ext cx="39447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rPr>
              <a:t>Supervised Learning vs Unsupervised Learning</a:t>
            </a:r>
            <a:endParaRPr sz="7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88" name="Shape 88"/>
        <p:cNvGrpSpPr/>
        <p:nvPr/>
      </p:nvGrpSpPr>
      <p:grpSpPr>
        <a:xfrm>
          <a:off x="0" y="0"/>
          <a:ext cx="0" cy="0"/>
          <a:chOff x="0" y="0"/>
          <a:chExt cx="0" cy="0"/>
        </a:xfrm>
      </p:grpSpPr>
      <p:sp>
        <p:nvSpPr>
          <p:cNvPr id="89" name="Google Shape;89;p18"/>
          <p:cNvSpPr/>
          <p:nvPr/>
        </p:nvSpPr>
        <p:spPr>
          <a:xfrm>
            <a:off x="377200" y="373743"/>
            <a:ext cx="8161200" cy="308700"/>
          </a:xfrm>
          <a:prstGeom prst="rect">
            <a:avLst/>
          </a:prstGeom>
          <a:noFill/>
          <a:ln>
            <a:noFill/>
          </a:ln>
        </p:spPr>
        <p:txBody>
          <a:bodyPr anchorCtr="0" anchor="ctr" bIns="200" lIns="200" spcFirstLastPara="1" rIns="200" wrap="square" tIns="200">
            <a:noAutofit/>
          </a:bodyPr>
          <a:lstStyle/>
          <a:p>
            <a:pPr indent="0" lvl="0" marL="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Linear vs. non-linear classifiers</a:t>
            </a:r>
            <a:endParaRPr b="1" sz="2300">
              <a:solidFill>
                <a:srgbClr val="18324A"/>
              </a:solidFill>
              <a:latin typeface="Play"/>
              <a:ea typeface="Play"/>
              <a:cs typeface="Play"/>
              <a:sym typeface="Play"/>
            </a:endParaRPr>
          </a:p>
        </p:txBody>
      </p:sp>
      <p:sp>
        <p:nvSpPr>
          <p:cNvPr id="90" name="Google Shape;90;p18"/>
          <p:cNvSpPr/>
          <p:nvPr/>
        </p:nvSpPr>
        <p:spPr>
          <a:xfrm>
            <a:off x="548650" y="946362"/>
            <a:ext cx="2575500" cy="308700"/>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575" lIns="575" spcFirstLastPara="1" rIns="575" wrap="square" tIns="57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rPr>
              <a:t>Linear models</a:t>
            </a:r>
            <a:endParaRPr b="1" sz="1800">
              <a:solidFill>
                <a:schemeClr val="accent1"/>
              </a:solidFill>
            </a:endParaRPr>
          </a:p>
        </p:txBody>
      </p:sp>
      <p:sp>
        <p:nvSpPr>
          <p:cNvPr id="91" name="Google Shape;91;p18"/>
          <p:cNvSpPr/>
          <p:nvPr/>
        </p:nvSpPr>
        <p:spPr>
          <a:xfrm>
            <a:off x="548650" y="1405875"/>
            <a:ext cx="3703500" cy="3293100"/>
          </a:xfrm>
          <a:prstGeom prst="rect">
            <a:avLst/>
          </a:prstGeom>
          <a:noFill/>
          <a:ln>
            <a:noFill/>
          </a:ln>
        </p:spPr>
        <p:txBody>
          <a:bodyPr anchorCtr="0" anchor="t" bIns="375" lIns="375" spcFirstLastPara="1" rIns="375" wrap="square" tIns="375">
            <a:noAutofit/>
          </a:bodyPr>
          <a:lstStyle/>
          <a:p>
            <a:pPr indent="0" lvl="0" marL="0" marR="0" rtl="0" algn="l">
              <a:spcBef>
                <a:spcPts val="0"/>
              </a:spcBef>
              <a:spcAft>
                <a:spcPts val="0"/>
              </a:spcAft>
              <a:buNone/>
            </a:pPr>
            <a:r>
              <a:rPr lang="en" sz="1900">
                <a:solidFill>
                  <a:srgbClr val="222222"/>
                </a:solidFill>
              </a:rPr>
              <a:t>A machine learning method that separates different categories of data by drawing a straight line, flat plane, or flat hyperplane through the feature space.</a:t>
            </a:r>
            <a:endParaRPr sz="1900">
              <a:solidFill>
                <a:srgbClr val="222222"/>
              </a:solidFill>
            </a:endParaRPr>
          </a:p>
          <a:p>
            <a:pPr indent="0" lvl="0" marL="0" marR="0" rtl="0" algn="l">
              <a:spcBef>
                <a:spcPts val="0"/>
              </a:spcBef>
              <a:spcAft>
                <a:spcPts val="0"/>
              </a:spcAft>
              <a:buNone/>
            </a:pPr>
            <a:r>
              <a:t/>
            </a:r>
            <a:endParaRPr sz="1900">
              <a:solidFill>
                <a:srgbClr val="222222"/>
              </a:solidFill>
            </a:endParaRPr>
          </a:p>
          <a:p>
            <a:pPr indent="0" lvl="0" marL="0" marR="0" rtl="0" algn="l">
              <a:spcBef>
                <a:spcPts val="0"/>
              </a:spcBef>
              <a:spcAft>
                <a:spcPts val="0"/>
              </a:spcAft>
              <a:buNone/>
            </a:pPr>
            <a:r>
              <a:rPr lang="en" sz="1900">
                <a:solidFill>
                  <a:srgbClr val="222222"/>
                </a:solidFill>
              </a:rPr>
              <a:t>E.g. </a:t>
            </a:r>
            <a:r>
              <a:rPr lang="en" sz="1900">
                <a:solidFill>
                  <a:srgbClr val="222222"/>
                </a:solidFill>
                <a:highlight>
                  <a:srgbClr val="FFFF00"/>
                </a:highlight>
              </a:rPr>
              <a:t>Logistic Regression, Linear SVM</a:t>
            </a:r>
            <a:r>
              <a:rPr lang="en" sz="1900">
                <a:solidFill>
                  <a:srgbClr val="222222"/>
                </a:solidFill>
              </a:rPr>
              <a:t>, </a:t>
            </a:r>
            <a:r>
              <a:rPr lang="en" sz="1900">
                <a:solidFill>
                  <a:srgbClr val="222222"/>
                </a:solidFill>
                <a:highlight>
                  <a:srgbClr val="FFFF00"/>
                </a:highlight>
              </a:rPr>
              <a:t>Perceptrons</a:t>
            </a:r>
            <a:r>
              <a:rPr lang="en" sz="1900">
                <a:solidFill>
                  <a:srgbClr val="222222"/>
                </a:solidFill>
              </a:rPr>
              <a:t>. </a:t>
            </a:r>
            <a:endParaRPr sz="1900">
              <a:solidFill>
                <a:srgbClr val="222222"/>
              </a:solidFill>
            </a:endParaRPr>
          </a:p>
          <a:p>
            <a:pPr indent="0" lvl="0" marL="0" marR="0" rtl="0" algn="l">
              <a:spcBef>
                <a:spcPts val="0"/>
              </a:spcBef>
              <a:spcAft>
                <a:spcPts val="0"/>
              </a:spcAft>
              <a:buNone/>
            </a:pPr>
            <a:r>
              <a:rPr lang="en" sz="1900">
                <a:solidFill>
                  <a:srgbClr val="222222"/>
                </a:solidFill>
              </a:rPr>
              <a:t>Stable, interpretable, and computationally inexpensive.</a:t>
            </a:r>
            <a:endParaRPr sz="1900">
              <a:solidFill>
                <a:srgbClr val="222222"/>
              </a:solidFill>
            </a:endParaRPr>
          </a:p>
        </p:txBody>
      </p:sp>
      <p:sp>
        <p:nvSpPr>
          <p:cNvPr id="92" name="Google Shape;92;p18"/>
          <p:cNvSpPr/>
          <p:nvPr/>
        </p:nvSpPr>
        <p:spPr>
          <a:xfrm>
            <a:off x="4883025" y="1405900"/>
            <a:ext cx="4146600" cy="2975700"/>
          </a:xfrm>
          <a:prstGeom prst="rect">
            <a:avLst/>
          </a:prstGeom>
          <a:noFill/>
          <a:ln>
            <a:noFill/>
          </a:ln>
        </p:spPr>
        <p:txBody>
          <a:bodyPr anchorCtr="0" anchor="t" bIns="375" lIns="375" spcFirstLastPara="1" rIns="375" wrap="square" tIns="375">
            <a:noAutofit/>
          </a:bodyPr>
          <a:lstStyle/>
          <a:p>
            <a:pPr indent="0" lvl="0" marL="0" marR="0" rtl="0" algn="l">
              <a:spcBef>
                <a:spcPts val="0"/>
              </a:spcBef>
              <a:spcAft>
                <a:spcPts val="0"/>
              </a:spcAft>
              <a:buNone/>
            </a:pPr>
            <a:r>
              <a:rPr lang="en" sz="1900">
                <a:solidFill>
                  <a:srgbClr val="222222"/>
                </a:solidFill>
              </a:rPr>
              <a:t>A machine learning method that separates data categories using curved lines or complex, irregular boundaries to capture intricate underlying patterns.</a:t>
            </a:r>
            <a:endParaRPr sz="1900">
              <a:solidFill>
                <a:srgbClr val="222222"/>
              </a:solidFill>
            </a:endParaRPr>
          </a:p>
          <a:p>
            <a:pPr indent="0" lvl="0" marL="0" marR="0" rtl="0" algn="l">
              <a:spcBef>
                <a:spcPts val="0"/>
              </a:spcBef>
              <a:spcAft>
                <a:spcPts val="0"/>
              </a:spcAft>
              <a:buNone/>
            </a:pPr>
            <a:r>
              <a:t/>
            </a:r>
            <a:endParaRPr sz="1900">
              <a:solidFill>
                <a:srgbClr val="222222"/>
              </a:solidFill>
            </a:endParaRPr>
          </a:p>
          <a:p>
            <a:pPr indent="0" lvl="0" marL="0" marR="0" rtl="0" algn="l">
              <a:spcBef>
                <a:spcPts val="0"/>
              </a:spcBef>
              <a:spcAft>
                <a:spcPts val="0"/>
              </a:spcAft>
              <a:buNone/>
            </a:pPr>
            <a:r>
              <a:rPr lang="en" sz="1900">
                <a:solidFill>
                  <a:srgbClr val="222222"/>
                </a:solidFill>
              </a:rPr>
              <a:t>E.g. </a:t>
            </a:r>
            <a:r>
              <a:rPr lang="en" sz="1900">
                <a:solidFill>
                  <a:srgbClr val="222222"/>
                </a:solidFill>
                <a:highlight>
                  <a:srgbClr val="FFFF00"/>
                </a:highlight>
              </a:rPr>
              <a:t>Kernel SVM, Random Forests, KNN, Deep Learning</a:t>
            </a:r>
            <a:r>
              <a:rPr lang="en" sz="1900">
                <a:solidFill>
                  <a:srgbClr val="222222"/>
                </a:solidFill>
              </a:rPr>
              <a:t>. </a:t>
            </a:r>
            <a:endParaRPr sz="1900">
              <a:solidFill>
                <a:srgbClr val="222222"/>
              </a:solidFill>
            </a:endParaRPr>
          </a:p>
          <a:p>
            <a:pPr indent="0" lvl="0" marL="0" marR="0" rtl="0" algn="l">
              <a:spcBef>
                <a:spcPts val="0"/>
              </a:spcBef>
              <a:spcAft>
                <a:spcPts val="0"/>
              </a:spcAft>
              <a:buNone/>
            </a:pPr>
            <a:r>
              <a:rPr lang="en" sz="1900">
                <a:solidFill>
                  <a:srgbClr val="222222"/>
                </a:solidFill>
              </a:rPr>
              <a:t>Powerful, flexible, and adaptive to data geometry.</a:t>
            </a:r>
            <a:endParaRPr sz="1900">
              <a:solidFill>
                <a:srgbClr val="222222"/>
              </a:solidFill>
            </a:endParaRPr>
          </a:p>
        </p:txBody>
      </p:sp>
      <p:sp>
        <p:nvSpPr>
          <p:cNvPr id="93" name="Google Shape;93;p18"/>
          <p:cNvSpPr/>
          <p:nvPr/>
        </p:nvSpPr>
        <p:spPr>
          <a:xfrm>
            <a:off x="5044450" y="946375"/>
            <a:ext cx="2575500" cy="308700"/>
          </a:xfrm>
          <a:prstGeom prst="rect">
            <a:avLst/>
          </a:prstGeom>
          <a:solidFill>
            <a:srgbClr val="EEF7EF"/>
          </a:solidFill>
          <a:ln cap="flat" cmpd="sng" w="9525">
            <a:solidFill>
              <a:srgbClr val="EEF7EF"/>
            </a:solidFill>
            <a:prstDash val="solid"/>
            <a:round/>
            <a:headEnd len="sm" w="sm" type="none"/>
            <a:tailEnd len="sm" w="sm" type="none"/>
          </a:ln>
        </p:spPr>
        <p:txBody>
          <a:bodyPr anchorCtr="0" anchor="ctr" bIns="575" lIns="575" spcFirstLastPara="1" rIns="575" wrap="square" tIns="57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rPr>
              <a:t>Non-</a:t>
            </a:r>
            <a:r>
              <a:rPr b="1" lang="en" sz="1800">
                <a:solidFill>
                  <a:schemeClr val="accent1"/>
                </a:solidFill>
              </a:rPr>
              <a:t>Linear models</a:t>
            </a:r>
            <a:endParaRPr b="1" sz="1800">
              <a:solidFill>
                <a:schemeClr val="accent1"/>
              </a:solidFill>
            </a:endParaRPr>
          </a:p>
        </p:txBody>
      </p:sp>
      <p:sp>
        <p:nvSpPr>
          <p:cNvPr id="94" name="Google Shape;94;p18"/>
          <p:cNvSpPr/>
          <p:nvPr/>
        </p:nvSpPr>
        <p:spPr>
          <a:xfrm>
            <a:off x="0" y="0"/>
            <a:ext cx="9143700" cy="109800"/>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95" name="Google Shape;95;p18"/>
          <p:cNvSpPr/>
          <p:nvPr/>
        </p:nvSpPr>
        <p:spPr>
          <a:xfrm>
            <a:off x="377190" y="178308"/>
            <a:ext cx="2743200" cy="109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700">
                <a:solidFill>
                  <a:srgbClr val="2D6CDF"/>
                </a:solidFill>
              </a:rPr>
              <a:t>Linear vs. non-linear classifiers</a:t>
            </a:r>
            <a:endParaRPr b="1" sz="700">
              <a:solidFill>
                <a:srgbClr val="2D6CD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00" name="Shape 100"/>
        <p:cNvGrpSpPr/>
        <p:nvPr/>
      </p:nvGrpSpPr>
      <p:grpSpPr>
        <a:xfrm>
          <a:off x="0" y="0"/>
          <a:ext cx="0" cy="0"/>
          <a:chOff x="0" y="0"/>
          <a:chExt cx="0" cy="0"/>
        </a:xfrm>
      </p:grpSpPr>
      <p:sp>
        <p:nvSpPr>
          <p:cNvPr id="101" name="Google Shape;101;p19"/>
          <p:cNvSpPr/>
          <p:nvPr/>
        </p:nvSpPr>
        <p:spPr>
          <a:xfrm>
            <a:off x="0" y="0"/>
            <a:ext cx="9143700" cy="109800"/>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2" name="Google Shape;102;p19"/>
          <p:cNvSpPr/>
          <p:nvPr/>
        </p:nvSpPr>
        <p:spPr>
          <a:xfrm>
            <a:off x="377190" y="384048"/>
            <a:ext cx="836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Linear vs. non-linear classifiers</a:t>
            </a:r>
            <a:endParaRPr sz="2300">
              <a:solidFill>
                <a:schemeClr val="dk1"/>
              </a:solidFill>
              <a:latin typeface="Arial"/>
              <a:ea typeface="Arial"/>
              <a:cs typeface="Arial"/>
              <a:sym typeface="Arial"/>
            </a:endParaRPr>
          </a:p>
        </p:txBody>
      </p:sp>
      <p:sp>
        <p:nvSpPr>
          <p:cNvPr id="103" name="Google Shape;103;p19"/>
          <p:cNvSpPr/>
          <p:nvPr/>
        </p:nvSpPr>
        <p:spPr>
          <a:xfrm>
            <a:off x="397764" y="836676"/>
            <a:ext cx="80925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Different models can make very different boundaries on the same data.</a:t>
            </a:r>
            <a:endParaRPr sz="1100">
              <a:solidFill>
                <a:schemeClr val="dk1"/>
              </a:solidFill>
              <a:latin typeface="Arial"/>
              <a:ea typeface="Arial"/>
              <a:cs typeface="Arial"/>
              <a:sym typeface="Arial"/>
            </a:endParaRPr>
          </a:p>
        </p:txBody>
      </p:sp>
      <p:sp>
        <p:nvSpPr>
          <p:cNvPr id="104" name="Google Shape;104;p19"/>
          <p:cNvSpPr/>
          <p:nvPr/>
        </p:nvSpPr>
        <p:spPr>
          <a:xfrm>
            <a:off x="5639711" y="2078893"/>
            <a:ext cx="3012900" cy="1293300"/>
          </a:xfrm>
          <a:prstGeom prst="roundRect">
            <a:avLst>
              <a:gd fmla="val 5714"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200"/>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5" name="Google Shape;105;p19"/>
          <p:cNvSpPr/>
          <p:nvPr/>
        </p:nvSpPr>
        <p:spPr>
          <a:xfrm>
            <a:off x="5639711" y="2078893"/>
            <a:ext cx="54900" cy="1293300"/>
          </a:xfrm>
          <a:prstGeom prst="rect">
            <a:avLst/>
          </a:prstGeom>
          <a:solidFill>
            <a:srgbClr val="079A99"/>
          </a:solidFill>
          <a:ln cap="flat" cmpd="sng" w="12700">
            <a:solidFill>
              <a:srgbClr val="079A99"/>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6" name="Google Shape;106;p19"/>
          <p:cNvSpPr/>
          <p:nvPr/>
        </p:nvSpPr>
        <p:spPr>
          <a:xfrm>
            <a:off x="5811166" y="2202346"/>
            <a:ext cx="2469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900">
                <a:solidFill>
                  <a:srgbClr val="122033"/>
                </a:solidFill>
                <a:latin typeface="Arial"/>
                <a:ea typeface="Arial"/>
                <a:cs typeface="Arial"/>
                <a:sym typeface="Arial"/>
              </a:rPr>
              <a:t>Selection principle</a:t>
            </a:r>
            <a:endParaRPr sz="1900">
              <a:solidFill>
                <a:schemeClr val="dk1"/>
              </a:solidFill>
              <a:latin typeface="Arial"/>
              <a:ea typeface="Arial"/>
              <a:cs typeface="Arial"/>
              <a:sym typeface="Arial"/>
            </a:endParaRPr>
          </a:p>
        </p:txBody>
      </p:sp>
      <p:sp>
        <p:nvSpPr>
          <p:cNvPr id="107" name="Google Shape;107;p19"/>
          <p:cNvSpPr/>
          <p:nvPr/>
        </p:nvSpPr>
        <p:spPr>
          <a:xfrm>
            <a:off x="5811161" y="2552793"/>
            <a:ext cx="2469000" cy="5475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600">
                <a:solidFill>
                  <a:srgbClr val="516071"/>
                </a:solidFill>
                <a:latin typeface="Arial"/>
                <a:ea typeface="Arial"/>
                <a:cs typeface="Arial"/>
                <a:sym typeface="Arial"/>
              </a:rPr>
              <a:t>Use validation or cross-validation to estimate generalization.</a:t>
            </a:r>
            <a:endParaRPr sz="1600">
              <a:solidFill>
                <a:schemeClr val="dk1"/>
              </a:solidFill>
              <a:latin typeface="Arial"/>
              <a:ea typeface="Arial"/>
              <a:cs typeface="Arial"/>
              <a:sym typeface="Arial"/>
            </a:endParaRPr>
          </a:p>
        </p:txBody>
      </p:sp>
      <p:pic>
        <p:nvPicPr>
          <p:cNvPr id="108" name="Google Shape;108;p19"/>
          <p:cNvPicPr preferRelativeResize="0"/>
          <p:nvPr/>
        </p:nvPicPr>
        <p:blipFill>
          <a:blip r:embed="rId3">
            <a:alphaModFix/>
          </a:blip>
          <a:stretch>
            <a:fillRect/>
          </a:stretch>
        </p:blipFill>
        <p:spPr>
          <a:xfrm>
            <a:off x="152400" y="1117976"/>
            <a:ext cx="5172577" cy="3698243"/>
          </a:xfrm>
          <a:prstGeom prst="rect">
            <a:avLst/>
          </a:prstGeom>
          <a:noFill/>
          <a:ln>
            <a:noFill/>
          </a:ln>
        </p:spPr>
      </p:pic>
      <p:sp>
        <p:nvSpPr>
          <p:cNvPr id="109" name="Google Shape;109;p19"/>
          <p:cNvSpPr/>
          <p:nvPr/>
        </p:nvSpPr>
        <p:spPr>
          <a:xfrm>
            <a:off x="377190" y="178308"/>
            <a:ext cx="2743200" cy="109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700">
                <a:solidFill>
                  <a:srgbClr val="2D6CDF"/>
                </a:solidFill>
              </a:rPr>
              <a:t>Linear vs. non-linear classifiers</a:t>
            </a:r>
            <a:endParaRPr b="1" sz="700">
              <a:solidFill>
                <a:srgbClr val="2D6CD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14" name="Shape 114"/>
        <p:cNvGrpSpPr/>
        <p:nvPr/>
      </p:nvGrpSpPr>
      <p:grpSpPr>
        <a:xfrm>
          <a:off x="0" y="0"/>
          <a:ext cx="0" cy="0"/>
          <a:chOff x="0" y="0"/>
          <a:chExt cx="0" cy="0"/>
        </a:xfrm>
      </p:grpSpPr>
      <p:sp>
        <p:nvSpPr>
          <p:cNvPr id="115" name="Google Shape;115;p20"/>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16" name="Google Shape;116;p20"/>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2D6CDF"/>
              </a:buClr>
              <a:buSzPts val="700"/>
              <a:buFont typeface="Arial"/>
              <a:buNone/>
            </a:pPr>
            <a:r>
              <a:rPr b="1" lang="en" sz="700">
                <a:solidFill>
                  <a:srgbClr val="2D6CDF"/>
                </a:solidFill>
              </a:rPr>
              <a:t>ALGORITHM - </a:t>
            </a:r>
            <a:r>
              <a:rPr b="1" lang="en" sz="700">
                <a:solidFill>
                  <a:srgbClr val="2D6CDF"/>
                </a:solidFill>
              </a:rPr>
              <a:t>kNN</a:t>
            </a:r>
            <a:endParaRPr sz="700">
              <a:solidFill>
                <a:schemeClr val="dk1"/>
              </a:solidFill>
              <a:latin typeface="Arial"/>
              <a:ea typeface="Arial"/>
              <a:cs typeface="Arial"/>
              <a:sym typeface="Arial"/>
            </a:endParaRPr>
          </a:p>
        </p:txBody>
      </p:sp>
      <p:sp>
        <p:nvSpPr>
          <p:cNvPr id="117" name="Google Shape;117;p20"/>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kNN predicts by local voting</a:t>
            </a:r>
            <a:endParaRPr sz="2300">
              <a:solidFill>
                <a:schemeClr val="dk1"/>
              </a:solidFill>
              <a:latin typeface="Arial"/>
              <a:ea typeface="Arial"/>
              <a:cs typeface="Arial"/>
              <a:sym typeface="Arial"/>
            </a:endParaRPr>
          </a:p>
        </p:txBody>
      </p:sp>
      <p:sp>
        <p:nvSpPr>
          <p:cNvPr id="118" name="Google Shape;118;p20"/>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A new point is classified from the labels of its nearest training points.</a:t>
            </a:r>
            <a:endParaRPr sz="1100">
              <a:solidFill>
                <a:schemeClr val="dk1"/>
              </a:solidFill>
              <a:latin typeface="Arial"/>
              <a:ea typeface="Arial"/>
              <a:cs typeface="Arial"/>
              <a:sym typeface="Arial"/>
            </a:endParaRPr>
          </a:p>
        </p:txBody>
      </p:sp>
      <p:sp>
        <p:nvSpPr>
          <p:cNvPr id="119" name="Google Shape;119;p20"/>
          <p:cNvSpPr/>
          <p:nvPr/>
        </p:nvSpPr>
        <p:spPr>
          <a:xfrm>
            <a:off x="493776" y="1131570"/>
            <a:ext cx="3497580" cy="3257550"/>
          </a:xfrm>
          <a:prstGeom prst="roundRect">
            <a:avLst>
              <a:gd fmla="val 1263"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215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pic>
        <p:nvPicPr>
          <p:cNvPr descr="/mnt/data/ml_crops/knn_example.png" id="120" name="Google Shape;120;p20"/>
          <p:cNvPicPr preferRelativeResize="0"/>
          <p:nvPr/>
        </p:nvPicPr>
        <p:blipFill rotWithShape="1">
          <a:blip r:embed="rId3">
            <a:alphaModFix/>
          </a:blip>
          <a:srcRect b="0" l="7834" r="7834" t="7919"/>
          <a:stretch/>
        </p:blipFill>
        <p:spPr>
          <a:xfrm>
            <a:off x="528063" y="1298863"/>
            <a:ext cx="3429000" cy="2936526"/>
          </a:xfrm>
          <a:prstGeom prst="rect">
            <a:avLst/>
          </a:prstGeom>
          <a:noFill/>
          <a:ln>
            <a:noFill/>
          </a:ln>
        </p:spPr>
      </p:pic>
      <p:sp>
        <p:nvSpPr>
          <p:cNvPr id="121" name="Google Shape;121;p20"/>
          <p:cNvSpPr/>
          <p:nvPr/>
        </p:nvSpPr>
        <p:spPr>
          <a:xfrm>
            <a:off x="4143375" y="1179575"/>
            <a:ext cx="4929300" cy="898500"/>
          </a:xfrm>
          <a:prstGeom prst="roundRect">
            <a:avLst>
              <a:gd fmla="val 5714" name="adj"/>
            </a:avLst>
          </a:prstGeom>
          <a:solidFill>
            <a:srgbClr val="FFFFFF"/>
          </a:solidFill>
          <a:ln cap="flat" cmpd="sng" w="14550">
            <a:solidFill>
              <a:srgbClr val="DDE5EF"/>
            </a:solidFill>
            <a:prstDash val="solid"/>
            <a:round/>
            <a:headEnd len="sm" w="sm" type="none"/>
            <a:tailEnd len="sm" w="sm" type="none"/>
          </a:ln>
          <a:effectLst>
            <a:outerShdw blurRad="17467" rotWithShape="0" algn="bl" dir="2700000" dist="14556">
              <a:srgbClr val="000000">
                <a:alpha val="10196"/>
              </a:srgbClr>
            </a:outerShdw>
          </a:effectLst>
        </p:spPr>
        <p:txBody>
          <a:bodyPr anchorCtr="0" anchor="t" bIns="39275" lIns="78600" spcFirstLastPara="1" rIns="78600" wrap="square" tIns="39275">
            <a:noAutofit/>
          </a:bodyPr>
          <a:lstStyle/>
          <a:p>
            <a:pPr indent="0" lvl="0" marL="0" marR="0" rtl="0" algn="l">
              <a:spcBef>
                <a:spcPts val="0"/>
              </a:spcBef>
              <a:spcAft>
                <a:spcPts val="0"/>
              </a:spcAft>
              <a:buNone/>
            </a:pPr>
            <a:r>
              <a:t/>
            </a:r>
            <a:endParaRPr sz="1905">
              <a:solidFill>
                <a:schemeClr val="dk1"/>
              </a:solidFill>
              <a:latin typeface="Arial"/>
              <a:ea typeface="Arial"/>
              <a:cs typeface="Arial"/>
              <a:sym typeface="Arial"/>
            </a:endParaRPr>
          </a:p>
        </p:txBody>
      </p:sp>
      <p:sp>
        <p:nvSpPr>
          <p:cNvPr id="122" name="Google Shape;122;p20"/>
          <p:cNvSpPr/>
          <p:nvPr/>
        </p:nvSpPr>
        <p:spPr>
          <a:xfrm>
            <a:off x="4143375" y="1179575"/>
            <a:ext cx="66900" cy="898500"/>
          </a:xfrm>
          <a:prstGeom prst="rect">
            <a:avLst/>
          </a:prstGeom>
          <a:solidFill>
            <a:srgbClr val="2D6CDF"/>
          </a:solidFill>
          <a:ln cap="flat" cmpd="sng" w="14550">
            <a:solidFill>
              <a:srgbClr val="2D6CDF"/>
            </a:solidFill>
            <a:prstDash val="solid"/>
            <a:round/>
            <a:headEnd len="sm" w="sm" type="none"/>
            <a:tailEnd len="sm" w="sm" type="none"/>
          </a:ln>
        </p:spPr>
        <p:txBody>
          <a:bodyPr anchorCtr="0" anchor="t" bIns="39275" lIns="78600" spcFirstLastPara="1" rIns="78600" wrap="square" tIns="39275">
            <a:noAutofit/>
          </a:bodyPr>
          <a:lstStyle/>
          <a:p>
            <a:pPr indent="0" lvl="0" marL="0" marR="0" rtl="0" algn="l">
              <a:spcBef>
                <a:spcPts val="0"/>
              </a:spcBef>
              <a:spcAft>
                <a:spcPts val="0"/>
              </a:spcAft>
              <a:buNone/>
            </a:pPr>
            <a:r>
              <a:t/>
            </a:r>
            <a:endParaRPr sz="1905">
              <a:solidFill>
                <a:schemeClr val="dk1"/>
              </a:solidFill>
              <a:latin typeface="Arial"/>
              <a:ea typeface="Arial"/>
              <a:cs typeface="Arial"/>
              <a:sym typeface="Arial"/>
            </a:endParaRPr>
          </a:p>
        </p:txBody>
      </p:sp>
      <p:sp>
        <p:nvSpPr>
          <p:cNvPr id="123" name="Google Shape;123;p20"/>
          <p:cNvSpPr/>
          <p:nvPr/>
        </p:nvSpPr>
        <p:spPr>
          <a:xfrm>
            <a:off x="4352232" y="1333632"/>
            <a:ext cx="4553100" cy="23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375"/>
              <a:buFont typeface="Arial"/>
              <a:buNone/>
            </a:pPr>
            <a:r>
              <a:rPr b="1" lang="en" sz="1675">
                <a:solidFill>
                  <a:srgbClr val="122033"/>
                </a:solidFill>
                <a:latin typeface="Arial"/>
                <a:ea typeface="Arial"/>
                <a:cs typeface="Arial"/>
                <a:sym typeface="Arial"/>
              </a:rPr>
              <a:t>Core idea</a:t>
            </a:r>
            <a:endParaRPr sz="1675">
              <a:solidFill>
                <a:schemeClr val="dk1"/>
              </a:solidFill>
              <a:latin typeface="Arial"/>
              <a:ea typeface="Arial"/>
              <a:cs typeface="Arial"/>
              <a:sym typeface="Arial"/>
            </a:endParaRPr>
          </a:p>
        </p:txBody>
      </p:sp>
      <p:sp>
        <p:nvSpPr>
          <p:cNvPr id="124" name="Google Shape;124;p20"/>
          <p:cNvSpPr/>
          <p:nvPr/>
        </p:nvSpPr>
        <p:spPr>
          <a:xfrm>
            <a:off x="4352232" y="1675982"/>
            <a:ext cx="4553100" cy="299400"/>
          </a:xfrm>
          <a:prstGeom prst="rect">
            <a:avLst/>
          </a:prstGeom>
          <a:noFill/>
          <a:ln>
            <a:noFill/>
          </a:ln>
        </p:spPr>
        <p:txBody>
          <a:bodyPr anchorCtr="0" anchor="ctr" bIns="225" lIns="225" spcFirstLastPara="1" rIns="225" wrap="square" tIns="225">
            <a:noAutofit/>
          </a:bodyPr>
          <a:lstStyle/>
          <a:p>
            <a:pPr indent="0" lvl="0" marL="0" marR="0" rtl="0" algn="l">
              <a:spcBef>
                <a:spcPts val="0"/>
              </a:spcBef>
              <a:spcAft>
                <a:spcPts val="0"/>
              </a:spcAft>
              <a:buClr>
                <a:srgbClr val="516071"/>
              </a:buClr>
              <a:buSzPts val="1146"/>
              <a:buFont typeface="Arial"/>
              <a:buNone/>
            </a:pPr>
            <a:r>
              <a:rPr lang="en" sz="1446">
                <a:solidFill>
                  <a:srgbClr val="516071"/>
                </a:solidFill>
                <a:latin typeface="Arial"/>
                <a:ea typeface="Arial"/>
                <a:cs typeface="Arial"/>
                <a:sym typeface="Arial"/>
              </a:rPr>
              <a:t>Measure distance from the new point to training points. Then use the nearby labels to make a prediction.</a:t>
            </a:r>
            <a:endParaRPr sz="1446">
              <a:solidFill>
                <a:schemeClr val="dk1"/>
              </a:solidFill>
              <a:latin typeface="Arial"/>
              <a:ea typeface="Arial"/>
              <a:cs typeface="Arial"/>
              <a:sym typeface="Arial"/>
            </a:endParaRPr>
          </a:p>
        </p:txBody>
      </p:sp>
      <p:sp>
        <p:nvSpPr>
          <p:cNvPr id="125" name="Google Shape;125;p20"/>
          <p:cNvSpPr/>
          <p:nvPr/>
        </p:nvSpPr>
        <p:spPr>
          <a:xfrm>
            <a:off x="4143375" y="2317887"/>
            <a:ext cx="4929300" cy="898500"/>
          </a:xfrm>
          <a:prstGeom prst="roundRect">
            <a:avLst>
              <a:gd fmla="val 5714" name="adj"/>
            </a:avLst>
          </a:prstGeom>
          <a:solidFill>
            <a:srgbClr val="FFFFFF"/>
          </a:solidFill>
          <a:ln cap="flat" cmpd="sng" w="14550">
            <a:solidFill>
              <a:srgbClr val="DDE5EF"/>
            </a:solidFill>
            <a:prstDash val="solid"/>
            <a:round/>
            <a:headEnd len="sm" w="sm" type="none"/>
            <a:tailEnd len="sm" w="sm" type="none"/>
          </a:ln>
          <a:effectLst>
            <a:outerShdw blurRad="17467" rotWithShape="0" algn="bl" dir="2700000" dist="14556">
              <a:srgbClr val="000000">
                <a:alpha val="10196"/>
              </a:srgbClr>
            </a:outerShdw>
          </a:effectLst>
        </p:spPr>
        <p:txBody>
          <a:bodyPr anchorCtr="0" anchor="t" bIns="39275" lIns="78600" spcFirstLastPara="1" rIns="78600" wrap="square" tIns="39275">
            <a:noAutofit/>
          </a:bodyPr>
          <a:lstStyle/>
          <a:p>
            <a:pPr indent="0" lvl="0" marL="0" marR="0" rtl="0" algn="l">
              <a:spcBef>
                <a:spcPts val="0"/>
              </a:spcBef>
              <a:spcAft>
                <a:spcPts val="0"/>
              </a:spcAft>
              <a:buNone/>
            </a:pPr>
            <a:r>
              <a:t/>
            </a:r>
            <a:endParaRPr sz="1905">
              <a:solidFill>
                <a:schemeClr val="dk1"/>
              </a:solidFill>
              <a:latin typeface="Arial"/>
              <a:ea typeface="Arial"/>
              <a:cs typeface="Arial"/>
              <a:sym typeface="Arial"/>
            </a:endParaRPr>
          </a:p>
        </p:txBody>
      </p:sp>
      <p:sp>
        <p:nvSpPr>
          <p:cNvPr id="126" name="Google Shape;126;p20"/>
          <p:cNvSpPr/>
          <p:nvPr/>
        </p:nvSpPr>
        <p:spPr>
          <a:xfrm>
            <a:off x="4143375" y="2317887"/>
            <a:ext cx="66900" cy="898500"/>
          </a:xfrm>
          <a:prstGeom prst="rect">
            <a:avLst/>
          </a:prstGeom>
          <a:solidFill>
            <a:srgbClr val="F59E0B"/>
          </a:solidFill>
          <a:ln cap="flat" cmpd="sng" w="14550">
            <a:solidFill>
              <a:srgbClr val="F59E0B"/>
            </a:solidFill>
            <a:prstDash val="solid"/>
            <a:round/>
            <a:headEnd len="sm" w="sm" type="none"/>
            <a:tailEnd len="sm" w="sm" type="none"/>
          </a:ln>
        </p:spPr>
        <p:txBody>
          <a:bodyPr anchorCtr="0" anchor="t" bIns="39275" lIns="78600" spcFirstLastPara="1" rIns="78600" wrap="square" tIns="39275">
            <a:noAutofit/>
          </a:bodyPr>
          <a:lstStyle/>
          <a:p>
            <a:pPr indent="0" lvl="0" marL="0" marR="0" rtl="0" algn="l">
              <a:spcBef>
                <a:spcPts val="0"/>
              </a:spcBef>
              <a:spcAft>
                <a:spcPts val="0"/>
              </a:spcAft>
              <a:buNone/>
            </a:pPr>
            <a:r>
              <a:t/>
            </a:r>
            <a:endParaRPr sz="1905">
              <a:solidFill>
                <a:schemeClr val="dk1"/>
              </a:solidFill>
              <a:latin typeface="Arial"/>
              <a:ea typeface="Arial"/>
              <a:cs typeface="Arial"/>
              <a:sym typeface="Arial"/>
            </a:endParaRPr>
          </a:p>
        </p:txBody>
      </p:sp>
      <p:sp>
        <p:nvSpPr>
          <p:cNvPr id="127" name="Google Shape;127;p20"/>
          <p:cNvSpPr/>
          <p:nvPr/>
        </p:nvSpPr>
        <p:spPr>
          <a:xfrm>
            <a:off x="4352232" y="2471945"/>
            <a:ext cx="4553100" cy="23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375"/>
              <a:buFont typeface="Arial"/>
              <a:buNone/>
            </a:pPr>
            <a:r>
              <a:rPr b="1" lang="en" sz="1675">
                <a:solidFill>
                  <a:srgbClr val="122033"/>
                </a:solidFill>
                <a:latin typeface="Arial"/>
                <a:ea typeface="Arial"/>
                <a:cs typeface="Arial"/>
                <a:sym typeface="Arial"/>
              </a:rPr>
              <a:t>Main </a:t>
            </a:r>
            <a:r>
              <a:rPr b="1" lang="en" sz="1675">
                <a:solidFill>
                  <a:srgbClr val="122033"/>
                </a:solidFill>
                <a:highlight>
                  <a:srgbClr val="FFFF00"/>
                </a:highlight>
                <a:latin typeface="Arial"/>
                <a:ea typeface="Arial"/>
                <a:cs typeface="Arial"/>
                <a:sym typeface="Arial"/>
              </a:rPr>
              <a:t>hyperparameter</a:t>
            </a:r>
            <a:endParaRPr sz="1675">
              <a:solidFill>
                <a:schemeClr val="dk1"/>
              </a:solidFill>
              <a:highlight>
                <a:srgbClr val="FFFF00"/>
              </a:highlight>
              <a:latin typeface="Arial"/>
              <a:ea typeface="Arial"/>
              <a:cs typeface="Arial"/>
              <a:sym typeface="Arial"/>
            </a:endParaRPr>
          </a:p>
        </p:txBody>
      </p:sp>
      <p:sp>
        <p:nvSpPr>
          <p:cNvPr id="128" name="Google Shape;128;p20"/>
          <p:cNvSpPr/>
          <p:nvPr/>
        </p:nvSpPr>
        <p:spPr>
          <a:xfrm>
            <a:off x="4352232" y="2814294"/>
            <a:ext cx="4553100" cy="299400"/>
          </a:xfrm>
          <a:prstGeom prst="rect">
            <a:avLst/>
          </a:prstGeom>
          <a:noFill/>
          <a:ln>
            <a:noFill/>
          </a:ln>
        </p:spPr>
        <p:txBody>
          <a:bodyPr anchorCtr="0" anchor="ctr" bIns="225" lIns="225" spcFirstLastPara="1" rIns="225" wrap="square" tIns="225">
            <a:noAutofit/>
          </a:bodyPr>
          <a:lstStyle/>
          <a:p>
            <a:pPr indent="0" lvl="0" marL="0" marR="0" rtl="0" algn="l">
              <a:spcBef>
                <a:spcPts val="0"/>
              </a:spcBef>
              <a:spcAft>
                <a:spcPts val="0"/>
              </a:spcAft>
              <a:buClr>
                <a:srgbClr val="516071"/>
              </a:buClr>
              <a:buSzPts val="1146"/>
              <a:buFont typeface="Arial"/>
              <a:buNone/>
            </a:pPr>
            <a:r>
              <a:rPr lang="en" sz="1446">
                <a:solidFill>
                  <a:srgbClr val="516071"/>
                </a:solidFill>
                <a:latin typeface="Arial"/>
                <a:ea typeface="Arial"/>
                <a:cs typeface="Arial"/>
                <a:sym typeface="Arial"/>
              </a:rPr>
              <a:t>k controls how many neighbors vote. </a:t>
            </a:r>
            <a:r>
              <a:rPr lang="en" sz="1446">
                <a:solidFill>
                  <a:srgbClr val="516071"/>
                </a:solidFill>
                <a:highlight>
                  <a:srgbClr val="FFFF00"/>
                </a:highlight>
                <a:latin typeface="Arial"/>
                <a:ea typeface="Arial"/>
                <a:cs typeface="Arial"/>
                <a:sym typeface="Arial"/>
              </a:rPr>
              <a:t>Small k is flexible. Large k is smoother.</a:t>
            </a:r>
            <a:endParaRPr sz="1446">
              <a:solidFill>
                <a:schemeClr val="dk1"/>
              </a:solidFill>
              <a:highlight>
                <a:srgbClr val="FFFF00"/>
              </a:highlight>
              <a:latin typeface="Arial"/>
              <a:ea typeface="Arial"/>
              <a:cs typeface="Arial"/>
              <a:sym typeface="Arial"/>
            </a:endParaRPr>
          </a:p>
        </p:txBody>
      </p:sp>
      <p:sp>
        <p:nvSpPr>
          <p:cNvPr id="129" name="Google Shape;129;p20"/>
          <p:cNvSpPr/>
          <p:nvPr/>
        </p:nvSpPr>
        <p:spPr>
          <a:xfrm>
            <a:off x="4143375" y="3456200"/>
            <a:ext cx="4929000" cy="898500"/>
          </a:xfrm>
          <a:prstGeom prst="roundRect">
            <a:avLst>
              <a:gd fmla="val 5714" name="adj"/>
            </a:avLst>
          </a:prstGeom>
          <a:solidFill>
            <a:srgbClr val="FFFFFF"/>
          </a:solidFill>
          <a:ln cap="flat" cmpd="sng" w="14550">
            <a:solidFill>
              <a:srgbClr val="DDE5EF"/>
            </a:solidFill>
            <a:prstDash val="solid"/>
            <a:round/>
            <a:headEnd len="sm" w="sm" type="none"/>
            <a:tailEnd len="sm" w="sm" type="none"/>
          </a:ln>
          <a:effectLst>
            <a:outerShdw blurRad="17467" rotWithShape="0" algn="bl" dir="2700000" dist="14556">
              <a:srgbClr val="000000">
                <a:alpha val="10196"/>
              </a:srgbClr>
            </a:outerShdw>
          </a:effectLst>
        </p:spPr>
        <p:txBody>
          <a:bodyPr anchorCtr="0" anchor="t" bIns="39275" lIns="78600" spcFirstLastPara="1" rIns="78600" wrap="square" tIns="39275">
            <a:noAutofit/>
          </a:bodyPr>
          <a:lstStyle/>
          <a:p>
            <a:pPr indent="0" lvl="0" marL="0" marR="0" rtl="0" algn="l">
              <a:spcBef>
                <a:spcPts val="0"/>
              </a:spcBef>
              <a:spcAft>
                <a:spcPts val="0"/>
              </a:spcAft>
              <a:buNone/>
            </a:pPr>
            <a:r>
              <a:t/>
            </a:r>
            <a:endParaRPr sz="1905">
              <a:solidFill>
                <a:schemeClr val="dk1"/>
              </a:solidFill>
              <a:latin typeface="Arial"/>
              <a:ea typeface="Arial"/>
              <a:cs typeface="Arial"/>
              <a:sym typeface="Arial"/>
            </a:endParaRPr>
          </a:p>
        </p:txBody>
      </p:sp>
      <p:sp>
        <p:nvSpPr>
          <p:cNvPr id="130" name="Google Shape;130;p20"/>
          <p:cNvSpPr/>
          <p:nvPr/>
        </p:nvSpPr>
        <p:spPr>
          <a:xfrm>
            <a:off x="4143375" y="3456200"/>
            <a:ext cx="66900" cy="898500"/>
          </a:xfrm>
          <a:prstGeom prst="rect">
            <a:avLst/>
          </a:prstGeom>
          <a:solidFill>
            <a:srgbClr val="079A99"/>
          </a:solidFill>
          <a:ln cap="flat" cmpd="sng" w="14550">
            <a:solidFill>
              <a:srgbClr val="079A99"/>
            </a:solidFill>
            <a:prstDash val="solid"/>
            <a:round/>
            <a:headEnd len="sm" w="sm" type="none"/>
            <a:tailEnd len="sm" w="sm" type="none"/>
          </a:ln>
        </p:spPr>
        <p:txBody>
          <a:bodyPr anchorCtr="0" anchor="t" bIns="39275" lIns="78600" spcFirstLastPara="1" rIns="78600" wrap="square" tIns="39275">
            <a:noAutofit/>
          </a:bodyPr>
          <a:lstStyle/>
          <a:p>
            <a:pPr indent="0" lvl="0" marL="0" marR="0" rtl="0" algn="l">
              <a:spcBef>
                <a:spcPts val="0"/>
              </a:spcBef>
              <a:spcAft>
                <a:spcPts val="0"/>
              </a:spcAft>
              <a:buNone/>
            </a:pPr>
            <a:r>
              <a:t/>
            </a:r>
            <a:endParaRPr sz="1905">
              <a:solidFill>
                <a:schemeClr val="dk1"/>
              </a:solidFill>
              <a:latin typeface="Arial"/>
              <a:ea typeface="Arial"/>
              <a:cs typeface="Arial"/>
              <a:sym typeface="Arial"/>
            </a:endParaRPr>
          </a:p>
        </p:txBody>
      </p:sp>
      <p:sp>
        <p:nvSpPr>
          <p:cNvPr id="131" name="Google Shape;131;p20"/>
          <p:cNvSpPr/>
          <p:nvPr/>
        </p:nvSpPr>
        <p:spPr>
          <a:xfrm>
            <a:off x="4352232" y="3610257"/>
            <a:ext cx="4553100" cy="23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375"/>
              <a:buFont typeface="Arial"/>
              <a:buNone/>
            </a:pPr>
            <a:r>
              <a:rPr b="1" lang="en" sz="1675">
                <a:solidFill>
                  <a:srgbClr val="122033"/>
                </a:solidFill>
                <a:latin typeface="Arial"/>
                <a:ea typeface="Arial"/>
                <a:cs typeface="Arial"/>
                <a:sym typeface="Arial"/>
              </a:rPr>
              <a:t>Important preprocessing</a:t>
            </a:r>
            <a:endParaRPr sz="1675">
              <a:solidFill>
                <a:schemeClr val="dk1"/>
              </a:solidFill>
              <a:latin typeface="Arial"/>
              <a:ea typeface="Arial"/>
              <a:cs typeface="Arial"/>
              <a:sym typeface="Arial"/>
            </a:endParaRPr>
          </a:p>
        </p:txBody>
      </p:sp>
      <p:sp>
        <p:nvSpPr>
          <p:cNvPr id="132" name="Google Shape;132;p20"/>
          <p:cNvSpPr/>
          <p:nvPr/>
        </p:nvSpPr>
        <p:spPr>
          <a:xfrm>
            <a:off x="4352232" y="3952606"/>
            <a:ext cx="4553100" cy="299400"/>
          </a:xfrm>
          <a:prstGeom prst="rect">
            <a:avLst/>
          </a:prstGeom>
          <a:noFill/>
          <a:ln>
            <a:noFill/>
          </a:ln>
        </p:spPr>
        <p:txBody>
          <a:bodyPr anchorCtr="0" anchor="ctr" bIns="225" lIns="225" spcFirstLastPara="1" rIns="225" wrap="square" tIns="225">
            <a:noAutofit/>
          </a:bodyPr>
          <a:lstStyle/>
          <a:p>
            <a:pPr indent="0" lvl="0" marL="0" marR="0" rtl="0" algn="l">
              <a:spcBef>
                <a:spcPts val="0"/>
              </a:spcBef>
              <a:spcAft>
                <a:spcPts val="0"/>
              </a:spcAft>
              <a:buClr>
                <a:srgbClr val="516071"/>
              </a:buClr>
              <a:buSzPts val="1146"/>
              <a:buFont typeface="Arial"/>
              <a:buNone/>
            </a:pPr>
            <a:r>
              <a:rPr lang="en" sz="1446">
                <a:solidFill>
                  <a:srgbClr val="516071"/>
                </a:solidFill>
                <a:latin typeface="Arial"/>
                <a:ea typeface="Arial"/>
                <a:cs typeface="Arial"/>
                <a:sym typeface="Arial"/>
              </a:rPr>
              <a:t>Distance-based models care about scale, so numerical features often need standardization.</a:t>
            </a:r>
            <a:endParaRPr sz="1446">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37" name="Shape 137"/>
        <p:cNvGrpSpPr/>
        <p:nvPr/>
      </p:nvGrpSpPr>
      <p:grpSpPr>
        <a:xfrm>
          <a:off x="0" y="0"/>
          <a:ext cx="0" cy="0"/>
          <a:chOff x="0" y="0"/>
          <a:chExt cx="0" cy="0"/>
        </a:xfrm>
      </p:grpSpPr>
      <p:sp>
        <p:nvSpPr>
          <p:cNvPr id="138" name="Google Shape;138;p21"/>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39" name="Google Shape;139;p21"/>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2D6CDF"/>
              </a:buClr>
              <a:buSzPts val="700"/>
              <a:buFont typeface="Arial"/>
              <a:buNone/>
            </a:pPr>
            <a:r>
              <a:rPr b="1" lang="en" sz="700">
                <a:solidFill>
                  <a:srgbClr val="2D6CDF"/>
                </a:solidFill>
              </a:rPr>
              <a:t>ALGORITHM - kNN</a:t>
            </a:r>
            <a:endParaRPr b="1" sz="700">
              <a:solidFill>
                <a:srgbClr val="2D6CDF"/>
              </a:solidFill>
            </a:endParaRPr>
          </a:p>
        </p:txBody>
      </p:sp>
      <p:sp>
        <p:nvSpPr>
          <p:cNvPr id="140" name="Google Shape;140;p21"/>
          <p:cNvSpPr/>
          <p:nvPr/>
        </p:nvSpPr>
        <p:spPr>
          <a:xfrm>
            <a:off x="377190" y="384048"/>
            <a:ext cx="836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Changing k changes complexity</a:t>
            </a:r>
            <a:endParaRPr sz="2300">
              <a:solidFill>
                <a:schemeClr val="dk1"/>
              </a:solidFill>
              <a:latin typeface="Arial"/>
              <a:ea typeface="Arial"/>
              <a:cs typeface="Arial"/>
              <a:sym typeface="Arial"/>
            </a:endParaRPr>
          </a:p>
        </p:txBody>
      </p:sp>
      <p:sp>
        <p:nvSpPr>
          <p:cNvPr id="141" name="Google Shape;141;p21"/>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Small k can memorize local noise; larger k smooths the boundary and can underfit.</a:t>
            </a:r>
            <a:endParaRPr sz="1100">
              <a:solidFill>
                <a:schemeClr val="dk1"/>
              </a:solidFill>
              <a:latin typeface="Arial"/>
              <a:ea typeface="Arial"/>
              <a:cs typeface="Arial"/>
              <a:sym typeface="Arial"/>
            </a:endParaRPr>
          </a:p>
        </p:txBody>
      </p:sp>
      <p:sp>
        <p:nvSpPr>
          <p:cNvPr id="142" name="Google Shape;142;p21"/>
          <p:cNvSpPr/>
          <p:nvPr/>
        </p:nvSpPr>
        <p:spPr>
          <a:xfrm>
            <a:off x="445770" y="1042416"/>
            <a:ext cx="4663440" cy="3223260"/>
          </a:xfrm>
          <a:prstGeom prst="roundRect">
            <a:avLst>
              <a:gd fmla="val 1277"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215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cxnSp>
        <p:nvCxnSpPr>
          <p:cNvPr id="143" name="Google Shape;143;p21"/>
          <p:cNvCxnSpPr/>
          <p:nvPr/>
        </p:nvCxnSpPr>
        <p:spPr>
          <a:xfrm rot="5400000">
            <a:off x="7045013" y="2479043"/>
            <a:ext cx="2674500" cy="0"/>
          </a:xfrm>
          <a:prstGeom prst="straightConnector1">
            <a:avLst/>
          </a:prstGeom>
          <a:noFill/>
          <a:ln cap="flat" cmpd="sng" w="50800">
            <a:solidFill>
              <a:srgbClr val="D7DEE8"/>
            </a:solidFill>
            <a:prstDash val="solid"/>
            <a:round/>
            <a:headEnd len="sm" w="sm" type="none"/>
            <a:tailEnd len="med" w="med" type="triangle"/>
          </a:ln>
        </p:spPr>
      </p:cxnSp>
      <p:sp>
        <p:nvSpPr>
          <p:cNvPr id="144" name="Google Shape;144;p21"/>
          <p:cNvSpPr/>
          <p:nvPr/>
        </p:nvSpPr>
        <p:spPr>
          <a:xfrm rot="5400000">
            <a:off x="7734107" y="2256143"/>
            <a:ext cx="1714500" cy="1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16071"/>
              </a:buClr>
              <a:buSzPts val="1100"/>
              <a:buFont typeface="Arial"/>
              <a:buNone/>
            </a:pPr>
            <a:r>
              <a:rPr b="1" lang="en" sz="1100">
                <a:solidFill>
                  <a:srgbClr val="516071"/>
                </a:solidFill>
                <a:latin typeface="Arial"/>
                <a:ea typeface="Arial"/>
                <a:cs typeface="Arial"/>
                <a:sym typeface="Arial"/>
              </a:rPr>
              <a:t>More smoothing</a:t>
            </a:r>
            <a:endParaRPr sz="1100">
              <a:solidFill>
                <a:schemeClr val="dk1"/>
              </a:solidFill>
              <a:latin typeface="Arial"/>
              <a:ea typeface="Arial"/>
              <a:cs typeface="Arial"/>
              <a:sym typeface="Arial"/>
            </a:endParaRPr>
          </a:p>
        </p:txBody>
      </p:sp>
      <p:sp>
        <p:nvSpPr>
          <p:cNvPr id="145" name="Google Shape;145;p21"/>
          <p:cNvSpPr/>
          <p:nvPr/>
        </p:nvSpPr>
        <p:spPr>
          <a:xfrm>
            <a:off x="5277763" y="1117938"/>
            <a:ext cx="2674500" cy="891600"/>
          </a:xfrm>
          <a:prstGeom prst="roundRect">
            <a:avLst>
              <a:gd fmla="val 461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46" name="Google Shape;146;p21"/>
          <p:cNvSpPr/>
          <p:nvPr/>
        </p:nvSpPr>
        <p:spPr>
          <a:xfrm>
            <a:off x="5277763" y="1117938"/>
            <a:ext cx="102000" cy="891600"/>
          </a:xfrm>
          <a:prstGeom prst="rect">
            <a:avLst/>
          </a:prstGeom>
          <a:solidFill>
            <a:srgbClr val="D94D4D"/>
          </a:solidFill>
          <a:ln cap="flat" cmpd="sng" w="12700">
            <a:solidFill>
              <a:srgbClr val="D94D4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47" name="Google Shape;147;p21"/>
          <p:cNvSpPr/>
          <p:nvPr/>
        </p:nvSpPr>
        <p:spPr>
          <a:xfrm>
            <a:off x="5525171" y="1217570"/>
            <a:ext cx="20406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700">
                <a:solidFill>
                  <a:srgbClr val="122033"/>
                </a:solidFill>
                <a:highlight>
                  <a:srgbClr val="FFFF00"/>
                </a:highlight>
                <a:latin typeface="Arial"/>
                <a:ea typeface="Arial"/>
                <a:cs typeface="Arial"/>
                <a:sym typeface="Arial"/>
              </a:rPr>
              <a:t>Lower k</a:t>
            </a:r>
            <a:endParaRPr sz="1700">
              <a:solidFill>
                <a:schemeClr val="dk1"/>
              </a:solidFill>
              <a:highlight>
                <a:srgbClr val="FFFF00"/>
              </a:highlight>
              <a:latin typeface="Arial"/>
              <a:ea typeface="Arial"/>
              <a:cs typeface="Arial"/>
              <a:sym typeface="Arial"/>
            </a:endParaRPr>
          </a:p>
        </p:txBody>
      </p:sp>
      <p:sp>
        <p:nvSpPr>
          <p:cNvPr id="148" name="Google Shape;148;p21"/>
          <p:cNvSpPr/>
          <p:nvPr/>
        </p:nvSpPr>
        <p:spPr>
          <a:xfrm>
            <a:off x="5511138" y="1433513"/>
            <a:ext cx="2535900" cy="4623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500">
                <a:solidFill>
                  <a:srgbClr val="516071"/>
                </a:solidFill>
                <a:latin typeface="Arial"/>
                <a:ea typeface="Arial"/>
                <a:cs typeface="Arial"/>
                <a:sym typeface="Arial"/>
              </a:rPr>
              <a:t>More flexible,</a:t>
            </a:r>
            <a:r>
              <a:rPr lang="en" sz="1500">
                <a:solidFill>
                  <a:schemeClr val="dk1"/>
                </a:solidFill>
              </a:rPr>
              <a:t> </a:t>
            </a:r>
            <a:r>
              <a:rPr lang="en" sz="1500">
                <a:solidFill>
                  <a:srgbClr val="516071"/>
                </a:solidFill>
              </a:rPr>
              <a:t>m</a:t>
            </a:r>
            <a:r>
              <a:rPr lang="en" sz="1500">
                <a:solidFill>
                  <a:srgbClr val="516071"/>
                </a:solidFill>
                <a:latin typeface="Arial"/>
                <a:ea typeface="Arial"/>
                <a:cs typeface="Arial"/>
                <a:sym typeface="Arial"/>
              </a:rPr>
              <a:t>ore variance, </a:t>
            </a:r>
            <a:r>
              <a:rPr lang="en" sz="1500">
                <a:solidFill>
                  <a:srgbClr val="516071"/>
                </a:solidFill>
              </a:rPr>
              <a:t>m</a:t>
            </a:r>
            <a:r>
              <a:rPr lang="en" sz="1500">
                <a:solidFill>
                  <a:srgbClr val="516071"/>
                </a:solidFill>
                <a:latin typeface="Arial"/>
                <a:ea typeface="Arial"/>
                <a:cs typeface="Arial"/>
                <a:sym typeface="Arial"/>
              </a:rPr>
              <a:t>ore noise-sensitive</a:t>
            </a:r>
            <a:endParaRPr sz="1500">
              <a:solidFill>
                <a:schemeClr val="dk1"/>
              </a:solidFill>
              <a:latin typeface="Arial"/>
              <a:ea typeface="Arial"/>
              <a:cs typeface="Arial"/>
              <a:sym typeface="Arial"/>
            </a:endParaRPr>
          </a:p>
        </p:txBody>
      </p:sp>
      <p:sp>
        <p:nvSpPr>
          <p:cNvPr id="149" name="Google Shape;149;p21"/>
          <p:cNvSpPr/>
          <p:nvPr/>
        </p:nvSpPr>
        <p:spPr>
          <a:xfrm>
            <a:off x="5277775" y="3017775"/>
            <a:ext cx="2674500" cy="891600"/>
          </a:xfrm>
          <a:prstGeom prst="roundRect">
            <a:avLst>
              <a:gd fmla="val 461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150" name="Google Shape;150;p21"/>
          <p:cNvSpPr/>
          <p:nvPr/>
        </p:nvSpPr>
        <p:spPr>
          <a:xfrm>
            <a:off x="5277771" y="3017775"/>
            <a:ext cx="102000" cy="891600"/>
          </a:xfrm>
          <a:prstGeom prst="rect">
            <a:avLst/>
          </a:prstGeom>
          <a:solidFill>
            <a:srgbClr val="169B62"/>
          </a:solidFill>
          <a:ln cap="flat" cmpd="sng" w="12700">
            <a:solidFill>
              <a:srgbClr val="169B6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151" name="Google Shape;151;p21"/>
          <p:cNvSpPr/>
          <p:nvPr/>
        </p:nvSpPr>
        <p:spPr>
          <a:xfrm>
            <a:off x="5508764" y="3131319"/>
            <a:ext cx="2040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700">
                <a:solidFill>
                  <a:srgbClr val="122033"/>
                </a:solidFill>
                <a:highlight>
                  <a:srgbClr val="FFFF00"/>
                </a:highlight>
                <a:latin typeface="Arial"/>
                <a:ea typeface="Arial"/>
                <a:cs typeface="Arial"/>
                <a:sym typeface="Arial"/>
              </a:rPr>
              <a:t>Higher k</a:t>
            </a:r>
            <a:endParaRPr sz="1700">
              <a:solidFill>
                <a:schemeClr val="dk1"/>
              </a:solidFill>
              <a:highlight>
                <a:srgbClr val="FFFF00"/>
              </a:highlight>
              <a:latin typeface="Arial"/>
              <a:ea typeface="Arial"/>
              <a:cs typeface="Arial"/>
              <a:sym typeface="Arial"/>
            </a:endParaRPr>
          </a:p>
        </p:txBody>
      </p:sp>
      <p:sp>
        <p:nvSpPr>
          <p:cNvPr id="152" name="Google Shape;152;p21"/>
          <p:cNvSpPr/>
          <p:nvPr/>
        </p:nvSpPr>
        <p:spPr>
          <a:xfrm>
            <a:off x="5511125" y="3364675"/>
            <a:ext cx="2298000" cy="4623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500">
                <a:solidFill>
                  <a:srgbClr val="516071"/>
                </a:solidFill>
                <a:latin typeface="Arial"/>
                <a:ea typeface="Arial"/>
                <a:cs typeface="Arial"/>
                <a:sym typeface="Arial"/>
              </a:rPr>
              <a:t>Smoother</a:t>
            </a:r>
            <a:r>
              <a:rPr lang="en" sz="1500">
                <a:solidFill>
                  <a:schemeClr val="dk1"/>
                </a:solidFill>
              </a:rPr>
              <a:t>, </a:t>
            </a:r>
            <a:r>
              <a:rPr lang="en" sz="1500">
                <a:solidFill>
                  <a:srgbClr val="516071"/>
                </a:solidFill>
                <a:latin typeface="Arial"/>
                <a:ea typeface="Arial"/>
                <a:cs typeface="Arial"/>
                <a:sym typeface="Arial"/>
              </a:rPr>
              <a:t>Less variance</a:t>
            </a:r>
            <a:r>
              <a:rPr lang="en" sz="1500">
                <a:solidFill>
                  <a:schemeClr val="dk1"/>
                </a:solidFill>
              </a:rPr>
              <a:t>, </a:t>
            </a:r>
            <a:r>
              <a:rPr lang="en" sz="1500">
                <a:solidFill>
                  <a:srgbClr val="516071"/>
                </a:solidFill>
                <a:latin typeface="Arial"/>
                <a:ea typeface="Arial"/>
                <a:cs typeface="Arial"/>
                <a:sym typeface="Arial"/>
              </a:rPr>
              <a:t>Risk of underfitting</a:t>
            </a:r>
            <a:endParaRPr sz="1500">
              <a:solidFill>
                <a:schemeClr val="dk1"/>
              </a:solidFill>
              <a:latin typeface="Arial"/>
              <a:ea typeface="Arial"/>
              <a:cs typeface="Arial"/>
              <a:sym typeface="Arial"/>
            </a:endParaRPr>
          </a:p>
        </p:txBody>
      </p:sp>
      <p:sp>
        <p:nvSpPr>
          <p:cNvPr id="153" name="Google Shape;153;p21"/>
          <p:cNvSpPr/>
          <p:nvPr/>
        </p:nvSpPr>
        <p:spPr>
          <a:xfrm>
            <a:off x="5314950" y="4155971"/>
            <a:ext cx="3189000" cy="731400"/>
          </a:xfrm>
          <a:prstGeom prst="rect">
            <a:avLst/>
          </a:prstGeom>
          <a:noFill/>
          <a:ln>
            <a:noFill/>
          </a:ln>
        </p:spPr>
        <p:txBody>
          <a:bodyPr anchorCtr="0" anchor="ctr" bIns="275" lIns="275" spcFirstLastPara="1" rIns="275" wrap="square" tIns="275">
            <a:noAutofit/>
          </a:bodyPr>
          <a:lstStyle/>
          <a:p>
            <a:pPr indent="0" lvl="0" marL="0" marR="0" rtl="0" algn="l">
              <a:spcBef>
                <a:spcPts val="0"/>
              </a:spcBef>
              <a:spcAft>
                <a:spcPts val="0"/>
              </a:spcAft>
              <a:buClr>
                <a:srgbClr val="122033"/>
              </a:buClr>
              <a:buSzPts val="1600"/>
              <a:buFont typeface="Arial"/>
              <a:buNone/>
            </a:pPr>
            <a:r>
              <a:rPr b="1" lang="en" sz="1600">
                <a:solidFill>
                  <a:srgbClr val="122033"/>
                </a:solidFill>
                <a:latin typeface="Arial"/>
                <a:ea typeface="Arial"/>
                <a:cs typeface="Arial"/>
                <a:sym typeface="Arial"/>
              </a:rPr>
              <a:t>Use validation performance, not just training performance, to choose k.</a:t>
            </a:r>
            <a:endParaRPr sz="1600">
              <a:solidFill>
                <a:schemeClr val="dk1"/>
              </a:solidFill>
              <a:latin typeface="Arial"/>
              <a:ea typeface="Arial"/>
              <a:cs typeface="Arial"/>
              <a:sym typeface="Arial"/>
            </a:endParaRPr>
          </a:p>
        </p:txBody>
      </p:sp>
      <p:pic>
        <p:nvPicPr>
          <p:cNvPr id="154" name="Google Shape;154;p21"/>
          <p:cNvPicPr preferRelativeResize="0"/>
          <p:nvPr/>
        </p:nvPicPr>
        <p:blipFill>
          <a:blip r:embed="rId3">
            <a:alphaModFix/>
          </a:blip>
          <a:stretch>
            <a:fillRect/>
          </a:stretch>
        </p:blipFill>
        <p:spPr>
          <a:xfrm>
            <a:off x="961450" y="1141788"/>
            <a:ext cx="3632076" cy="3024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59" name="Shape 159"/>
        <p:cNvGrpSpPr/>
        <p:nvPr/>
      </p:nvGrpSpPr>
      <p:grpSpPr>
        <a:xfrm>
          <a:off x="0" y="0"/>
          <a:ext cx="0" cy="0"/>
          <a:chOff x="0" y="0"/>
          <a:chExt cx="0" cy="0"/>
        </a:xfrm>
      </p:grpSpPr>
      <p:sp>
        <p:nvSpPr>
          <p:cNvPr id="160" name="Google Shape;160;p22"/>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61" name="Google Shape;161;p22"/>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ALGORITHM - SVM</a:t>
            </a:r>
            <a:endParaRPr sz="700">
              <a:solidFill>
                <a:schemeClr val="dk1"/>
              </a:solidFill>
              <a:latin typeface="Arial"/>
              <a:ea typeface="Arial"/>
              <a:cs typeface="Arial"/>
              <a:sym typeface="Arial"/>
            </a:endParaRPr>
          </a:p>
        </p:txBody>
      </p:sp>
      <p:sp>
        <p:nvSpPr>
          <p:cNvPr id="162" name="Google Shape;162;p22"/>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SVMs maximize the margin</a:t>
            </a:r>
            <a:endParaRPr sz="2300">
              <a:solidFill>
                <a:schemeClr val="dk1"/>
              </a:solidFill>
              <a:latin typeface="Arial"/>
              <a:ea typeface="Arial"/>
              <a:cs typeface="Arial"/>
              <a:sym typeface="Arial"/>
            </a:endParaRPr>
          </a:p>
        </p:txBody>
      </p:sp>
      <p:sp>
        <p:nvSpPr>
          <p:cNvPr id="163" name="Google Shape;163;p22"/>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The boundary is chosen to separate classes while keeping the nearest points as far away as possible.</a:t>
            </a:r>
            <a:endParaRPr sz="1100">
              <a:solidFill>
                <a:schemeClr val="dk1"/>
              </a:solidFill>
              <a:latin typeface="Arial"/>
              <a:ea typeface="Arial"/>
              <a:cs typeface="Arial"/>
              <a:sym typeface="Arial"/>
            </a:endParaRPr>
          </a:p>
        </p:txBody>
      </p:sp>
      <p:sp>
        <p:nvSpPr>
          <p:cNvPr id="164" name="Google Shape;164;p22"/>
          <p:cNvSpPr/>
          <p:nvPr/>
        </p:nvSpPr>
        <p:spPr>
          <a:xfrm>
            <a:off x="534924" y="1062990"/>
            <a:ext cx="3840480" cy="3223260"/>
          </a:xfrm>
          <a:prstGeom prst="roundRect">
            <a:avLst>
              <a:gd fmla="val 1277"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215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pic>
        <p:nvPicPr>
          <p:cNvPr descr="/mnt/data/ml_crops/svm_margin.png" id="165" name="Google Shape;165;p22"/>
          <p:cNvPicPr preferRelativeResize="0"/>
          <p:nvPr/>
        </p:nvPicPr>
        <p:blipFill rotWithShape="1">
          <a:blip r:embed="rId3">
            <a:alphaModFix/>
          </a:blip>
          <a:srcRect b="0" l="11778" r="11778" t="0"/>
          <a:stretch/>
        </p:blipFill>
        <p:spPr>
          <a:xfrm>
            <a:off x="569214" y="1097280"/>
            <a:ext cx="3771900" cy="3154680"/>
          </a:xfrm>
          <a:prstGeom prst="rect">
            <a:avLst/>
          </a:prstGeom>
          <a:noFill/>
          <a:ln>
            <a:noFill/>
          </a:ln>
        </p:spPr>
      </p:pic>
      <p:sp>
        <p:nvSpPr>
          <p:cNvPr id="166" name="Google Shape;166;p22"/>
          <p:cNvSpPr/>
          <p:nvPr/>
        </p:nvSpPr>
        <p:spPr>
          <a:xfrm>
            <a:off x="4572000" y="1131575"/>
            <a:ext cx="4226700" cy="876300"/>
          </a:xfrm>
          <a:prstGeom prst="roundRect">
            <a:avLst>
              <a:gd fmla="val 6000"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22"/>
          <p:cNvSpPr/>
          <p:nvPr/>
        </p:nvSpPr>
        <p:spPr>
          <a:xfrm>
            <a:off x="4572000" y="1131575"/>
            <a:ext cx="63600" cy="876300"/>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 name="Google Shape;168;p22"/>
          <p:cNvSpPr/>
          <p:nvPr/>
        </p:nvSpPr>
        <p:spPr>
          <a:xfrm>
            <a:off x="4771374" y="1289309"/>
            <a:ext cx="3867900" cy="24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600">
                <a:solidFill>
                  <a:srgbClr val="122033"/>
                </a:solidFill>
                <a:latin typeface="Arial"/>
                <a:ea typeface="Arial"/>
                <a:cs typeface="Arial"/>
                <a:sym typeface="Arial"/>
              </a:rPr>
              <a:t>Decision boundary</a:t>
            </a:r>
            <a:endParaRPr sz="1600">
              <a:solidFill>
                <a:schemeClr val="dk1"/>
              </a:solidFill>
              <a:latin typeface="Arial"/>
              <a:ea typeface="Arial"/>
              <a:cs typeface="Arial"/>
              <a:sym typeface="Arial"/>
            </a:endParaRPr>
          </a:p>
        </p:txBody>
      </p:sp>
      <p:sp>
        <p:nvSpPr>
          <p:cNvPr id="169" name="Google Shape;169;p22"/>
          <p:cNvSpPr/>
          <p:nvPr/>
        </p:nvSpPr>
        <p:spPr>
          <a:xfrm>
            <a:off x="4771374" y="1639828"/>
            <a:ext cx="3867900" cy="263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a:solidFill>
                  <a:srgbClr val="516071"/>
                </a:solidFill>
                <a:latin typeface="Arial"/>
                <a:ea typeface="Arial"/>
                <a:cs typeface="Arial"/>
                <a:sym typeface="Arial"/>
              </a:rPr>
              <a:t>The separating line or plane. For a linear SVM, this boundary is linear in the feature space.</a:t>
            </a:r>
            <a:endParaRPr>
              <a:solidFill>
                <a:schemeClr val="dk1"/>
              </a:solidFill>
              <a:latin typeface="Arial"/>
              <a:ea typeface="Arial"/>
              <a:cs typeface="Arial"/>
              <a:sym typeface="Arial"/>
            </a:endParaRPr>
          </a:p>
        </p:txBody>
      </p:sp>
      <p:sp>
        <p:nvSpPr>
          <p:cNvPr id="170" name="Google Shape;170;p22"/>
          <p:cNvSpPr/>
          <p:nvPr/>
        </p:nvSpPr>
        <p:spPr>
          <a:xfrm>
            <a:off x="4572000" y="2270762"/>
            <a:ext cx="4226700" cy="876300"/>
          </a:xfrm>
          <a:prstGeom prst="roundRect">
            <a:avLst>
              <a:gd fmla="val 6000"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22"/>
          <p:cNvSpPr/>
          <p:nvPr/>
        </p:nvSpPr>
        <p:spPr>
          <a:xfrm>
            <a:off x="4572000" y="2270762"/>
            <a:ext cx="63600" cy="876300"/>
          </a:xfrm>
          <a:prstGeom prst="rect">
            <a:avLst/>
          </a:prstGeom>
          <a:solidFill>
            <a:srgbClr val="F59E0B"/>
          </a:solidFill>
          <a:ln cap="flat" cmpd="sng" w="12700">
            <a:solidFill>
              <a:srgbClr val="F59E0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 name="Google Shape;172;p22"/>
          <p:cNvSpPr/>
          <p:nvPr/>
        </p:nvSpPr>
        <p:spPr>
          <a:xfrm>
            <a:off x="4771374" y="2428496"/>
            <a:ext cx="3867900" cy="24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600">
                <a:solidFill>
                  <a:srgbClr val="122033"/>
                </a:solidFill>
                <a:latin typeface="Arial"/>
                <a:ea typeface="Arial"/>
                <a:cs typeface="Arial"/>
                <a:sym typeface="Arial"/>
              </a:rPr>
              <a:t>Margin</a:t>
            </a:r>
            <a:endParaRPr sz="1600">
              <a:solidFill>
                <a:schemeClr val="dk1"/>
              </a:solidFill>
              <a:latin typeface="Arial"/>
              <a:ea typeface="Arial"/>
              <a:cs typeface="Arial"/>
              <a:sym typeface="Arial"/>
            </a:endParaRPr>
          </a:p>
        </p:txBody>
      </p:sp>
      <p:sp>
        <p:nvSpPr>
          <p:cNvPr id="173" name="Google Shape;173;p22"/>
          <p:cNvSpPr/>
          <p:nvPr/>
        </p:nvSpPr>
        <p:spPr>
          <a:xfrm>
            <a:off x="4771374" y="2779015"/>
            <a:ext cx="3867900" cy="263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a:solidFill>
                  <a:srgbClr val="516071"/>
                </a:solidFill>
                <a:latin typeface="Arial"/>
                <a:ea typeface="Arial"/>
                <a:cs typeface="Arial"/>
                <a:sym typeface="Arial"/>
              </a:rPr>
              <a:t>The empty space between the boundary and the closest training points.</a:t>
            </a:r>
            <a:endParaRPr>
              <a:solidFill>
                <a:schemeClr val="dk1"/>
              </a:solidFill>
              <a:latin typeface="Arial"/>
              <a:ea typeface="Arial"/>
              <a:cs typeface="Arial"/>
              <a:sym typeface="Arial"/>
            </a:endParaRPr>
          </a:p>
        </p:txBody>
      </p:sp>
      <p:sp>
        <p:nvSpPr>
          <p:cNvPr id="174" name="Google Shape;174;p22"/>
          <p:cNvSpPr/>
          <p:nvPr/>
        </p:nvSpPr>
        <p:spPr>
          <a:xfrm>
            <a:off x="4572000" y="3409950"/>
            <a:ext cx="4226700" cy="876300"/>
          </a:xfrm>
          <a:prstGeom prst="roundRect">
            <a:avLst>
              <a:gd fmla="val 6000"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 name="Google Shape;175;p22"/>
          <p:cNvSpPr/>
          <p:nvPr/>
        </p:nvSpPr>
        <p:spPr>
          <a:xfrm>
            <a:off x="4572000" y="3409950"/>
            <a:ext cx="63600" cy="876300"/>
          </a:xfrm>
          <a:prstGeom prst="rect">
            <a:avLst/>
          </a:prstGeom>
          <a:solidFill>
            <a:srgbClr val="079A99"/>
          </a:solidFill>
          <a:ln cap="flat" cmpd="sng" w="12700">
            <a:solidFill>
              <a:srgbClr val="079A99"/>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 name="Google Shape;176;p22"/>
          <p:cNvSpPr/>
          <p:nvPr/>
        </p:nvSpPr>
        <p:spPr>
          <a:xfrm>
            <a:off x="4771374" y="3567683"/>
            <a:ext cx="3867900" cy="24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600">
                <a:solidFill>
                  <a:srgbClr val="122033"/>
                </a:solidFill>
                <a:highlight>
                  <a:srgbClr val="FFFF00"/>
                </a:highlight>
                <a:latin typeface="Arial"/>
                <a:ea typeface="Arial"/>
                <a:cs typeface="Arial"/>
                <a:sym typeface="Arial"/>
              </a:rPr>
              <a:t>Support vectors</a:t>
            </a:r>
            <a:endParaRPr sz="1600">
              <a:solidFill>
                <a:schemeClr val="dk1"/>
              </a:solidFill>
              <a:highlight>
                <a:srgbClr val="FFFF00"/>
              </a:highlight>
              <a:latin typeface="Arial"/>
              <a:ea typeface="Arial"/>
              <a:cs typeface="Arial"/>
              <a:sym typeface="Arial"/>
            </a:endParaRPr>
          </a:p>
        </p:txBody>
      </p:sp>
      <p:sp>
        <p:nvSpPr>
          <p:cNvPr id="177" name="Google Shape;177;p22"/>
          <p:cNvSpPr/>
          <p:nvPr/>
        </p:nvSpPr>
        <p:spPr>
          <a:xfrm>
            <a:off x="4771374" y="3918203"/>
            <a:ext cx="3867900" cy="263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a:solidFill>
                  <a:srgbClr val="516071"/>
                </a:solidFill>
                <a:highlight>
                  <a:srgbClr val="FFFF00"/>
                </a:highlight>
                <a:latin typeface="Arial"/>
                <a:ea typeface="Arial"/>
                <a:cs typeface="Arial"/>
                <a:sym typeface="Arial"/>
              </a:rPr>
              <a:t>The training points closest to the boundary. These points determine the margin.</a:t>
            </a:r>
            <a:endParaRPr>
              <a:solidFill>
                <a:schemeClr val="dk1"/>
              </a:solidFill>
              <a:highlight>
                <a:srgbClr val="FFFF00"/>
              </a:highlight>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3"/>
          <p:cNvPicPr preferRelativeResize="0"/>
          <p:nvPr/>
        </p:nvPicPr>
        <p:blipFill rotWithShape="1">
          <a:blip r:embed="rId3">
            <a:alphaModFix/>
          </a:blip>
          <a:srcRect b="0" l="5209" r="15028" t="2960"/>
          <a:stretch/>
        </p:blipFill>
        <p:spPr>
          <a:xfrm>
            <a:off x="1660050" y="223900"/>
            <a:ext cx="5823899" cy="4695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87" name="Shape 187"/>
        <p:cNvGrpSpPr/>
        <p:nvPr/>
      </p:nvGrpSpPr>
      <p:grpSpPr>
        <a:xfrm>
          <a:off x="0" y="0"/>
          <a:ext cx="0" cy="0"/>
          <a:chOff x="0" y="0"/>
          <a:chExt cx="0" cy="0"/>
        </a:xfrm>
      </p:grpSpPr>
      <p:sp>
        <p:nvSpPr>
          <p:cNvPr id="188" name="Google Shape;188;p24"/>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89" name="Google Shape;189;p24"/>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NON-LINEAR BOUNDARIES</a:t>
            </a:r>
            <a:endParaRPr sz="700">
              <a:solidFill>
                <a:schemeClr val="dk1"/>
              </a:solidFill>
              <a:latin typeface="Arial"/>
              <a:ea typeface="Arial"/>
              <a:cs typeface="Arial"/>
              <a:sym typeface="Arial"/>
            </a:endParaRPr>
          </a:p>
        </p:txBody>
      </p:sp>
      <p:sp>
        <p:nvSpPr>
          <p:cNvPr id="190" name="Google Shape;190;p24"/>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Kernels make linear models act non-linear</a:t>
            </a:r>
            <a:endParaRPr sz="2300">
              <a:solidFill>
                <a:schemeClr val="dk1"/>
              </a:solidFill>
              <a:latin typeface="Arial"/>
              <a:ea typeface="Arial"/>
              <a:cs typeface="Arial"/>
              <a:sym typeface="Arial"/>
            </a:endParaRPr>
          </a:p>
        </p:txBody>
      </p:sp>
      <p:sp>
        <p:nvSpPr>
          <p:cNvPr id="191" name="Google Shape;191;p24"/>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A kernel transforms the feature space so a linear separator can solve a non-linear problem.</a:t>
            </a:r>
            <a:endParaRPr sz="1100">
              <a:solidFill>
                <a:schemeClr val="dk1"/>
              </a:solidFill>
              <a:latin typeface="Arial"/>
              <a:ea typeface="Arial"/>
              <a:cs typeface="Arial"/>
              <a:sym typeface="Arial"/>
            </a:endParaRPr>
          </a:p>
        </p:txBody>
      </p:sp>
      <p:sp>
        <p:nvSpPr>
          <p:cNvPr id="192" name="Google Shape;192;p24"/>
          <p:cNvSpPr/>
          <p:nvPr/>
        </p:nvSpPr>
        <p:spPr>
          <a:xfrm>
            <a:off x="4655350" y="1220725"/>
            <a:ext cx="4179000" cy="1052100"/>
          </a:xfrm>
          <a:prstGeom prst="roundRect">
            <a:avLst>
              <a:gd fmla="val 5714" name="adj"/>
            </a:avLst>
          </a:prstGeom>
          <a:solidFill>
            <a:srgbClr val="FFFFFF"/>
          </a:solidFill>
          <a:ln cap="flat" cmpd="sng" w="16450">
            <a:solidFill>
              <a:srgbClr val="DDE5EF"/>
            </a:solidFill>
            <a:prstDash val="solid"/>
            <a:round/>
            <a:headEnd len="sm" w="sm" type="none"/>
            <a:tailEnd len="sm" w="sm" type="none"/>
          </a:ln>
          <a:effectLst>
            <a:outerShdw blurRad="19737" rotWithShape="0" algn="bl" dir="2700000" dist="16448">
              <a:srgbClr val="000000">
                <a:alpha val="10196"/>
              </a:srgbClr>
            </a:outerShdw>
          </a:effectLst>
        </p:spPr>
        <p:txBody>
          <a:bodyPr anchorCtr="0" anchor="t" bIns="44400" lIns="88800" spcFirstLastPara="1" rIns="88800" wrap="square" tIns="44400">
            <a:noAutofit/>
          </a:bodyPr>
          <a:lstStyle/>
          <a:p>
            <a:pPr indent="0" lvl="0" marL="0" marR="0" rtl="0" algn="l">
              <a:spcBef>
                <a:spcPts val="0"/>
              </a:spcBef>
              <a:spcAft>
                <a:spcPts val="0"/>
              </a:spcAft>
              <a:buNone/>
            </a:pPr>
            <a:r>
              <a:t/>
            </a:r>
            <a:endParaRPr sz="2113">
              <a:solidFill>
                <a:schemeClr val="dk1"/>
              </a:solidFill>
              <a:latin typeface="Arial"/>
              <a:ea typeface="Arial"/>
              <a:cs typeface="Arial"/>
              <a:sym typeface="Arial"/>
            </a:endParaRPr>
          </a:p>
        </p:txBody>
      </p:sp>
      <p:sp>
        <p:nvSpPr>
          <p:cNvPr id="193" name="Google Shape;193;p24"/>
          <p:cNvSpPr/>
          <p:nvPr/>
        </p:nvSpPr>
        <p:spPr>
          <a:xfrm>
            <a:off x="4655350" y="1220725"/>
            <a:ext cx="87900" cy="1052100"/>
          </a:xfrm>
          <a:prstGeom prst="rect">
            <a:avLst/>
          </a:prstGeom>
          <a:solidFill>
            <a:srgbClr val="2D6CDF"/>
          </a:solidFill>
          <a:ln cap="flat" cmpd="sng" w="16450">
            <a:solidFill>
              <a:srgbClr val="2D6CDF"/>
            </a:solidFill>
            <a:prstDash val="solid"/>
            <a:round/>
            <a:headEnd len="sm" w="sm" type="none"/>
            <a:tailEnd len="sm" w="sm" type="none"/>
          </a:ln>
        </p:spPr>
        <p:txBody>
          <a:bodyPr anchorCtr="0" anchor="t" bIns="44400" lIns="88800" spcFirstLastPara="1" rIns="88800" wrap="square" tIns="44400">
            <a:noAutofit/>
          </a:bodyPr>
          <a:lstStyle/>
          <a:p>
            <a:pPr indent="0" lvl="0" marL="0" marR="0" rtl="0" algn="l">
              <a:spcBef>
                <a:spcPts val="0"/>
              </a:spcBef>
              <a:spcAft>
                <a:spcPts val="0"/>
              </a:spcAft>
              <a:buNone/>
            </a:pPr>
            <a:r>
              <a:t/>
            </a:r>
            <a:endParaRPr sz="2113">
              <a:solidFill>
                <a:schemeClr val="dk1"/>
              </a:solidFill>
              <a:latin typeface="Arial"/>
              <a:ea typeface="Arial"/>
              <a:cs typeface="Arial"/>
              <a:sym typeface="Arial"/>
            </a:endParaRPr>
          </a:p>
        </p:txBody>
      </p:sp>
      <p:sp>
        <p:nvSpPr>
          <p:cNvPr id="194" name="Google Shape;194;p24"/>
          <p:cNvSpPr/>
          <p:nvPr/>
        </p:nvSpPr>
        <p:spPr>
          <a:xfrm>
            <a:off x="4930287" y="1401051"/>
            <a:ext cx="3684300" cy="28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554"/>
              <a:buFont typeface="Arial"/>
              <a:buNone/>
            </a:pPr>
            <a:r>
              <a:rPr b="1" lang="en" sz="1854">
                <a:solidFill>
                  <a:srgbClr val="122033"/>
                </a:solidFill>
                <a:latin typeface="Arial"/>
                <a:ea typeface="Arial"/>
                <a:cs typeface="Arial"/>
                <a:sym typeface="Arial"/>
              </a:rPr>
              <a:t>Original space</a:t>
            </a:r>
            <a:endParaRPr sz="1854">
              <a:solidFill>
                <a:schemeClr val="dk1"/>
              </a:solidFill>
              <a:latin typeface="Arial"/>
              <a:ea typeface="Arial"/>
              <a:cs typeface="Arial"/>
              <a:sym typeface="Arial"/>
            </a:endParaRPr>
          </a:p>
        </p:txBody>
      </p:sp>
      <p:sp>
        <p:nvSpPr>
          <p:cNvPr id="195" name="Google Shape;195;p24"/>
          <p:cNvSpPr/>
          <p:nvPr/>
        </p:nvSpPr>
        <p:spPr>
          <a:xfrm>
            <a:off x="4930287" y="1801774"/>
            <a:ext cx="3684300" cy="3507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516071"/>
              </a:buClr>
              <a:buSzPts val="1295"/>
              <a:buFont typeface="Arial"/>
              <a:buNone/>
            </a:pPr>
            <a:r>
              <a:rPr lang="en" sz="1595">
                <a:solidFill>
                  <a:srgbClr val="516071"/>
                </a:solidFill>
                <a:latin typeface="Arial"/>
                <a:ea typeface="Arial"/>
                <a:cs typeface="Arial"/>
                <a:sym typeface="Arial"/>
              </a:rPr>
              <a:t>The classes may not be separable by a straight line.</a:t>
            </a:r>
            <a:endParaRPr sz="1595">
              <a:solidFill>
                <a:schemeClr val="dk1"/>
              </a:solidFill>
              <a:latin typeface="Arial"/>
              <a:ea typeface="Arial"/>
              <a:cs typeface="Arial"/>
              <a:sym typeface="Arial"/>
            </a:endParaRPr>
          </a:p>
        </p:txBody>
      </p:sp>
      <p:sp>
        <p:nvSpPr>
          <p:cNvPr id="196" name="Google Shape;196;p24"/>
          <p:cNvSpPr/>
          <p:nvPr/>
        </p:nvSpPr>
        <p:spPr>
          <a:xfrm>
            <a:off x="4655350" y="2513227"/>
            <a:ext cx="4179000" cy="1052100"/>
          </a:xfrm>
          <a:prstGeom prst="roundRect">
            <a:avLst>
              <a:gd fmla="val 5714" name="adj"/>
            </a:avLst>
          </a:prstGeom>
          <a:solidFill>
            <a:srgbClr val="FFFFFF"/>
          </a:solidFill>
          <a:ln cap="flat" cmpd="sng" w="16450">
            <a:solidFill>
              <a:srgbClr val="DDE5EF"/>
            </a:solidFill>
            <a:prstDash val="solid"/>
            <a:round/>
            <a:headEnd len="sm" w="sm" type="none"/>
            <a:tailEnd len="sm" w="sm" type="none"/>
          </a:ln>
          <a:effectLst>
            <a:outerShdw blurRad="19737" rotWithShape="0" algn="bl" dir="2700000" dist="16448">
              <a:srgbClr val="000000">
                <a:alpha val="10196"/>
              </a:srgbClr>
            </a:outerShdw>
          </a:effectLst>
        </p:spPr>
        <p:txBody>
          <a:bodyPr anchorCtr="0" anchor="t" bIns="44400" lIns="88800" spcFirstLastPara="1" rIns="88800" wrap="square" tIns="44400">
            <a:noAutofit/>
          </a:bodyPr>
          <a:lstStyle/>
          <a:p>
            <a:pPr indent="0" lvl="0" marL="0" marR="0" rtl="0" algn="l">
              <a:spcBef>
                <a:spcPts val="0"/>
              </a:spcBef>
              <a:spcAft>
                <a:spcPts val="0"/>
              </a:spcAft>
              <a:buNone/>
            </a:pPr>
            <a:r>
              <a:t/>
            </a:r>
            <a:endParaRPr sz="2113">
              <a:solidFill>
                <a:schemeClr val="dk1"/>
              </a:solidFill>
              <a:latin typeface="Arial"/>
              <a:ea typeface="Arial"/>
              <a:cs typeface="Arial"/>
              <a:sym typeface="Arial"/>
            </a:endParaRPr>
          </a:p>
        </p:txBody>
      </p:sp>
      <p:sp>
        <p:nvSpPr>
          <p:cNvPr id="197" name="Google Shape;197;p24"/>
          <p:cNvSpPr/>
          <p:nvPr/>
        </p:nvSpPr>
        <p:spPr>
          <a:xfrm>
            <a:off x="4655350" y="2513227"/>
            <a:ext cx="87900" cy="1052100"/>
          </a:xfrm>
          <a:prstGeom prst="rect">
            <a:avLst/>
          </a:prstGeom>
          <a:solidFill>
            <a:srgbClr val="7C3AED"/>
          </a:solidFill>
          <a:ln cap="flat" cmpd="sng" w="16450">
            <a:solidFill>
              <a:srgbClr val="7C3AED"/>
            </a:solidFill>
            <a:prstDash val="solid"/>
            <a:round/>
            <a:headEnd len="sm" w="sm" type="none"/>
            <a:tailEnd len="sm" w="sm" type="none"/>
          </a:ln>
        </p:spPr>
        <p:txBody>
          <a:bodyPr anchorCtr="0" anchor="t" bIns="44400" lIns="88800" spcFirstLastPara="1" rIns="88800" wrap="square" tIns="44400">
            <a:noAutofit/>
          </a:bodyPr>
          <a:lstStyle/>
          <a:p>
            <a:pPr indent="0" lvl="0" marL="0" marR="0" rtl="0" algn="l">
              <a:spcBef>
                <a:spcPts val="0"/>
              </a:spcBef>
              <a:spcAft>
                <a:spcPts val="0"/>
              </a:spcAft>
              <a:buNone/>
            </a:pPr>
            <a:r>
              <a:t/>
            </a:r>
            <a:endParaRPr sz="2113">
              <a:solidFill>
                <a:schemeClr val="dk1"/>
              </a:solidFill>
              <a:latin typeface="Arial"/>
              <a:ea typeface="Arial"/>
              <a:cs typeface="Arial"/>
              <a:sym typeface="Arial"/>
            </a:endParaRPr>
          </a:p>
        </p:txBody>
      </p:sp>
      <p:sp>
        <p:nvSpPr>
          <p:cNvPr id="198" name="Google Shape;198;p24"/>
          <p:cNvSpPr/>
          <p:nvPr/>
        </p:nvSpPr>
        <p:spPr>
          <a:xfrm>
            <a:off x="4930287" y="2693553"/>
            <a:ext cx="3684300" cy="28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554"/>
              <a:buFont typeface="Arial"/>
              <a:buNone/>
            </a:pPr>
            <a:r>
              <a:rPr b="1" lang="en" sz="1854">
                <a:solidFill>
                  <a:srgbClr val="122033"/>
                </a:solidFill>
                <a:latin typeface="Arial"/>
                <a:ea typeface="Arial"/>
                <a:cs typeface="Arial"/>
                <a:sym typeface="Arial"/>
              </a:rPr>
              <a:t>Higher-dimensional space</a:t>
            </a:r>
            <a:endParaRPr sz="1854">
              <a:solidFill>
                <a:schemeClr val="dk1"/>
              </a:solidFill>
              <a:latin typeface="Arial"/>
              <a:ea typeface="Arial"/>
              <a:cs typeface="Arial"/>
              <a:sym typeface="Arial"/>
            </a:endParaRPr>
          </a:p>
        </p:txBody>
      </p:sp>
      <p:sp>
        <p:nvSpPr>
          <p:cNvPr id="199" name="Google Shape;199;p24"/>
          <p:cNvSpPr/>
          <p:nvPr/>
        </p:nvSpPr>
        <p:spPr>
          <a:xfrm>
            <a:off x="4930287" y="3094276"/>
            <a:ext cx="3684300" cy="3507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516071"/>
              </a:buClr>
              <a:buSzPts val="1295"/>
              <a:buFont typeface="Arial"/>
              <a:buNone/>
            </a:pPr>
            <a:r>
              <a:rPr lang="en" sz="1595">
                <a:solidFill>
                  <a:srgbClr val="516071"/>
                </a:solidFill>
                <a:latin typeface="Arial"/>
                <a:ea typeface="Arial"/>
                <a:cs typeface="Arial"/>
                <a:sym typeface="Arial"/>
              </a:rPr>
              <a:t>After transformation, a linear boundary can work.</a:t>
            </a:r>
            <a:endParaRPr sz="1595">
              <a:solidFill>
                <a:schemeClr val="dk1"/>
              </a:solidFill>
              <a:latin typeface="Arial"/>
              <a:ea typeface="Arial"/>
              <a:cs typeface="Arial"/>
              <a:sym typeface="Arial"/>
            </a:endParaRPr>
          </a:p>
        </p:txBody>
      </p:sp>
      <p:sp>
        <p:nvSpPr>
          <p:cNvPr id="200" name="Google Shape;200;p24"/>
          <p:cNvSpPr/>
          <p:nvPr/>
        </p:nvSpPr>
        <p:spPr>
          <a:xfrm>
            <a:off x="4655350" y="3805699"/>
            <a:ext cx="4179000" cy="1242600"/>
          </a:xfrm>
          <a:prstGeom prst="roundRect">
            <a:avLst>
              <a:gd fmla="val 5714" name="adj"/>
            </a:avLst>
          </a:prstGeom>
          <a:solidFill>
            <a:srgbClr val="FFFFFF"/>
          </a:solidFill>
          <a:ln cap="flat" cmpd="sng" w="16450">
            <a:solidFill>
              <a:srgbClr val="DDE5EF"/>
            </a:solidFill>
            <a:prstDash val="solid"/>
            <a:round/>
            <a:headEnd len="sm" w="sm" type="none"/>
            <a:tailEnd len="sm" w="sm" type="none"/>
          </a:ln>
          <a:effectLst>
            <a:outerShdw blurRad="19737" rotWithShape="0" algn="bl" dir="2700000" dist="16448">
              <a:srgbClr val="000000">
                <a:alpha val="10196"/>
              </a:srgbClr>
            </a:outerShdw>
          </a:effectLst>
        </p:spPr>
        <p:txBody>
          <a:bodyPr anchorCtr="0" anchor="t" bIns="44400" lIns="88800" spcFirstLastPara="1" rIns="88800" wrap="square" tIns="44400">
            <a:noAutofit/>
          </a:bodyPr>
          <a:lstStyle/>
          <a:p>
            <a:pPr indent="0" lvl="0" marL="0" marR="0" rtl="0" algn="l">
              <a:spcBef>
                <a:spcPts val="0"/>
              </a:spcBef>
              <a:spcAft>
                <a:spcPts val="0"/>
              </a:spcAft>
              <a:buNone/>
            </a:pPr>
            <a:r>
              <a:t/>
            </a:r>
            <a:endParaRPr sz="2113">
              <a:solidFill>
                <a:schemeClr val="dk1"/>
              </a:solidFill>
              <a:latin typeface="Arial"/>
              <a:ea typeface="Arial"/>
              <a:cs typeface="Arial"/>
              <a:sym typeface="Arial"/>
            </a:endParaRPr>
          </a:p>
        </p:txBody>
      </p:sp>
      <p:sp>
        <p:nvSpPr>
          <p:cNvPr id="201" name="Google Shape;201;p24"/>
          <p:cNvSpPr/>
          <p:nvPr/>
        </p:nvSpPr>
        <p:spPr>
          <a:xfrm>
            <a:off x="4655350" y="3805699"/>
            <a:ext cx="87900" cy="1242600"/>
          </a:xfrm>
          <a:prstGeom prst="rect">
            <a:avLst/>
          </a:prstGeom>
          <a:solidFill>
            <a:srgbClr val="079A99"/>
          </a:solidFill>
          <a:ln cap="flat" cmpd="sng" w="16450">
            <a:solidFill>
              <a:srgbClr val="079A99"/>
            </a:solidFill>
            <a:prstDash val="solid"/>
            <a:round/>
            <a:headEnd len="sm" w="sm" type="none"/>
            <a:tailEnd len="sm" w="sm" type="none"/>
          </a:ln>
        </p:spPr>
        <p:txBody>
          <a:bodyPr anchorCtr="0" anchor="t" bIns="44400" lIns="88800" spcFirstLastPara="1" rIns="88800" wrap="square" tIns="44400">
            <a:noAutofit/>
          </a:bodyPr>
          <a:lstStyle/>
          <a:p>
            <a:pPr indent="0" lvl="0" marL="0" marR="0" rtl="0" algn="l">
              <a:spcBef>
                <a:spcPts val="0"/>
              </a:spcBef>
              <a:spcAft>
                <a:spcPts val="0"/>
              </a:spcAft>
              <a:buNone/>
            </a:pPr>
            <a:r>
              <a:t/>
            </a:r>
            <a:endParaRPr sz="2113">
              <a:solidFill>
                <a:schemeClr val="dk1"/>
              </a:solidFill>
              <a:latin typeface="Arial"/>
              <a:ea typeface="Arial"/>
              <a:cs typeface="Arial"/>
              <a:sym typeface="Arial"/>
            </a:endParaRPr>
          </a:p>
        </p:txBody>
      </p:sp>
      <p:sp>
        <p:nvSpPr>
          <p:cNvPr id="202" name="Google Shape;202;p24"/>
          <p:cNvSpPr/>
          <p:nvPr/>
        </p:nvSpPr>
        <p:spPr>
          <a:xfrm>
            <a:off x="4926525" y="3863015"/>
            <a:ext cx="3684300" cy="33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554"/>
              <a:buFont typeface="Arial"/>
              <a:buNone/>
            </a:pPr>
            <a:r>
              <a:rPr b="1" lang="en" sz="1854">
                <a:solidFill>
                  <a:srgbClr val="122033"/>
                </a:solidFill>
                <a:latin typeface="Arial"/>
                <a:ea typeface="Arial"/>
                <a:cs typeface="Arial"/>
                <a:sym typeface="Arial"/>
              </a:rPr>
              <a:t>Kernel trick</a:t>
            </a:r>
            <a:endParaRPr sz="1854">
              <a:solidFill>
                <a:schemeClr val="dk1"/>
              </a:solidFill>
              <a:latin typeface="Arial"/>
              <a:ea typeface="Arial"/>
              <a:cs typeface="Arial"/>
              <a:sym typeface="Arial"/>
            </a:endParaRPr>
          </a:p>
        </p:txBody>
      </p:sp>
      <p:sp>
        <p:nvSpPr>
          <p:cNvPr id="203" name="Google Shape;203;p24"/>
          <p:cNvSpPr/>
          <p:nvPr/>
        </p:nvSpPr>
        <p:spPr>
          <a:xfrm>
            <a:off x="4930275" y="4266425"/>
            <a:ext cx="3813600" cy="5565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516071"/>
              </a:buClr>
              <a:buSzPts val="1295"/>
              <a:buFont typeface="Arial"/>
              <a:buNone/>
            </a:pPr>
            <a:r>
              <a:rPr lang="en" sz="1595">
                <a:solidFill>
                  <a:srgbClr val="516071"/>
                </a:solidFill>
                <a:latin typeface="Arial"/>
                <a:ea typeface="Arial"/>
                <a:cs typeface="Arial"/>
                <a:sym typeface="Arial"/>
              </a:rPr>
              <a:t>The model can use this idea without explicitly building every transformed feature.</a:t>
            </a:r>
            <a:endParaRPr sz="1595">
              <a:solidFill>
                <a:schemeClr val="dk1"/>
              </a:solidFill>
              <a:latin typeface="Arial"/>
              <a:ea typeface="Arial"/>
              <a:cs typeface="Arial"/>
              <a:sym typeface="Arial"/>
            </a:endParaRPr>
          </a:p>
        </p:txBody>
      </p:sp>
      <p:pic>
        <p:nvPicPr>
          <p:cNvPr id="204" name="Google Shape;204;p24"/>
          <p:cNvPicPr preferRelativeResize="0"/>
          <p:nvPr/>
        </p:nvPicPr>
        <p:blipFill>
          <a:blip r:embed="rId3">
            <a:alphaModFix/>
          </a:blip>
          <a:stretch>
            <a:fillRect/>
          </a:stretch>
        </p:blipFill>
        <p:spPr>
          <a:xfrm>
            <a:off x="176250" y="1591087"/>
            <a:ext cx="4250176" cy="2378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09" name="Shape 209"/>
        <p:cNvGrpSpPr/>
        <p:nvPr/>
      </p:nvGrpSpPr>
      <p:grpSpPr>
        <a:xfrm>
          <a:off x="0" y="0"/>
          <a:ext cx="0" cy="0"/>
          <a:chOff x="0" y="0"/>
          <a:chExt cx="0" cy="0"/>
        </a:xfrm>
      </p:grpSpPr>
      <p:sp>
        <p:nvSpPr>
          <p:cNvPr id="210" name="Google Shape;210;p25"/>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11" name="Google Shape;211;p25"/>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2D6CDF"/>
              </a:buClr>
              <a:buSzPts val="700"/>
              <a:buFont typeface="Arial"/>
              <a:buNone/>
            </a:pPr>
            <a:r>
              <a:rPr b="1" lang="en" sz="700">
                <a:solidFill>
                  <a:srgbClr val="2D6CDF"/>
                </a:solidFill>
              </a:rPr>
              <a:t>HYPERPARAMETER</a:t>
            </a:r>
            <a:endParaRPr b="1" sz="700">
              <a:solidFill>
                <a:srgbClr val="2D6CDF"/>
              </a:solidFill>
            </a:endParaRPr>
          </a:p>
        </p:txBody>
      </p:sp>
      <p:sp>
        <p:nvSpPr>
          <p:cNvPr id="212" name="Google Shape;212;p25"/>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C controls hard vs. soft margins</a:t>
            </a:r>
            <a:endParaRPr sz="2300">
              <a:solidFill>
                <a:schemeClr val="dk1"/>
              </a:solidFill>
              <a:latin typeface="Arial"/>
              <a:ea typeface="Arial"/>
              <a:cs typeface="Arial"/>
              <a:sym typeface="Arial"/>
            </a:endParaRPr>
          </a:p>
        </p:txBody>
      </p:sp>
      <p:sp>
        <p:nvSpPr>
          <p:cNvPr id="213" name="Google Shape;213;p25"/>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C changes how strongly the SVM tries to avoid training mistakes.</a:t>
            </a:r>
            <a:endParaRPr sz="1100">
              <a:solidFill>
                <a:schemeClr val="dk1"/>
              </a:solidFill>
              <a:latin typeface="Arial"/>
              <a:ea typeface="Arial"/>
              <a:cs typeface="Arial"/>
              <a:sym typeface="Arial"/>
            </a:endParaRPr>
          </a:p>
        </p:txBody>
      </p:sp>
      <p:sp>
        <p:nvSpPr>
          <p:cNvPr id="214" name="Google Shape;214;p25"/>
          <p:cNvSpPr/>
          <p:nvPr/>
        </p:nvSpPr>
        <p:spPr>
          <a:xfrm>
            <a:off x="425196" y="1062990"/>
            <a:ext cx="4560570" cy="3154680"/>
          </a:xfrm>
          <a:prstGeom prst="roundRect">
            <a:avLst>
              <a:gd fmla="val 1304"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215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15" name="Google Shape;215;p25"/>
          <p:cNvSpPr/>
          <p:nvPr/>
        </p:nvSpPr>
        <p:spPr>
          <a:xfrm>
            <a:off x="5294375" y="1200150"/>
            <a:ext cx="3587700" cy="829800"/>
          </a:xfrm>
          <a:prstGeom prst="roundRect">
            <a:avLst>
              <a:gd fmla="val 545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216" name="Google Shape;216;p25"/>
          <p:cNvSpPr/>
          <p:nvPr/>
        </p:nvSpPr>
        <p:spPr>
          <a:xfrm>
            <a:off x="5294375" y="1200150"/>
            <a:ext cx="61800" cy="829800"/>
          </a:xfrm>
          <a:prstGeom prst="rect">
            <a:avLst/>
          </a:prstGeom>
          <a:solidFill>
            <a:srgbClr val="D94D4D"/>
          </a:solidFill>
          <a:ln cap="flat" cmpd="sng" w="12700">
            <a:solidFill>
              <a:srgbClr val="D94D4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217" name="Google Shape;217;p25"/>
          <p:cNvSpPr/>
          <p:nvPr/>
        </p:nvSpPr>
        <p:spPr>
          <a:xfrm>
            <a:off x="5487262" y="1335933"/>
            <a:ext cx="3240600" cy="2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highlight>
                  <a:srgbClr val="FFFF00"/>
                </a:highlight>
                <a:latin typeface="Arial"/>
                <a:ea typeface="Arial"/>
                <a:cs typeface="Arial"/>
                <a:sym typeface="Arial"/>
              </a:rPr>
              <a:t>Large C</a:t>
            </a:r>
            <a:endParaRPr sz="1500">
              <a:solidFill>
                <a:schemeClr val="dk1"/>
              </a:solidFill>
              <a:highlight>
                <a:srgbClr val="FFFF00"/>
              </a:highlight>
              <a:latin typeface="Arial"/>
              <a:ea typeface="Arial"/>
              <a:cs typeface="Arial"/>
              <a:sym typeface="Arial"/>
            </a:endParaRPr>
          </a:p>
        </p:txBody>
      </p:sp>
      <p:sp>
        <p:nvSpPr>
          <p:cNvPr id="218" name="Google Shape;218;p25"/>
          <p:cNvSpPr/>
          <p:nvPr/>
        </p:nvSpPr>
        <p:spPr>
          <a:xfrm>
            <a:off x="5487262" y="1637672"/>
            <a:ext cx="3240600" cy="3015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300">
                <a:solidFill>
                  <a:srgbClr val="516071"/>
                </a:solidFill>
                <a:latin typeface="Arial"/>
                <a:ea typeface="Arial"/>
                <a:cs typeface="Arial"/>
                <a:sym typeface="Arial"/>
              </a:rPr>
              <a:t>A harder margin. The model tries harder to classify training points correctly.</a:t>
            </a:r>
            <a:endParaRPr sz="1300">
              <a:solidFill>
                <a:schemeClr val="dk1"/>
              </a:solidFill>
              <a:latin typeface="Arial"/>
              <a:ea typeface="Arial"/>
              <a:cs typeface="Arial"/>
              <a:sym typeface="Arial"/>
            </a:endParaRPr>
          </a:p>
        </p:txBody>
      </p:sp>
      <p:sp>
        <p:nvSpPr>
          <p:cNvPr id="219" name="Google Shape;219;p25"/>
          <p:cNvSpPr/>
          <p:nvPr/>
        </p:nvSpPr>
        <p:spPr>
          <a:xfrm>
            <a:off x="5294375" y="2293955"/>
            <a:ext cx="3587700" cy="829800"/>
          </a:xfrm>
          <a:prstGeom prst="roundRect">
            <a:avLst>
              <a:gd fmla="val 545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220" name="Google Shape;220;p25"/>
          <p:cNvSpPr/>
          <p:nvPr/>
        </p:nvSpPr>
        <p:spPr>
          <a:xfrm>
            <a:off x="5294375" y="2293955"/>
            <a:ext cx="61800" cy="829800"/>
          </a:xfrm>
          <a:prstGeom prst="rect">
            <a:avLst/>
          </a:prstGeom>
          <a:solidFill>
            <a:srgbClr val="169B62"/>
          </a:solidFill>
          <a:ln cap="flat" cmpd="sng" w="12700">
            <a:solidFill>
              <a:srgbClr val="169B6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221" name="Google Shape;221;p25"/>
          <p:cNvSpPr/>
          <p:nvPr/>
        </p:nvSpPr>
        <p:spPr>
          <a:xfrm>
            <a:off x="5487262" y="2429738"/>
            <a:ext cx="3240600" cy="2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highlight>
                  <a:srgbClr val="FFFF00"/>
                </a:highlight>
                <a:latin typeface="Arial"/>
                <a:ea typeface="Arial"/>
                <a:cs typeface="Arial"/>
                <a:sym typeface="Arial"/>
              </a:rPr>
              <a:t>Small C</a:t>
            </a:r>
            <a:endParaRPr sz="1500">
              <a:solidFill>
                <a:schemeClr val="dk1"/>
              </a:solidFill>
              <a:highlight>
                <a:srgbClr val="FFFF00"/>
              </a:highlight>
              <a:latin typeface="Arial"/>
              <a:ea typeface="Arial"/>
              <a:cs typeface="Arial"/>
              <a:sym typeface="Arial"/>
            </a:endParaRPr>
          </a:p>
        </p:txBody>
      </p:sp>
      <p:sp>
        <p:nvSpPr>
          <p:cNvPr id="222" name="Google Shape;222;p25"/>
          <p:cNvSpPr/>
          <p:nvPr/>
        </p:nvSpPr>
        <p:spPr>
          <a:xfrm>
            <a:off x="5487262" y="2731477"/>
            <a:ext cx="3240600" cy="3015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300">
                <a:solidFill>
                  <a:srgbClr val="516071"/>
                </a:solidFill>
                <a:latin typeface="Arial"/>
                <a:ea typeface="Arial"/>
                <a:cs typeface="Arial"/>
                <a:sym typeface="Arial"/>
              </a:rPr>
              <a:t>A softer margin. The model tolerates some mistakes to get a more robust boundary.</a:t>
            </a:r>
            <a:endParaRPr sz="1300">
              <a:solidFill>
                <a:schemeClr val="dk1"/>
              </a:solidFill>
              <a:latin typeface="Arial"/>
              <a:ea typeface="Arial"/>
              <a:cs typeface="Arial"/>
              <a:sym typeface="Arial"/>
            </a:endParaRPr>
          </a:p>
        </p:txBody>
      </p:sp>
      <p:sp>
        <p:nvSpPr>
          <p:cNvPr id="223" name="Google Shape;223;p25"/>
          <p:cNvSpPr/>
          <p:nvPr/>
        </p:nvSpPr>
        <p:spPr>
          <a:xfrm>
            <a:off x="5294375" y="3387760"/>
            <a:ext cx="3587700" cy="829800"/>
          </a:xfrm>
          <a:prstGeom prst="roundRect">
            <a:avLst>
              <a:gd fmla="val 545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224" name="Google Shape;224;p25"/>
          <p:cNvSpPr/>
          <p:nvPr/>
        </p:nvSpPr>
        <p:spPr>
          <a:xfrm>
            <a:off x="5294375" y="3387760"/>
            <a:ext cx="61800" cy="829800"/>
          </a:xfrm>
          <a:prstGeom prst="rect">
            <a:avLst/>
          </a:prstGeom>
          <a:solidFill>
            <a:srgbClr val="F59E0B"/>
          </a:solidFill>
          <a:ln cap="flat" cmpd="sng" w="12700">
            <a:solidFill>
              <a:srgbClr val="F59E0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225" name="Google Shape;225;p25"/>
          <p:cNvSpPr/>
          <p:nvPr/>
        </p:nvSpPr>
        <p:spPr>
          <a:xfrm>
            <a:off x="5487262" y="3523543"/>
            <a:ext cx="3240600" cy="2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latin typeface="Arial"/>
                <a:ea typeface="Arial"/>
                <a:cs typeface="Arial"/>
                <a:sym typeface="Arial"/>
              </a:rPr>
              <a:t>When data are noisy</a:t>
            </a:r>
            <a:endParaRPr sz="1500">
              <a:solidFill>
                <a:schemeClr val="dk1"/>
              </a:solidFill>
              <a:latin typeface="Arial"/>
              <a:ea typeface="Arial"/>
              <a:cs typeface="Arial"/>
              <a:sym typeface="Arial"/>
            </a:endParaRPr>
          </a:p>
        </p:txBody>
      </p:sp>
      <p:sp>
        <p:nvSpPr>
          <p:cNvPr id="226" name="Google Shape;226;p25"/>
          <p:cNvSpPr/>
          <p:nvPr/>
        </p:nvSpPr>
        <p:spPr>
          <a:xfrm>
            <a:off x="5487262" y="3825282"/>
            <a:ext cx="3240600" cy="3015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300">
                <a:solidFill>
                  <a:srgbClr val="516071"/>
                </a:solidFill>
                <a:latin typeface="Arial"/>
                <a:ea typeface="Arial"/>
                <a:cs typeface="Arial"/>
                <a:sym typeface="Arial"/>
              </a:rPr>
              <a:t>A softer margin often generalizes better than forcing a perfect boundary.</a:t>
            </a:r>
            <a:endParaRPr sz="1300">
              <a:solidFill>
                <a:schemeClr val="dk1"/>
              </a:solidFill>
              <a:latin typeface="Arial"/>
              <a:ea typeface="Arial"/>
              <a:cs typeface="Arial"/>
              <a:sym typeface="Arial"/>
            </a:endParaRPr>
          </a:p>
        </p:txBody>
      </p:sp>
      <p:pic>
        <p:nvPicPr>
          <p:cNvPr id="227" name="Google Shape;227;p25"/>
          <p:cNvPicPr preferRelativeResize="0"/>
          <p:nvPr/>
        </p:nvPicPr>
        <p:blipFill>
          <a:blip r:embed="rId3">
            <a:alphaModFix/>
          </a:blip>
          <a:stretch>
            <a:fillRect/>
          </a:stretch>
        </p:blipFill>
        <p:spPr>
          <a:xfrm>
            <a:off x="608087" y="1242575"/>
            <a:ext cx="4194799" cy="279553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32" name="Shape 232"/>
        <p:cNvGrpSpPr/>
        <p:nvPr/>
      </p:nvGrpSpPr>
      <p:grpSpPr>
        <a:xfrm>
          <a:off x="0" y="0"/>
          <a:ext cx="0" cy="0"/>
          <a:chOff x="0" y="0"/>
          <a:chExt cx="0" cy="0"/>
        </a:xfrm>
      </p:grpSpPr>
      <p:sp>
        <p:nvSpPr>
          <p:cNvPr id="233" name="Google Shape;233;p26"/>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34" name="Google Shape;234;p26"/>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ALGORITHM - Decision Tree</a:t>
            </a:r>
            <a:endParaRPr sz="700">
              <a:solidFill>
                <a:schemeClr val="dk1"/>
              </a:solidFill>
              <a:latin typeface="Arial"/>
              <a:ea typeface="Arial"/>
              <a:cs typeface="Arial"/>
              <a:sym typeface="Arial"/>
            </a:endParaRPr>
          </a:p>
        </p:txBody>
      </p:sp>
      <p:sp>
        <p:nvSpPr>
          <p:cNvPr id="235" name="Google Shape;235;p26"/>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Decision trees are readable rules</a:t>
            </a:r>
            <a:endParaRPr sz="2300">
              <a:solidFill>
                <a:schemeClr val="dk1"/>
              </a:solidFill>
              <a:latin typeface="Arial"/>
              <a:ea typeface="Arial"/>
              <a:cs typeface="Arial"/>
              <a:sym typeface="Arial"/>
            </a:endParaRPr>
          </a:p>
        </p:txBody>
      </p:sp>
      <p:sp>
        <p:nvSpPr>
          <p:cNvPr id="236" name="Google Shape;236;p26"/>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A tree repeatedly splits data using if–then statements.</a:t>
            </a:r>
            <a:endParaRPr sz="1100">
              <a:solidFill>
                <a:schemeClr val="dk1"/>
              </a:solidFill>
              <a:latin typeface="Arial"/>
              <a:ea typeface="Arial"/>
              <a:cs typeface="Arial"/>
              <a:sym typeface="Arial"/>
            </a:endParaRPr>
          </a:p>
        </p:txBody>
      </p:sp>
      <p:sp>
        <p:nvSpPr>
          <p:cNvPr id="237" name="Google Shape;237;p26"/>
          <p:cNvSpPr/>
          <p:nvPr/>
        </p:nvSpPr>
        <p:spPr>
          <a:xfrm>
            <a:off x="4776101" y="1063000"/>
            <a:ext cx="4178100" cy="3388500"/>
          </a:xfrm>
          <a:prstGeom prst="roundRect">
            <a:avLst>
              <a:gd fmla="val 1579"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215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38" name="Google Shape;238;p26"/>
          <p:cNvSpPr/>
          <p:nvPr/>
        </p:nvSpPr>
        <p:spPr>
          <a:xfrm>
            <a:off x="534924" y="1200150"/>
            <a:ext cx="4560570" cy="1440180"/>
          </a:xfrm>
          <a:prstGeom prst="rect">
            <a:avLst/>
          </a:prstGeom>
          <a:noFill/>
          <a:ln>
            <a:noFill/>
          </a:ln>
        </p:spPr>
        <p:txBody>
          <a:bodyPr anchorCtr="0" anchor="ctr" bIns="575" lIns="575" spcFirstLastPara="1" rIns="575" wrap="square" tIns="575">
            <a:noAutofit/>
          </a:bodyPr>
          <a:lstStyle/>
          <a:p>
            <a:pPr indent="0" lvl="0" marL="0" marR="0" rtl="0" algn="l">
              <a:spcBef>
                <a:spcPts val="0"/>
              </a:spcBef>
              <a:spcAft>
                <a:spcPts val="0"/>
              </a:spcAft>
              <a:buNone/>
            </a:pPr>
            <a:r>
              <a:rPr lang="en" sz="1400">
                <a:solidFill>
                  <a:srgbClr val="122033"/>
                </a:solidFill>
                <a:latin typeface="Arial"/>
                <a:ea typeface="Arial"/>
                <a:cs typeface="Arial"/>
                <a:sym typeface="Arial"/>
              </a:rPr>
              <a:t>Each node asks a rule about one feature.</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 sz="1400">
                <a:solidFill>
                  <a:srgbClr val="122033"/>
                </a:solidFill>
                <a:latin typeface="Arial"/>
                <a:ea typeface="Arial"/>
                <a:cs typeface="Arial"/>
                <a:sym typeface="Arial"/>
              </a:rPr>
              <a:t>Each split creates axis-aligned decision boundaries.</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 sz="1400">
                <a:solidFill>
                  <a:srgbClr val="122033"/>
                </a:solidFill>
                <a:latin typeface="Arial"/>
                <a:ea typeface="Arial"/>
                <a:cs typeface="Arial"/>
                <a:sym typeface="Arial"/>
              </a:rPr>
              <a:t>The tree chooses splits that reduce impurity.</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 sz="1400">
                <a:solidFill>
                  <a:srgbClr val="122033"/>
                </a:solidFill>
                <a:latin typeface="Arial"/>
                <a:ea typeface="Arial"/>
                <a:cs typeface="Arial"/>
                <a:sym typeface="Arial"/>
              </a:rPr>
              <a:t>More depth means more flexible rules and more overfitting risk.</a:t>
            </a:r>
            <a:endParaRPr sz="1400">
              <a:solidFill>
                <a:schemeClr val="dk1"/>
              </a:solidFill>
              <a:latin typeface="Arial"/>
              <a:ea typeface="Arial"/>
              <a:cs typeface="Arial"/>
              <a:sym typeface="Arial"/>
            </a:endParaRPr>
          </a:p>
        </p:txBody>
      </p:sp>
      <p:sp>
        <p:nvSpPr>
          <p:cNvPr id="239" name="Google Shape;239;p26"/>
          <p:cNvSpPr/>
          <p:nvPr/>
        </p:nvSpPr>
        <p:spPr>
          <a:xfrm>
            <a:off x="1028700" y="2914650"/>
            <a:ext cx="1440180" cy="377190"/>
          </a:xfrm>
          <a:prstGeom prst="roundRect">
            <a:avLst>
              <a:gd fmla="val 10909" name="adj"/>
            </a:avLst>
          </a:prstGeom>
          <a:solidFill>
            <a:srgbClr val="D9E8F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40" name="Google Shape;240;p26"/>
          <p:cNvSpPr/>
          <p:nvPr/>
        </p:nvSpPr>
        <p:spPr>
          <a:xfrm>
            <a:off x="1083575" y="2981601"/>
            <a:ext cx="1297800" cy="28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6CDF"/>
              </a:buClr>
              <a:buSzPts val="1000"/>
              <a:buFont typeface="Arial"/>
              <a:buNone/>
            </a:pPr>
            <a:r>
              <a:rPr b="1" lang="en" sz="1000">
                <a:solidFill>
                  <a:srgbClr val="2D6CDF"/>
                </a:solidFill>
                <a:latin typeface="Arial"/>
                <a:ea typeface="Arial"/>
                <a:cs typeface="Arial"/>
                <a:sym typeface="Arial"/>
              </a:rPr>
              <a:t>Feature ≤ threshold?</a:t>
            </a:r>
            <a:endParaRPr sz="1000">
              <a:solidFill>
                <a:schemeClr val="dk1"/>
              </a:solidFill>
              <a:latin typeface="Arial"/>
              <a:ea typeface="Arial"/>
              <a:cs typeface="Arial"/>
              <a:sym typeface="Arial"/>
            </a:endParaRPr>
          </a:p>
        </p:txBody>
      </p:sp>
      <p:cxnSp>
        <p:nvCxnSpPr>
          <p:cNvPr id="241" name="Google Shape;241;p26"/>
          <p:cNvCxnSpPr/>
          <p:nvPr/>
        </p:nvCxnSpPr>
        <p:spPr>
          <a:xfrm flipH="1">
            <a:off x="1083519" y="3305526"/>
            <a:ext cx="665400" cy="314100"/>
          </a:xfrm>
          <a:prstGeom prst="straightConnector1">
            <a:avLst/>
          </a:prstGeom>
          <a:noFill/>
          <a:ln cap="flat" cmpd="sng" w="25400">
            <a:solidFill>
              <a:srgbClr val="D7DEE8"/>
            </a:solidFill>
            <a:prstDash val="solid"/>
            <a:round/>
            <a:headEnd len="sm" w="sm" type="none"/>
            <a:tailEnd len="sm" w="sm" type="none"/>
          </a:ln>
        </p:spPr>
      </p:cxnSp>
      <p:cxnSp>
        <p:nvCxnSpPr>
          <p:cNvPr id="242" name="Google Shape;242;p26"/>
          <p:cNvCxnSpPr/>
          <p:nvPr/>
        </p:nvCxnSpPr>
        <p:spPr>
          <a:xfrm>
            <a:off x="1748790" y="3305556"/>
            <a:ext cx="754380" cy="377190"/>
          </a:xfrm>
          <a:prstGeom prst="straightConnector1">
            <a:avLst/>
          </a:prstGeom>
          <a:noFill/>
          <a:ln cap="flat" cmpd="sng" w="25400">
            <a:solidFill>
              <a:srgbClr val="D7DEE8"/>
            </a:solidFill>
            <a:prstDash val="solid"/>
            <a:round/>
            <a:headEnd len="sm" w="sm" type="none"/>
            <a:tailEnd len="sm" w="sm" type="none"/>
          </a:ln>
        </p:spPr>
      </p:cxnSp>
      <p:sp>
        <p:nvSpPr>
          <p:cNvPr id="243" name="Google Shape;243;p26"/>
          <p:cNvSpPr/>
          <p:nvPr/>
        </p:nvSpPr>
        <p:spPr>
          <a:xfrm>
            <a:off x="534924" y="3717036"/>
            <a:ext cx="1062990" cy="260604"/>
          </a:xfrm>
          <a:prstGeom prst="roundRect">
            <a:avLst>
              <a:gd fmla="val 21053" name="adj"/>
            </a:avLst>
          </a:prstGeom>
          <a:solidFill>
            <a:srgbClr val="D7F2F1"/>
          </a:solidFill>
          <a:ln cap="flat" cmpd="sng" w="12700">
            <a:solidFill>
              <a:srgbClr val="D7F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44" name="Google Shape;244;p26"/>
          <p:cNvSpPr/>
          <p:nvPr/>
        </p:nvSpPr>
        <p:spPr>
          <a:xfrm>
            <a:off x="569214" y="3751326"/>
            <a:ext cx="994410" cy="192024"/>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079A99"/>
              </a:buClr>
              <a:buSzPts val="1000"/>
              <a:buFont typeface="Arial"/>
              <a:buNone/>
            </a:pPr>
            <a:r>
              <a:rPr b="1" lang="en" sz="1000">
                <a:solidFill>
                  <a:srgbClr val="079A99"/>
                </a:solidFill>
                <a:latin typeface="Arial"/>
                <a:ea typeface="Arial"/>
                <a:cs typeface="Arial"/>
                <a:sym typeface="Arial"/>
              </a:rPr>
              <a:t>left branch</a:t>
            </a:r>
            <a:endParaRPr sz="1000">
              <a:solidFill>
                <a:schemeClr val="dk1"/>
              </a:solidFill>
              <a:latin typeface="Arial"/>
              <a:ea typeface="Arial"/>
              <a:cs typeface="Arial"/>
              <a:sym typeface="Arial"/>
            </a:endParaRPr>
          </a:p>
        </p:txBody>
      </p:sp>
      <p:sp>
        <p:nvSpPr>
          <p:cNvPr id="245" name="Google Shape;245;p26"/>
          <p:cNvSpPr/>
          <p:nvPr/>
        </p:nvSpPr>
        <p:spPr>
          <a:xfrm>
            <a:off x="2160270" y="3717036"/>
            <a:ext cx="1131570" cy="260604"/>
          </a:xfrm>
          <a:prstGeom prst="roundRect">
            <a:avLst>
              <a:gd fmla="val 21053" name="adj"/>
            </a:avLst>
          </a:prstGeom>
          <a:solidFill>
            <a:srgbClr val="FCECCB"/>
          </a:solidFill>
          <a:ln cap="flat" cmpd="sng" w="12700">
            <a:solidFill>
              <a:srgbClr val="FCECC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46" name="Google Shape;246;p26"/>
          <p:cNvSpPr/>
          <p:nvPr/>
        </p:nvSpPr>
        <p:spPr>
          <a:xfrm>
            <a:off x="2194560" y="3751326"/>
            <a:ext cx="1062990" cy="192024"/>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59E0B"/>
              </a:buClr>
              <a:buSzPts val="1000"/>
              <a:buFont typeface="Arial"/>
              <a:buNone/>
            </a:pPr>
            <a:r>
              <a:rPr b="1" lang="en" sz="1000">
                <a:solidFill>
                  <a:srgbClr val="F59E0B"/>
                </a:solidFill>
                <a:latin typeface="Arial"/>
                <a:ea typeface="Arial"/>
                <a:cs typeface="Arial"/>
                <a:sym typeface="Arial"/>
              </a:rPr>
              <a:t>right branch</a:t>
            </a:r>
            <a:endParaRPr sz="1000">
              <a:solidFill>
                <a:schemeClr val="dk1"/>
              </a:solidFill>
              <a:latin typeface="Arial"/>
              <a:ea typeface="Arial"/>
              <a:cs typeface="Arial"/>
              <a:sym typeface="Arial"/>
            </a:endParaRPr>
          </a:p>
        </p:txBody>
      </p:sp>
      <p:pic>
        <p:nvPicPr>
          <p:cNvPr descr="Interpretable AI: Decision Trees. In my previous posts, I addressed… | by  Shruti Misra | Medium" id="247" name="Google Shape;247;p26"/>
          <p:cNvPicPr preferRelativeResize="0"/>
          <p:nvPr/>
        </p:nvPicPr>
        <p:blipFill>
          <a:blip r:embed="rId3">
            <a:alphaModFix/>
          </a:blip>
          <a:stretch>
            <a:fillRect/>
          </a:stretch>
        </p:blipFill>
        <p:spPr>
          <a:xfrm>
            <a:off x="4874638" y="1505512"/>
            <a:ext cx="3981026" cy="2503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52" name="Shape 252"/>
        <p:cNvGrpSpPr/>
        <p:nvPr/>
      </p:nvGrpSpPr>
      <p:grpSpPr>
        <a:xfrm>
          <a:off x="0" y="0"/>
          <a:ext cx="0" cy="0"/>
          <a:chOff x="0" y="0"/>
          <a:chExt cx="0" cy="0"/>
        </a:xfrm>
      </p:grpSpPr>
      <p:sp>
        <p:nvSpPr>
          <p:cNvPr id="253" name="Google Shape;253;p27"/>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54" name="Google Shape;254;p27"/>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IMBALANCED DATA</a:t>
            </a:r>
            <a:endParaRPr sz="700">
              <a:solidFill>
                <a:schemeClr val="dk1"/>
              </a:solidFill>
              <a:latin typeface="Arial"/>
              <a:ea typeface="Arial"/>
              <a:cs typeface="Arial"/>
              <a:sym typeface="Arial"/>
            </a:endParaRPr>
          </a:p>
        </p:txBody>
      </p:sp>
      <p:sp>
        <p:nvSpPr>
          <p:cNvPr id="255" name="Google Shape;255;p27"/>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Accuracy can mislead</a:t>
            </a:r>
            <a:endParaRPr sz="2300">
              <a:solidFill>
                <a:schemeClr val="dk1"/>
              </a:solidFill>
              <a:latin typeface="Arial"/>
              <a:ea typeface="Arial"/>
              <a:cs typeface="Arial"/>
              <a:sym typeface="Arial"/>
            </a:endParaRPr>
          </a:p>
        </p:txBody>
      </p:sp>
      <p:sp>
        <p:nvSpPr>
          <p:cNvPr id="256" name="Google Shape;256;p27"/>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When one class is rare, a high overall accuracy can hide failure on the class we care about.</a:t>
            </a:r>
            <a:endParaRPr sz="1100">
              <a:solidFill>
                <a:schemeClr val="dk1"/>
              </a:solidFill>
              <a:latin typeface="Arial"/>
              <a:ea typeface="Arial"/>
              <a:cs typeface="Arial"/>
              <a:sym typeface="Arial"/>
            </a:endParaRPr>
          </a:p>
        </p:txBody>
      </p:sp>
      <p:sp>
        <p:nvSpPr>
          <p:cNvPr id="257" name="Google Shape;257;p27"/>
          <p:cNvSpPr/>
          <p:nvPr/>
        </p:nvSpPr>
        <p:spPr>
          <a:xfrm>
            <a:off x="419744" y="1529433"/>
            <a:ext cx="122100" cy="122100"/>
          </a:xfrm>
          <a:prstGeom prst="ellipse">
            <a:avLst/>
          </a:prstGeom>
          <a:solidFill>
            <a:srgbClr val="D94D4D"/>
          </a:solidFill>
          <a:ln cap="flat" cmpd="sng" w="20525">
            <a:solidFill>
              <a:srgbClr val="D94D4D"/>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58" name="Google Shape;258;p27"/>
          <p:cNvSpPr/>
          <p:nvPr/>
        </p:nvSpPr>
        <p:spPr>
          <a:xfrm>
            <a:off x="697205" y="1529433"/>
            <a:ext cx="122100" cy="122100"/>
          </a:xfrm>
          <a:prstGeom prst="ellipse">
            <a:avLst/>
          </a:prstGeom>
          <a:solidFill>
            <a:srgbClr val="D94D4D"/>
          </a:solidFill>
          <a:ln cap="flat" cmpd="sng" w="20525">
            <a:solidFill>
              <a:srgbClr val="D94D4D"/>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59" name="Google Shape;259;p27"/>
          <p:cNvSpPr/>
          <p:nvPr/>
        </p:nvSpPr>
        <p:spPr>
          <a:xfrm>
            <a:off x="974666" y="1529433"/>
            <a:ext cx="122100" cy="122100"/>
          </a:xfrm>
          <a:prstGeom prst="ellipse">
            <a:avLst/>
          </a:prstGeom>
          <a:solidFill>
            <a:srgbClr val="D94D4D"/>
          </a:solidFill>
          <a:ln cap="flat" cmpd="sng" w="20525">
            <a:solidFill>
              <a:srgbClr val="D94D4D"/>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0" name="Google Shape;260;p27"/>
          <p:cNvSpPr/>
          <p:nvPr/>
        </p:nvSpPr>
        <p:spPr>
          <a:xfrm>
            <a:off x="1252127" y="1529433"/>
            <a:ext cx="122100" cy="122100"/>
          </a:xfrm>
          <a:prstGeom prst="ellipse">
            <a:avLst/>
          </a:prstGeom>
          <a:solidFill>
            <a:srgbClr val="D94D4D"/>
          </a:solidFill>
          <a:ln cap="flat" cmpd="sng" w="20525">
            <a:solidFill>
              <a:srgbClr val="D94D4D"/>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1" name="Google Shape;261;p27"/>
          <p:cNvSpPr/>
          <p:nvPr/>
        </p:nvSpPr>
        <p:spPr>
          <a:xfrm>
            <a:off x="1529588"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2" name="Google Shape;262;p27"/>
          <p:cNvSpPr/>
          <p:nvPr/>
        </p:nvSpPr>
        <p:spPr>
          <a:xfrm>
            <a:off x="1807049"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3" name="Google Shape;263;p27"/>
          <p:cNvSpPr/>
          <p:nvPr/>
        </p:nvSpPr>
        <p:spPr>
          <a:xfrm>
            <a:off x="2084510"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4" name="Google Shape;264;p27"/>
          <p:cNvSpPr/>
          <p:nvPr/>
        </p:nvSpPr>
        <p:spPr>
          <a:xfrm>
            <a:off x="2361971"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5" name="Google Shape;265;p27"/>
          <p:cNvSpPr/>
          <p:nvPr/>
        </p:nvSpPr>
        <p:spPr>
          <a:xfrm>
            <a:off x="2639432"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6" name="Google Shape;266;p27"/>
          <p:cNvSpPr/>
          <p:nvPr/>
        </p:nvSpPr>
        <p:spPr>
          <a:xfrm>
            <a:off x="2916893"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7" name="Google Shape;267;p27"/>
          <p:cNvSpPr/>
          <p:nvPr/>
        </p:nvSpPr>
        <p:spPr>
          <a:xfrm>
            <a:off x="3194354"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8" name="Google Shape;268;p27"/>
          <p:cNvSpPr/>
          <p:nvPr/>
        </p:nvSpPr>
        <p:spPr>
          <a:xfrm>
            <a:off x="3471815"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69" name="Google Shape;269;p27"/>
          <p:cNvSpPr/>
          <p:nvPr/>
        </p:nvSpPr>
        <p:spPr>
          <a:xfrm>
            <a:off x="3749276"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0" name="Google Shape;270;p27"/>
          <p:cNvSpPr/>
          <p:nvPr/>
        </p:nvSpPr>
        <p:spPr>
          <a:xfrm>
            <a:off x="4026737" y="1529433"/>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1" name="Google Shape;271;p27"/>
          <p:cNvSpPr/>
          <p:nvPr/>
        </p:nvSpPr>
        <p:spPr>
          <a:xfrm>
            <a:off x="419744"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2" name="Google Shape;272;p27"/>
          <p:cNvSpPr/>
          <p:nvPr/>
        </p:nvSpPr>
        <p:spPr>
          <a:xfrm>
            <a:off x="697205"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3" name="Google Shape;273;p27"/>
          <p:cNvSpPr/>
          <p:nvPr/>
        </p:nvSpPr>
        <p:spPr>
          <a:xfrm>
            <a:off x="974666"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4" name="Google Shape;274;p27"/>
          <p:cNvSpPr/>
          <p:nvPr/>
        </p:nvSpPr>
        <p:spPr>
          <a:xfrm>
            <a:off x="1252127"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5" name="Google Shape;275;p27"/>
          <p:cNvSpPr/>
          <p:nvPr/>
        </p:nvSpPr>
        <p:spPr>
          <a:xfrm>
            <a:off x="1529588"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6" name="Google Shape;276;p27"/>
          <p:cNvSpPr/>
          <p:nvPr/>
        </p:nvSpPr>
        <p:spPr>
          <a:xfrm>
            <a:off x="1807049"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7" name="Google Shape;277;p27"/>
          <p:cNvSpPr/>
          <p:nvPr/>
        </p:nvSpPr>
        <p:spPr>
          <a:xfrm>
            <a:off x="2084510"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8" name="Google Shape;278;p27"/>
          <p:cNvSpPr/>
          <p:nvPr/>
        </p:nvSpPr>
        <p:spPr>
          <a:xfrm>
            <a:off x="2361971"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79" name="Google Shape;279;p27"/>
          <p:cNvSpPr/>
          <p:nvPr/>
        </p:nvSpPr>
        <p:spPr>
          <a:xfrm>
            <a:off x="2639432"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0" name="Google Shape;280;p27"/>
          <p:cNvSpPr/>
          <p:nvPr/>
        </p:nvSpPr>
        <p:spPr>
          <a:xfrm>
            <a:off x="2916893"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1" name="Google Shape;281;p27"/>
          <p:cNvSpPr/>
          <p:nvPr/>
        </p:nvSpPr>
        <p:spPr>
          <a:xfrm>
            <a:off x="3194354"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2" name="Google Shape;282;p27"/>
          <p:cNvSpPr/>
          <p:nvPr/>
        </p:nvSpPr>
        <p:spPr>
          <a:xfrm>
            <a:off x="3471815"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3" name="Google Shape;283;p27"/>
          <p:cNvSpPr/>
          <p:nvPr/>
        </p:nvSpPr>
        <p:spPr>
          <a:xfrm>
            <a:off x="3749276"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4" name="Google Shape;284;p27"/>
          <p:cNvSpPr/>
          <p:nvPr/>
        </p:nvSpPr>
        <p:spPr>
          <a:xfrm>
            <a:off x="4026737" y="180688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5" name="Google Shape;285;p27"/>
          <p:cNvSpPr/>
          <p:nvPr/>
        </p:nvSpPr>
        <p:spPr>
          <a:xfrm>
            <a:off x="419744"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6" name="Google Shape;286;p27"/>
          <p:cNvSpPr/>
          <p:nvPr/>
        </p:nvSpPr>
        <p:spPr>
          <a:xfrm>
            <a:off x="697205"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7" name="Google Shape;287;p27"/>
          <p:cNvSpPr/>
          <p:nvPr/>
        </p:nvSpPr>
        <p:spPr>
          <a:xfrm>
            <a:off x="974666"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8" name="Google Shape;288;p27"/>
          <p:cNvSpPr/>
          <p:nvPr/>
        </p:nvSpPr>
        <p:spPr>
          <a:xfrm>
            <a:off x="1252127"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89" name="Google Shape;289;p27"/>
          <p:cNvSpPr/>
          <p:nvPr/>
        </p:nvSpPr>
        <p:spPr>
          <a:xfrm>
            <a:off x="1529588"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0" name="Google Shape;290;p27"/>
          <p:cNvSpPr/>
          <p:nvPr/>
        </p:nvSpPr>
        <p:spPr>
          <a:xfrm>
            <a:off x="1807049"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1" name="Google Shape;291;p27"/>
          <p:cNvSpPr/>
          <p:nvPr/>
        </p:nvSpPr>
        <p:spPr>
          <a:xfrm>
            <a:off x="2084510"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2" name="Google Shape;292;p27"/>
          <p:cNvSpPr/>
          <p:nvPr/>
        </p:nvSpPr>
        <p:spPr>
          <a:xfrm>
            <a:off x="2361971"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3" name="Google Shape;293;p27"/>
          <p:cNvSpPr/>
          <p:nvPr/>
        </p:nvSpPr>
        <p:spPr>
          <a:xfrm>
            <a:off x="2639432"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4" name="Google Shape;294;p27"/>
          <p:cNvSpPr/>
          <p:nvPr/>
        </p:nvSpPr>
        <p:spPr>
          <a:xfrm>
            <a:off x="2916893"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5" name="Google Shape;295;p27"/>
          <p:cNvSpPr/>
          <p:nvPr/>
        </p:nvSpPr>
        <p:spPr>
          <a:xfrm>
            <a:off x="3194354"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6" name="Google Shape;296;p27"/>
          <p:cNvSpPr/>
          <p:nvPr/>
        </p:nvSpPr>
        <p:spPr>
          <a:xfrm>
            <a:off x="3471815"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7" name="Google Shape;297;p27"/>
          <p:cNvSpPr/>
          <p:nvPr/>
        </p:nvSpPr>
        <p:spPr>
          <a:xfrm>
            <a:off x="3749276"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8" name="Google Shape;298;p27"/>
          <p:cNvSpPr/>
          <p:nvPr/>
        </p:nvSpPr>
        <p:spPr>
          <a:xfrm>
            <a:off x="4026737" y="208434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299" name="Google Shape;299;p27"/>
          <p:cNvSpPr/>
          <p:nvPr/>
        </p:nvSpPr>
        <p:spPr>
          <a:xfrm>
            <a:off x="419744"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0" name="Google Shape;300;p27"/>
          <p:cNvSpPr/>
          <p:nvPr/>
        </p:nvSpPr>
        <p:spPr>
          <a:xfrm>
            <a:off x="697205"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1" name="Google Shape;301;p27"/>
          <p:cNvSpPr/>
          <p:nvPr/>
        </p:nvSpPr>
        <p:spPr>
          <a:xfrm>
            <a:off x="974666"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2" name="Google Shape;302;p27"/>
          <p:cNvSpPr/>
          <p:nvPr/>
        </p:nvSpPr>
        <p:spPr>
          <a:xfrm>
            <a:off x="1252127"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3" name="Google Shape;303;p27"/>
          <p:cNvSpPr/>
          <p:nvPr/>
        </p:nvSpPr>
        <p:spPr>
          <a:xfrm>
            <a:off x="1529588"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4" name="Google Shape;304;p27"/>
          <p:cNvSpPr/>
          <p:nvPr/>
        </p:nvSpPr>
        <p:spPr>
          <a:xfrm>
            <a:off x="1807049"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5" name="Google Shape;305;p27"/>
          <p:cNvSpPr/>
          <p:nvPr/>
        </p:nvSpPr>
        <p:spPr>
          <a:xfrm>
            <a:off x="2084510"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6" name="Google Shape;306;p27"/>
          <p:cNvSpPr/>
          <p:nvPr/>
        </p:nvSpPr>
        <p:spPr>
          <a:xfrm>
            <a:off x="2361971"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7" name="Google Shape;307;p27"/>
          <p:cNvSpPr/>
          <p:nvPr/>
        </p:nvSpPr>
        <p:spPr>
          <a:xfrm>
            <a:off x="2639432"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8" name="Google Shape;308;p27"/>
          <p:cNvSpPr/>
          <p:nvPr/>
        </p:nvSpPr>
        <p:spPr>
          <a:xfrm>
            <a:off x="2916893"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09" name="Google Shape;309;p27"/>
          <p:cNvSpPr/>
          <p:nvPr/>
        </p:nvSpPr>
        <p:spPr>
          <a:xfrm>
            <a:off x="3194354"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0" name="Google Shape;310;p27"/>
          <p:cNvSpPr/>
          <p:nvPr/>
        </p:nvSpPr>
        <p:spPr>
          <a:xfrm>
            <a:off x="3471815"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1" name="Google Shape;311;p27"/>
          <p:cNvSpPr/>
          <p:nvPr/>
        </p:nvSpPr>
        <p:spPr>
          <a:xfrm>
            <a:off x="3749276"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2" name="Google Shape;312;p27"/>
          <p:cNvSpPr/>
          <p:nvPr/>
        </p:nvSpPr>
        <p:spPr>
          <a:xfrm>
            <a:off x="4026737" y="2361799"/>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3" name="Google Shape;313;p27"/>
          <p:cNvSpPr/>
          <p:nvPr/>
        </p:nvSpPr>
        <p:spPr>
          <a:xfrm>
            <a:off x="419744"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4" name="Google Shape;314;p27"/>
          <p:cNvSpPr/>
          <p:nvPr/>
        </p:nvSpPr>
        <p:spPr>
          <a:xfrm>
            <a:off x="697205"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5" name="Google Shape;315;p27"/>
          <p:cNvSpPr/>
          <p:nvPr/>
        </p:nvSpPr>
        <p:spPr>
          <a:xfrm>
            <a:off x="974666"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6" name="Google Shape;316;p27"/>
          <p:cNvSpPr/>
          <p:nvPr/>
        </p:nvSpPr>
        <p:spPr>
          <a:xfrm>
            <a:off x="1252127"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7" name="Google Shape;317;p27"/>
          <p:cNvSpPr/>
          <p:nvPr/>
        </p:nvSpPr>
        <p:spPr>
          <a:xfrm>
            <a:off x="1529588"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8" name="Google Shape;318;p27"/>
          <p:cNvSpPr/>
          <p:nvPr/>
        </p:nvSpPr>
        <p:spPr>
          <a:xfrm>
            <a:off x="1807049"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19" name="Google Shape;319;p27"/>
          <p:cNvSpPr/>
          <p:nvPr/>
        </p:nvSpPr>
        <p:spPr>
          <a:xfrm>
            <a:off x="2084510"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0" name="Google Shape;320;p27"/>
          <p:cNvSpPr/>
          <p:nvPr/>
        </p:nvSpPr>
        <p:spPr>
          <a:xfrm>
            <a:off x="2361971"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1" name="Google Shape;321;p27"/>
          <p:cNvSpPr/>
          <p:nvPr/>
        </p:nvSpPr>
        <p:spPr>
          <a:xfrm>
            <a:off x="2639432"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2" name="Google Shape;322;p27"/>
          <p:cNvSpPr/>
          <p:nvPr/>
        </p:nvSpPr>
        <p:spPr>
          <a:xfrm>
            <a:off x="2916893"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3" name="Google Shape;323;p27"/>
          <p:cNvSpPr/>
          <p:nvPr/>
        </p:nvSpPr>
        <p:spPr>
          <a:xfrm>
            <a:off x="3194354"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4" name="Google Shape;324;p27"/>
          <p:cNvSpPr/>
          <p:nvPr/>
        </p:nvSpPr>
        <p:spPr>
          <a:xfrm>
            <a:off x="3471815"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5" name="Google Shape;325;p27"/>
          <p:cNvSpPr/>
          <p:nvPr/>
        </p:nvSpPr>
        <p:spPr>
          <a:xfrm>
            <a:off x="3749276"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6" name="Google Shape;326;p27"/>
          <p:cNvSpPr/>
          <p:nvPr/>
        </p:nvSpPr>
        <p:spPr>
          <a:xfrm>
            <a:off x="4026737" y="2639254"/>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7" name="Google Shape;327;p27"/>
          <p:cNvSpPr/>
          <p:nvPr/>
        </p:nvSpPr>
        <p:spPr>
          <a:xfrm>
            <a:off x="419744"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8" name="Google Shape;328;p27"/>
          <p:cNvSpPr/>
          <p:nvPr/>
        </p:nvSpPr>
        <p:spPr>
          <a:xfrm>
            <a:off x="697205"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29" name="Google Shape;329;p27"/>
          <p:cNvSpPr/>
          <p:nvPr/>
        </p:nvSpPr>
        <p:spPr>
          <a:xfrm>
            <a:off x="974666"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0" name="Google Shape;330;p27"/>
          <p:cNvSpPr/>
          <p:nvPr/>
        </p:nvSpPr>
        <p:spPr>
          <a:xfrm>
            <a:off x="1252127"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1" name="Google Shape;331;p27"/>
          <p:cNvSpPr/>
          <p:nvPr/>
        </p:nvSpPr>
        <p:spPr>
          <a:xfrm>
            <a:off x="1529588"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2" name="Google Shape;332;p27"/>
          <p:cNvSpPr/>
          <p:nvPr/>
        </p:nvSpPr>
        <p:spPr>
          <a:xfrm>
            <a:off x="1807049"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3" name="Google Shape;333;p27"/>
          <p:cNvSpPr/>
          <p:nvPr/>
        </p:nvSpPr>
        <p:spPr>
          <a:xfrm>
            <a:off x="2084510"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4" name="Google Shape;334;p27"/>
          <p:cNvSpPr/>
          <p:nvPr/>
        </p:nvSpPr>
        <p:spPr>
          <a:xfrm>
            <a:off x="2361971"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5" name="Google Shape;335;p27"/>
          <p:cNvSpPr/>
          <p:nvPr/>
        </p:nvSpPr>
        <p:spPr>
          <a:xfrm>
            <a:off x="2639432"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6" name="Google Shape;336;p27"/>
          <p:cNvSpPr/>
          <p:nvPr/>
        </p:nvSpPr>
        <p:spPr>
          <a:xfrm>
            <a:off x="2916893"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7" name="Google Shape;337;p27"/>
          <p:cNvSpPr/>
          <p:nvPr/>
        </p:nvSpPr>
        <p:spPr>
          <a:xfrm>
            <a:off x="3194354"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8" name="Google Shape;338;p27"/>
          <p:cNvSpPr/>
          <p:nvPr/>
        </p:nvSpPr>
        <p:spPr>
          <a:xfrm>
            <a:off x="3471815"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39" name="Google Shape;339;p27"/>
          <p:cNvSpPr/>
          <p:nvPr/>
        </p:nvSpPr>
        <p:spPr>
          <a:xfrm>
            <a:off x="3749276"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0" name="Google Shape;340;p27"/>
          <p:cNvSpPr/>
          <p:nvPr/>
        </p:nvSpPr>
        <p:spPr>
          <a:xfrm>
            <a:off x="4026737" y="2916710"/>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1" name="Google Shape;341;p27"/>
          <p:cNvSpPr/>
          <p:nvPr/>
        </p:nvSpPr>
        <p:spPr>
          <a:xfrm>
            <a:off x="419744"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2" name="Google Shape;342;p27"/>
          <p:cNvSpPr/>
          <p:nvPr/>
        </p:nvSpPr>
        <p:spPr>
          <a:xfrm>
            <a:off x="697205"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3" name="Google Shape;343;p27"/>
          <p:cNvSpPr/>
          <p:nvPr/>
        </p:nvSpPr>
        <p:spPr>
          <a:xfrm>
            <a:off x="974666"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4" name="Google Shape;344;p27"/>
          <p:cNvSpPr/>
          <p:nvPr/>
        </p:nvSpPr>
        <p:spPr>
          <a:xfrm>
            <a:off x="1252127"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5" name="Google Shape;345;p27"/>
          <p:cNvSpPr/>
          <p:nvPr/>
        </p:nvSpPr>
        <p:spPr>
          <a:xfrm>
            <a:off x="1529588"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6" name="Google Shape;346;p27"/>
          <p:cNvSpPr/>
          <p:nvPr/>
        </p:nvSpPr>
        <p:spPr>
          <a:xfrm>
            <a:off x="1807049"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7" name="Google Shape;347;p27"/>
          <p:cNvSpPr/>
          <p:nvPr/>
        </p:nvSpPr>
        <p:spPr>
          <a:xfrm>
            <a:off x="2084510"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8" name="Google Shape;348;p27"/>
          <p:cNvSpPr/>
          <p:nvPr/>
        </p:nvSpPr>
        <p:spPr>
          <a:xfrm>
            <a:off x="2361971"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49" name="Google Shape;349;p27"/>
          <p:cNvSpPr/>
          <p:nvPr/>
        </p:nvSpPr>
        <p:spPr>
          <a:xfrm>
            <a:off x="2639432"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50" name="Google Shape;350;p27"/>
          <p:cNvSpPr/>
          <p:nvPr/>
        </p:nvSpPr>
        <p:spPr>
          <a:xfrm>
            <a:off x="2916893"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51" name="Google Shape;351;p27"/>
          <p:cNvSpPr/>
          <p:nvPr/>
        </p:nvSpPr>
        <p:spPr>
          <a:xfrm>
            <a:off x="3194354"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52" name="Google Shape;352;p27"/>
          <p:cNvSpPr/>
          <p:nvPr/>
        </p:nvSpPr>
        <p:spPr>
          <a:xfrm>
            <a:off x="3471815"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53" name="Google Shape;353;p27"/>
          <p:cNvSpPr/>
          <p:nvPr/>
        </p:nvSpPr>
        <p:spPr>
          <a:xfrm>
            <a:off x="3749276"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54" name="Google Shape;354;p27"/>
          <p:cNvSpPr/>
          <p:nvPr/>
        </p:nvSpPr>
        <p:spPr>
          <a:xfrm>
            <a:off x="4026737" y="3194165"/>
            <a:ext cx="122100" cy="122100"/>
          </a:xfrm>
          <a:prstGeom prst="ellipse">
            <a:avLst/>
          </a:prstGeom>
          <a:solidFill>
            <a:srgbClr val="E9EEF5"/>
          </a:solidFill>
          <a:ln cap="flat" cmpd="sng" w="20525">
            <a:solidFill>
              <a:srgbClr val="E9EEF5"/>
            </a:solidFill>
            <a:prstDash val="solid"/>
            <a:round/>
            <a:headEnd len="sm" w="sm" type="none"/>
            <a:tailEnd len="sm" w="sm" type="none"/>
          </a:ln>
        </p:spPr>
        <p:txBody>
          <a:bodyPr anchorCtr="0" anchor="t" bIns="55450" lIns="110950" spcFirstLastPara="1" rIns="110950" wrap="square" tIns="55450">
            <a:noAutofit/>
          </a:bodyPr>
          <a:lstStyle/>
          <a:p>
            <a:pPr indent="0" lvl="0" marL="0" marR="0" rtl="0" algn="l">
              <a:spcBef>
                <a:spcPts val="0"/>
              </a:spcBef>
              <a:spcAft>
                <a:spcPts val="0"/>
              </a:spcAft>
              <a:buNone/>
            </a:pPr>
            <a:r>
              <a:t/>
            </a:r>
            <a:endParaRPr sz="2266">
              <a:solidFill>
                <a:schemeClr val="dk1"/>
              </a:solidFill>
              <a:latin typeface="Arial"/>
              <a:ea typeface="Arial"/>
              <a:cs typeface="Arial"/>
              <a:sym typeface="Arial"/>
            </a:endParaRPr>
          </a:p>
        </p:txBody>
      </p:sp>
      <p:sp>
        <p:nvSpPr>
          <p:cNvPr id="355" name="Google Shape;355;p27"/>
          <p:cNvSpPr/>
          <p:nvPr/>
        </p:nvSpPr>
        <p:spPr>
          <a:xfrm>
            <a:off x="180548" y="3460905"/>
            <a:ext cx="1918500" cy="358200"/>
          </a:xfrm>
          <a:prstGeom prst="roundRect">
            <a:avLst>
              <a:gd fmla="val 19048" name="adj"/>
            </a:avLst>
          </a:prstGeom>
          <a:solidFill>
            <a:srgbClr val="FBE0E0"/>
          </a:solidFill>
          <a:ln cap="flat" cmpd="sng" w="15775">
            <a:solidFill>
              <a:srgbClr val="FBE0E0"/>
            </a:solidFill>
            <a:prstDash val="solid"/>
            <a:round/>
            <a:headEnd len="sm" w="sm" type="none"/>
            <a:tailEnd len="sm" w="sm" type="none"/>
          </a:ln>
        </p:spPr>
        <p:txBody>
          <a:bodyPr anchorCtr="0" anchor="t" bIns="42600" lIns="85250" spcFirstLastPara="1" rIns="85250" wrap="square" tIns="42600">
            <a:noAutofit/>
          </a:bodyPr>
          <a:lstStyle/>
          <a:p>
            <a:pPr indent="0" lvl="0" marL="0" marR="0" rtl="0" algn="l">
              <a:spcBef>
                <a:spcPts val="0"/>
              </a:spcBef>
              <a:spcAft>
                <a:spcPts val="0"/>
              </a:spcAft>
              <a:buNone/>
            </a:pPr>
            <a:r>
              <a:t/>
            </a:r>
            <a:endParaRPr sz="1741">
              <a:solidFill>
                <a:schemeClr val="dk1"/>
              </a:solidFill>
              <a:latin typeface="Arial"/>
              <a:ea typeface="Arial"/>
              <a:cs typeface="Arial"/>
              <a:sym typeface="Arial"/>
            </a:endParaRPr>
          </a:p>
        </p:txBody>
      </p:sp>
      <p:sp>
        <p:nvSpPr>
          <p:cNvPr id="356" name="Google Shape;356;p27"/>
          <p:cNvSpPr/>
          <p:nvPr/>
        </p:nvSpPr>
        <p:spPr>
          <a:xfrm>
            <a:off x="223182" y="3503539"/>
            <a:ext cx="1833300" cy="2727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D94D4D"/>
              </a:buClr>
              <a:buSzPts val="1243"/>
              <a:buFont typeface="Arial"/>
              <a:buNone/>
            </a:pPr>
            <a:r>
              <a:rPr b="1" lang="en" sz="1243">
                <a:solidFill>
                  <a:srgbClr val="D94D4D"/>
                </a:solidFill>
                <a:latin typeface="Arial"/>
                <a:ea typeface="Arial"/>
                <a:cs typeface="Arial"/>
                <a:sym typeface="Arial"/>
              </a:rPr>
              <a:t>Rare positive class</a:t>
            </a:r>
            <a:endParaRPr sz="1243">
              <a:solidFill>
                <a:schemeClr val="dk1"/>
              </a:solidFill>
              <a:latin typeface="Arial"/>
              <a:ea typeface="Arial"/>
              <a:cs typeface="Arial"/>
              <a:sym typeface="Arial"/>
            </a:endParaRPr>
          </a:p>
        </p:txBody>
      </p:sp>
      <p:sp>
        <p:nvSpPr>
          <p:cNvPr id="357" name="Google Shape;357;p27"/>
          <p:cNvSpPr/>
          <p:nvPr/>
        </p:nvSpPr>
        <p:spPr>
          <a:xfrm>
            <a:off x="2286677" y="3460905"/>
            <a:ext cx="2089200" cy="358200"/>
          </a:xfrm>
          <a:prstGeom prst="roundRect">
            <a:avLst>
              <a:gd fmla="val 19048" name="adj"/>
            </a:avLst>
          </a:prstGeom>
          <a:solidFill>
            <a:srgbClr val="E9EEF5"/>
          </a:solidFill>
          <a:ln cap="flat" cmpd="sng" w="15775">
            <a:solidFill>
              <a:srgbClr val="E9EEF5"/>
            </a:solidFill>
            <a:prstDash val="solid"/>
            <a:round/>
            <a:headEnd len="sm" w="sm" type="none"/>
            <a:tailEnd len="sm" w="sm" type="none"/>
          </a:ln>
        </p:spPr>
        <p:txBody>
          <a:bodyPr anchorCtr="0" anchor="t" bIns="42600" lIns="85250" spcFirstLastPara="1" rIns="85250" wrap="square" tIns="42600">
            <a:noAutofit/>
          </a:bodyPr>
          <a:lstStyle/>
          <a:p>
            <a:pPr indent="0" lvl="0" marL="0" marR="0" rtl="0" algn="l">
              <a:spcBef>
                <a:spcPts val="0"/>
              </a:spcBef>
              <a:spcAft>
                <a:spcPts val="0"/>
              </a:spcAft>
              <a:buNone/>
            </a:pPr>
            <a:r>
              <a:t/>
            </a:r>
            <a:endParaRPr sz="1741">
              <a:solidFill>
                <a:schemeClr val="dk1"/>
              </a:solidFill>
              <a:latin typeface="Arial"/>
              <a:ea typeface="Arial"/>
              <a:cs typeface="Arial"/>
              <a:sym typeface="Arial"/>
            </a:endParaRPr>
          </a:p>
        </p:txBody>
      </p:sp>
      <p:sp>
        <p:nvSpPr>
          <p:cNvPr id="358" name="Google Shape;358;p27"/>
          <p:cNvSpPr/>
          <p:nvPr/>
        </p:nvSpPr>
        <p:spPr>
          <a:xfrm>
            <a:off x="2329311" y="3503539"/>
            <a:ext cx="2003700" cy="2727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516071"/>
              </a:buClr>
              <a:buSzPts val="1243"/>
              <a:buFont typeface="Arial"/>
              <a:buNone/>
            </a:pPr>
            <a:r>
              <a:rPr b="1" lang="en" sz="1243">
                <a:solidFill>
                  <a:srgbClr val="516071"/>
                </a:solidFill>
                <a:latin typeface="Arial"/>
                <a:ea typeface="Arial"/>
                <a:cs typeface="Arial"/>
                <a:sym typeface="Arial"/>
              </a:rPr>
              <a:t>Majority negative class</a:t>
            </a:r>
            <a:endParaRPr sz="1243">
              <a:solidFill>
                <a:schemeClr val="dk1"/>
              </a:solidFill>
              <a:latin typeface="Arial"/>
              <a:ea typeface="Arial"/>
              <a:cs typeface="Arial"/>
              <a:sym typeface="Arial"/>
            </a:endParaRPr>
          </a:p>
        </p:txBody>
      </p:sp>
      <p:sp>
        <p:nvSpPr>
          <p:cNvPr id="359" name="Google Shape;359;p27"/>
          <p:cNvSpPr/>
          <p:nvPr/>
        </p:nvSpPr>
        <p:spPr>
          <a:xfrm>
            <a:off x="4577325" y="1259725"/>
            <a:ext cx="4200900" cy="848100"/>
          </a:xfrm>
          <a:prstGeom prst="roundRect">
            <a:avLst>
              <a:gd fmla="val 545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60" name="Google Shape;360;p27"/>
          <p:cNvSpPr/>
          <p:nvPr/>
        </p:nvSpPr>
        <p:spPr>
          <a:xfrm>
            <a:off x="4577325" y="1259725"/>
            <a:ext cx="59400" cy="848100"/>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61" name="Google Shape;361;p27"/>
          <p:cNvSpPr/>
          <p:nvPr/>
        </p:nvSpPr>
        <p:spPr>
          <a:xfrm>
            <a:off x="4763205" y="1350846"/>
            <a:ext cx="3866100" cy="21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800">
                <a:solidFill>
                  <a:srgbClr val="122033"/>
                </a:solidFill>
                <a:latin typeface="Arial"/>
                <a:ea typeface="Arial"/>
                <a:cs typeface="Arial"/>
                <a:sym typeface="Arial"/>
              </a:rPr>
              <a:t>Accuracy</a:t>
            </a:r>
            <a:endParaRPr sz="1800">
              <a:solidFill>
                <a:schemeClr val="dk1"/>
              </a:solidFill>
              <a:latin typeface="Arial"/>
              <a:ea typeface="Arial"/>
              <a:cs typeface="Arial"/>
              <a:sym typeface="Arial"/>
            </a:endParaRPr>
          </a:p>
        </p:txBody>
      </p:sp>
      <p:sp>
        <p:nvSpPr>
          <p:cNvPr id="362" name="Google Shape;362;p27"/>
          <p:cNvSpPr/>
          <p:nvPr/>
        </p:nvSpPr>
        <p:spPr>
          <a:xfrm>
            <a:off x="4763205" y="1682984"/>
            <a:ext cx="3866100" cy="308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600">
                <a:solidFill>
                  <a:srgbClr val="516071"/>
                </a:solidFill>
                <a:latin typeface="Arial"/>
                <a:ea typeface="Arial"/>
                <a:cs typeface="Arial"/>
                <a:sym typeface="Arial"/>
              </a:rPr>
              <a:t>What fraction of all predictions were correct?</a:t>
            </a:r>
            <a:endParaRPr sz="1600">
              <a:solidFill>
                <a:schemeClr val="dk1"/>
              </a:solidFill>
              <a:latin typeface="Arial"/>
              <a:ea typeface="Arial"/>
              <a:cs typeface="Arial"/>
              <a:sym typeface="Arial"/>
            </a:endParaRPr>
          </a:p>
        </p:txBody>
      </p:sp>
      <p:sp>
        <p:nvSpPr>
          <p:cNvPr id="363" name="Google Shape;363;p27"/>
          <p:cNvSpPr/>
          <p:nvPr/>
        </p:nvSpPr>
        <p:spPr>
          <a:xfrm>
            <a:off x="4577325" y="2338863"/>
            <a:ext cx="4200900" cy="848100"/>
          </a:xfrm>
          <a:prstGeom prst="roundRect">
            <a:avLst>
              <a:gd fmla="val 545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64" name="Google Shape;364;p27"/>
          <p:cNvSpPr/>
          <p:nvPr/>
        </p:nvSpPr>
        <p:spPr>
          <a:xfrm>
            <a:off x="4577325" y="2338863"/>
            <a:ext cx="59400" cy="848100"/>
          </a:xfrm>
          <a:prstGeom prst="rect">
            <a:avLst/>
          </a:prstGeom>
          <a:solidFill>
            <a:srgbClr val="D94D4D"/>
          </a:solidFill>
          <a:ln cap="flat" cmpd="sng" w="12700">
            <a:solidFill>
              <a:srgbClr val="D94D4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65" name="Google Shape;365;p27"/>
          <p:cNvSpPr/>
          <p:nvPr/>
        </p:nvSpPr>
        <p:spPr>
          <a:xfrm>
            <a:off x="4763205" y="2441891"/>
            <a:ext cx="3866100" cy="21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800">
                <a:solidFill>
                  <a:srgbClr val="122033"/>
                </a:solidFill>
                <a:latin typeface="Arial"/>
                <a:ea typeface="Arial"/>
                <a:cs typeface="Arial"/>
                <a:sym typeface="Arial"/>
              </a:rPr>
              <a:t>Problem</a:t>
            </a:r>
            <a:endParaRPr sz="1800">
              <a:solidFill>
                <a:schemeClr val="dk1"/>
              </a:solidFill>
              <a:latin typeface="Arial"/>
              <a:ea typeface="Arial"/>
              <a:cs typeface="Arial"/>
              <a:sym typeface="Arial"/>
            </a:endParaRPr>
          </a:p>
        </p:txBody>
      </p:sp>
      <p:sp>
        <p:nvSpPr>
          <p:cNvPr id="366" name="Google Shape;366;p27"/>
          <p:cNvSpPr/>
          <p:nvPr/>
        </p:nvSpPr>
        <p:spPr>
          <a:xfrm>
            <a:off x="4763205" y="2762123"/>
            <a:ext cx="3866100" cy="308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600">
                <a:solidFill>
                  <a:srgbClr val="516071"/>
                </a:solidFill>
                <a:latin typeface="Arial"/>
                <a:ea typeface="Arial"/>
                <a:cs typeface="Arial"/>
                <a:sym typeface="Arial"/>
              </a:rPr>
              <a:t>A model can look accurate by always predicting the majority class.</a:t>
            </a:r>
            <a:endParaRPr sz="1600">
              <a:solidFill>
                <a:schemeClr val="dk1"/>
              </a:solidFill>
              <a:latin typeface="Arial"/>
              <a:ea typeface="Arial"/>
              <a:cs typeface="Arial"/>
              <a:sym typeface="Arial"/>
            </a:endParaRPr>
          </a:p>
        </p:txBody>
      </p:sp>
      <p:sp>
        <p:nvSpPr>
          <p:cNvPr id="367" name="Google Shape;367;p27"/>
          <p:cNvSpPr/>
          <p:nvPr/>
        </p:nvSpPr>
        <p:spPr>
          <a:xfrm>
            <a:off x="4577325" y="3418002"/>
            <a:ext cx="4200900" cy="848100"/>
          </a:xfrm>
          <a:prstGeom prst="roundRect">
            <a:avLst>
              <a:gd fmla="val 545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68" name="Google Shape;368;p27"/>
          <p:cNvSpPr/>
          <p:nvPr/>
        </p:nvSpPr>
        <p:spPr>
          <a:xfrm>
            <a:off x="4577325" y="3418002"/>
            <a:ext cx="59400" cy="848100"/>
          </a:xfrm>
          <a:prstGeom prst="rect">
            <a:avLst/>
          </a:prstGeom>
          <a:solidFill>
            <a:srgbClr val="169B62"/>
          </a:solidFill>
          <a:ln cap="flat" cmpd="sng" w="12700">
            <a:solidFill>
              <a:srgbClr val="169B6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69" name="Google Shape;369;p27"/>
          <p:cNvSpPr/>
          <p:nvPr/>
        </p:nvSpPr>
        <p:spPr>
          <a:xfrm>
            <a:off x="4763205" y="3521029"/>
            <a:ext cx="3866100" cy="21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800">
                <a:solidFill>
                  <a:srgbClr val="122033"/>
                </a:solidFill>
                <a:latin typeface="Arial"/>
                <a:ea typeface="Arial"/>
                <a:cs typeface="Arial"/>
                <a:sym typeface="Arial"/>
              </a:rPr>
              <a:t>Fix</a:t>
            </a:r>
            <a:endParaRPr sz="1800">
              <a:solidFill>
                <a:schemeClr val="dk1"/>
              </a:solidFill>
              <a:latin typeface="Arial"/>
              <a:ea typeface="Arial"/>
              <a:cs typeface="Arial"/>
              <a:sym typeface="Arial"/>
            </a:endParaRPr>
          </a:p>
        </p:txBody>
      </p:sp>
      <p:sp>
        <p:nvSpPr>
          <p:cNvPr id="370" name="Google Shape;370;p27"/>
          <p:cNvSpPr/>
          <p:nvPr/>
        </p:nvSpPr>
        <p:spPr>
          <a:xfrm>
            <a:off x="4763205" y="3841261"/>
            <a:ext cx="3866100" cy="308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600">
                <a:solidFill>
                  <a:srgbClr val="516071"/>
                </a:solidFill>
                <a:latin typeface="Arial"/>
                <a:ea typeface="Arial"/>
                <a:cs typeface="Arial"/>
                <a:sym typeface="Arial"/>
              </a:rPr>
              <a:t>Check class-specific metrics such as recall, specificity, and precision.</a:t>
            </a:r>
            <a:endParaRPr sz="16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375" name="Shape 375"/>
        <p:cNvGrpSpPr/>
        <p:nvPr/>
      </p:nvGrpSpPr>
      <p:grpSpPr>
        <a:xfrm>
          <a:off x="0" y="0"/>
          <a:ext cx="0" cy="0"/>
          <a:chOff x="0" y="0"/>
          <a:chExt cx="0" cy="0"/>
        </a:xfrm>
      </p:grpSpPr>
      <p:sp>
        <p:nvSpPr>
          <p:cNvPr id="376" name="Google Shape;376;p28"/>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77" name="Google Shape;377;p28"/>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CLASSIFICATION</a:t>
            </a:r>
            <a:endParaRPr sz="700">
              <a:solidFill>
                <a:schemeClr val="dk1"/>
              </a:solidFill>
              <a:latin typeface="Arial"/>
              <a:ea typeface="Arial"/>
              <a:cs typeface="Arial"/>
              <a:sym typeface="Arial"/>
            </a:endParaRPr>
          </a:p>
        </p:txBody>
      </p:sp>
      <p:sp>
        <p:nvSpPr>
          <p:cNvPr id="378" name="Google Shape;378;p28"/>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Start by defining the positive class</a:t>
            </a:r>
            <a:endParaRPr sz="2300">
              <a:solidFill>
                <a:schemeClr val="dk1"/>
              </a:solidFill>
              <a:latin typeface="Arial"/>
              <a:ea typeface="Arial"/>
              <a:cs typeface="Arial"/>
              <a:sym typeface="Arial"/>
            </a:endParaRPr>
          </a:p>
        </p:txBody>
      </p:sp>
      <p:sp>
        <p:nvSpPr>
          <p:cNvPr id="379" name="Google Shape;379;p28"/>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TP, FP, FN, and TN are defined relative to the class labeled “positive.”</a:t>
            </a:r>
            <a:endParaRPr sz="1100">
              <a:solidFill>
                <a:schemeClr val="dk1"/>
              </a:solidFill>
              <a:latin typeface="Arial"/>
              <a:ea typeface="Arial"/>
              <a:cs typeface="Arial"/>
              <a:sym typeface="Arial"/>
            </a:endParaRPr>
          </a:p>
        </p:txBody>
      </p:sp>
      <p:sp>
        <p:nvSpPr>
          <p:cNvPr id="380" name="Google Shape;380;p28"/>
          <p:cNvSpPr/>
          <p:nvPr/>
        </p:nvSpPr>
        <p:spPr>
          <a:xfrm>
            <a:off x="3653758" y="1220737"/>
            <a:ext cx="2664900" cy="24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033"/>
              </a:buClr>
              <a:buSzPts val="1793"/>
              <a:buFont typeface="Arial"/>
              <a:buNone/>
            </a:pPr>
            <a:r>
              <a:rPr b="1" lang="en" sz="1793">
                <a:solidFill>
                  <a:srgbClr val="122033"/>
                </a:solidFill>
                <a:latin typeface="Arial"/>
                <a:ea typeface="Arial"/>
                <a:cs typeface="Arial"/>
                <a:sym typeface="Arial"/>
              </a:rPr>
              <a:t>Predicted</a:t>
            </a:r>
            <a:endParaRPr sz="1793">
              <a:solidFill>
                <a:schemeClr val="dk1"/>
              </a:solidFill>
              <a:latin typeface="Arial"/>
              <a:ea typeface="Arial"/>
              <a:cs typeface="Arial"/>
              <a:sym typeface="Arial"/>
            </a:endParaRPr>
          </a:p>
        </p:txBody>
      </p:sp>
      <p:sp>
        <p:nvSpPr>
          <p:cNvPr id="381" name="Google Shape;381;p28"/>
          <p:cNvSpPr/>
          <p:nvPr/>
        </p:nvSpPr>
        <p:spPr>
          <a:xfrm rot="-5400000">
            <a:off x="1987774" y="3026890"/>
            <a:ext cx="1365900" cy="2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033"/>
              </a:buClr>
              <a:buSzPts val="1793"/>
              <a:buFont typeface="Arial"/>
              <a:buNone/>
            </a:pPr>
            <a:r>
              <a:rPr b="1" lang="en" sz="1793">
                <a:solidFill>
                  <a:srgbClr val="122033"/>
                </a:solidFill>
                <a:latin typeface="Arial"/>
                <a:ea typeface="Arial"/>
                <a:cs typeface="Arial"/>
                <a:sym typeface="Arial"/>
              </a:rPr>
              <a:t>Actual</a:t>
            </a:r>
            <a:endParaRPr sz="1793">
              <a:solidFill>
                <a:schemeClr val="dk1"/>
              </a:solidFill>
              <a:latin typeface="Arial"/>
              <a:ea typeface="Arial"/>
              <a:cs typeface="Arial"/>
              <a:sym typeface="Arial"/>
            </a:endParaRPr>
          </a:p>
        </p:txBody>
      </p:sp>
      <p:sp>
        <p:nvSpPr>
          <p:cNvPr id="382" name="Google Shape;382;p28"/>
          <p:cNvSpPr/>
          <p:nvPr/>
        </p:nvSpPr>
        <p:spPr>
          <a:xfrm>
            <a:off x="3816435" y="1661404"/>
            <a:ext cx="1147500" cy="389700"/>
          </a:xfrm>
          <a:prstGeom prst="roundRect">
            <a:avLst>
              <a:gd fmla="val 21053" name="adj"/>
            </a:avLst>
          </a:prstGeom>
          <a:solidFill>
            <a:srgbClr val="D9E8FF"/>
          </a:solidFill>
          <a:ln cap="flat" cmpd="sng" w="18975">
            <a:solidFill>
              <a:srgbClr val="D9E8FF"/>
            </a:solidFill>
            <a:prstDash val="solid"/>
            <a:round/>
            <a:headEnd len="sm" w="sm" type="none"/>
            <a:tailEnd len="sm" w="sm" type="none"/>
          </a:ln>
        </p:spPr>
        <p:txBody>
          <a:bodyPr anchorCtr="0" anchor="t" bIns="51225" lIns="102475" spcFirstLastPara="1" rIns="102475" wrap="square" tIns="51225">
            <a:noAutofit/>
          </a:bodyPr>
          <a:lstStyle/>
          <a:p>
            <a:pPr indent="0" lvl="0" marL="0" marR="0" rtl="0" algn="l">
              <a:spcBef>
                <a:spcPts val="0"/>
              </a:spcBef>
              <a:spcAft>
                <a:spcPts val="0"/>
              </a:spcAft>
              <a:buNone/>
            </a:pPr>
            <a:r>
              <a:t/>
            </a:r>
            <a:endParaRPr sz="2092">
              <a:solidFill>
                <a:schemeClr val="dk1"/>
              </a:solidFill>
              <a:latin typeface="Arial"/>
              <a:ea typeface="Arial"/>
              <a:cs typeface="Arial"/>
              <a:sym typeface="Arial"/>
            </a:endParaRPr>
          </a:p>
        </p:txBody>
      </p:sp>
      <p:sp>
        <p:nvSpPr>
          <p:cNvPr id="383" name="Google Shape;383;p28"/>
          <p:cNvSpPr/>
          <p:nvPr/>
        </p:nvSpPr>
        <p:spPr>
          <a:xfrm>
            <a:off x="3867676" y="1712644"/>
            <a:ext cx="1045500" cy="287100"/>
          </a:xfrm>
          <a:prstGeom prst="rect">
            <a:avLst/>
          </a:prstGeom>
          <a:noFill/>
          <a:ln>
            <a:noFill/>
          </a:ln>
        </p:spPr>
        <p:txBody>
          <a:bodyPr anchorCtr="0" anchor="ctr" bIns="300" lIns="300" spcFirstLastPara="1" rIns="300" wrap="square" tIns="300">
            <a:noAutofit/>
          </a:bodyPr>
          <a:lstStyle/>
          <a:p>
            <a:pPr indent="0" lvl="0" marL="0" marR="0" rtl="0" algn="ctr">
              <a:spcBef>
                <a:spcPts val="0"/>
              </a:spcBef>
              <a:spcAft>
                <a:spcPts val="0"/>
              </a:spcAft>
              <a:buClr>
                <a:srgbClr val="2D6CDF"/>
              </a:buClr>
              <a:buSzPts val="1494"/>
              <a:buFont typeface="Arial"/>
              <a:buNone/>
            </a:pPr>
            <a:r>
              <a:rPr b="1" lang="en" sz="1494">
                <a:solidFill>
                  <a:srgbClr val="2D6CDF"/>
                </a:solidFill>
                <a:latin typeface="Arial"/>
                <a:ea typeface="Arial"/>
                <a:cs typeface="Arial"/>
                <a:sym typeface="Arial"/>
              </a:rPr>
              <a:t>+</a:t>
            </a:r>
            <a:endParaRPr sz="1494">
              <a:solidFill>
                <a:schemeClr val="dk1"/>
              </a:solidFill>
              <a:latin typeface="Arial"/>
              <a:ea typeface="Arial"/>
              <a:cs typeface="Arial"/>
              <a:sym typeface="Arial"/>
            </a:endParaRPr>
          </a:p>
        </p:txBody>
      </p:sp>
      <p:sp>
        <p:nvSpPr>
          <p:cNvPr id="384" name="Google Shape;384;p28"/>
          <p:cNvSpPr/>
          <p:nvPr/>
        </p:nvSpPr>
        <p:spPr>
          <a:xfrm>
            <a:off x="4964228" y="1661404"/>
            <a:ext cx="1147500" cy="389700"/>
          </a:xfrm>
          <a:prstGeom prst="roundRect">
            <a:avLst>
              <a:gd fmla="val 21053" name="adj"/>
            </a:avLst>
          </a:prstGeom>
          <a:solidFill>
            <a:srgbClr val="D9E8FF"/>
          </a:solidFill>
          <a:ln cap="flat" cmpd="sng" w="18975">
            <a:solidFill>
              <a:srgbClr val="D9E8FF"/>
            </a:solidFill>
            <a:prstDash val="solid"/>
            <a:round/>
            <a:headEnd len="sm" w="sm" type="none"/>
            <a:tailEnd len="sm" w="sm" type="none"/>
          </a:ln>
        </p:spPr>
        <p:txBody>
          <a:bodyPr anchorCtr="0" anchor="t" bIns="51225" lIns="102475" spcFirstLastPara="1" rIns="102475" wrap="square" tIns="51225">
            <a:noAutofit/>
          </a:bodyPr>
          <a:lstStyle/>
          <a:p>
            <a:pPr indent="0" lvl="0" marL="0" marR="0" rtl="0" algn="l">
              <a:spcBef>
                <a:spcPts val="0"/>
              </a:spcBef>
              <a:spcAft>
                <a:spcPts val="0"/>
              </a:spcAft>
              <a:buNone/>
            </a:pPr>
            <a:r>
              <a:t/>
            </a:r>
            <a:endParaRPr sz="2092">
              <a:solidFill>
                <a:schemeClr val="dk1"/>
              </a:solidFill>
              <a:latin typeface="Arial"/>
              <a:ea typeface="Arial"/>
              <a:cs typeface="Arial"/>
              <a:sym typeface="Arial"/>
            </a:endParaRPr>
          </a:p>
        </p:txBody>
      </p:sp>
      <p:sp>
        <p:nvSpPr>
          <p:cNvPr id="385" name="Google Shape;385;p28"/>
          <p:cNvSpPr/>
          <p:nvPr/>
        </p:nvSpPr>
        <p:spPr>
          <a:xfrm>
            <a:off x="5015469" y="1712644"/>
            <a:ext cx="1045500" cy="287100"/>
          </a:xfrm>
          <a:prstGeom prst="rect">
            <a:avLst/>
          </a:prstGeom>
          <a:noFill/>
          <a:ln>
            <a:noFill/>
          </a:ln>
        </p:spPr>
        <p:txBody>
          <a:bodyPr anchorCtr="0" anchor="ctr" bIns="300" lIns="300" spcFirstLastPara="1" rIns="300" wrap="square" tIns="300">
            <a:noAutofit/>
          </a:bodyPr>
          <a:lstStyle/>
          <a:p>
            <a:pPr indent="0" lvl="0" marL="0" marR="0" rtl="0" algn="ctr">
              <a:spcBef>
                <a:spcPts val="0"/>
              </a:spcBef>
              <a:spcAft>
                <a:spcPts val="0"/>
              </a:spcAft>
              <a:buClr>
                <a:srgbClr val="2D6CDF"/>
              </a:buClr>
              <a:buSzPts val="1494"/>
              <a:buFont typeface="Arial"/>
              <a:buNone/>
            </a:pPr>
            <a:r>
              <a:rPr b="1" lang="en" sz="1494">
                <a:solidFill>
                  <a:srgbClr val="2D6CDF"/>
                </a:solidFill>
                <a:latin typeface="Arial"/>
                <a:ea typeface="Arial"/>
                <a:cs typeface="Arial"/>
                <a:sym typeface="Arial"/>
              </a:rPr>
              <a:t>−</a:t>
            </a:r>
            <a:endParaRPr sz="1494">
              <a:solidFill>
                <a:schemeClr val="dk1"/>
              </a:solidFill>
              <a:latin typeface="Arial"/>
              <a:ea typeface="Arial"/>
              <a:cs typeface="Arial"/>
              <a:sym typeface="Arial"/>
            </a:endParaRPr>
          </a:p>
        </p:txBody>
      </p:sp>
      <p:sp>
        <p:nvSpPr>
          <p:cNvPr id="386" name="Google Shape;386;p28"/>
          <p:cNvSpPr/>
          <p:nvPr/>
        </p:nvSpPr>
        <p:spPr>
          <a:xfrm>
            <a:off x="2989328" y="2317227"/>
            <a:ext cx="563400" cy="1147500"/>
          </a:xfrm>
          <a:prstGeom prst="roundRect">
            <a:avLst>
              <a:gd fmla="val 14545" name="adj"/>
            </a:avLst>
          </a:prstGeom>
          <a:solidFill>
            <a:srgbClr val="D9E8FF"/>
          </a:solidFill>
          <a:ln cap="flat" cmpd="sng" w="18975">
            <a:solidFill>
              <a:srgbClr val="D9E8FF"/>
            </a:solidFill>
            <a:prstDash val="solid"/>
            <a:round/>
            <a:headEnd len="sm" w="sm" type="none"/>
            <a:tailEnd len="sm" w="sm" type="none"/>
          </a:ln>
        </p:spPr>
        <p:txBody>
          <a:bodyPr anchorCtr="0" anchor="t" bIns="51225" lIns="102475" spcFirstLastPara="1" rIns="102475" wrap="square" tIns="51225">
            <a:noAutofit/>
          </a:bodyPr>
          <a:lstStyle/>
          <a:p>
            <a:pPr indent="0" lvl="0" marL="0" marR="0" rtl="0" algn="l">
              <a:spcBef>
                <a:spcPts val="0"/>
              </a:spcBef>
              <a:spcAft>
                <a:spcPts val="0"/>
              </a:spcAft>
              <a:buNone/>
            </a:pPr>
            <a:r>
              <a:t/>
            </a:r>
            <a:endParaRPr sz="2092">
              <a:solidFill>
                <a:schemeClr val="dk1"/>
              </a:solidFill>
              <a:latin typeface="Arial"/>
              <a:ea typeface="Arial"/>
              <a:cs typeface="Arial"/>
              <a:sym typeface="Arial"/>
            </a:endParaRPr>
          </a:p>
        </p:txBody>
      </p:sp>
      <p:sp>
        <p:nvSpPr>
          <p:cNvPr id="387" name="Google Shape;387;p28"/>
          <p:cNvSpPr/>
          <p:nvPr/>
        </p:nvSpPr>
        <p:spPr>
          <a:xfrm>
            <a:off x="3040569" y="2368468"/>
            <a:ext cx="461400" cy="1045500"/>
          </a:xfrm>
          <a:prstGeom prst="rect">
            <a:avLst/>
          </a:prstGeom>
          <a:noFill/>
          <a:ln>
            <a:noFill/>
          </a:ln>
        </p:spPr>
        <p:txBody>
          <a:bodyPr anchorCtr="0" anchor="ctr" bIns="300" lIns="300" spcFirstLastPara="1" rIns="300" wrap="square" tIns="300">
            <a:noAutofit/>
          </a:bodyPr>
          <a:lstStyle/>
          <a:p>
            <a:pPr indent="0" lvl="0" marL="0" marR="0" rtl="0" algn="ctr">
              <a:spcBef>
                <a:spcPts val="0"/>
              </a:spcBef>
              <a:spcAft>
                <a:spcPts val="0"/>
              </a:spcAft>
              <a:buClr>
                <a:srgbClr val="2D6CDF"/>
              </a:buClr>
              <a:buSzPts val="1494"/>
              <a:buFont typeface="Arial"/>
              <a:buNone/>
            </a:pPr>
            <a:r>
              <a:rPr b="1" lang="en" sz="1494">
                <a:solidFill>
                  <a:srgbClr val="2D6CDF"/>
                </a:solidFill>
                <a:latin typeface="Arial"/>
                <a:ea typeface="Arial"/>
                <a:cs typeface="Arial"/>
                <a:sym typeface="Arial"/>
              </a:rPr>
              <a:t>+</a:t>
            </a:r>
            <a:endParaRPr sz="1494">
              <a:solidFill>
                <a:schemeClr val="dk1"/>
              </a:solidFill>
              <a:latin typeface="Arial"/>
              <a:ea typeface="Arial"/>
              <a:cs typeface="Arial"/>
              <a:sym typeface="Arial"/>
            </a:endParaRPr>
          </a:p>
        </p:txBody>
      </p:sp>
      <p:sp>
        <p:nvSpPr>
          <p:cNvPr id="388" name="Google Shape;388;p28"/>
          <p:cNvSpPr/>
          <p:nvPr/>
        </p:nvSpPr>
        <p:spPr>
          <a:xfrm>
            <a:off x="2989328" y="3465011"/>
            <a:ext cx="563400" cy="1147500"/>
          </a:xfrm>
          <a:prstGeom prst="roundRect">
            <a:avLst>
              <a:gd fmla="val 14545" name="adj"/>
            </a:avLst>
          </a:prstGeom>
          <a:solidFill>
            <a:srgbClr val="D9E8FF"/>
          </a:solidFill>
          <a:ln cap="flat" cmpd="sng" w="18975">
            <a:solidFill>
              <a:srgbClr val="D9E8FF"/>
            </a:solidFill>
            <a:prstDash val="solid"/>
            <a:round/>
            <a:headEnd len="sm" w="sm" type="none"/>
            <a:tailEnd len="sm" w="sm" type="none"/>
          </a:ln>
        </p:spPr>
        <p:txBody>
          <a:bodyPr anchorCtr="0" anchor="t" bIns="51225" lIns="102475" spcFirstLastPara="1" rIns="102475" wrap="square" tIns="51225">
            <a:noAutofit/>
          </a:bodyPr>
          <a:lstStyle/>
          <a:p>
            <a:pPr indent="0" lvl="0" marL="0" marR="0" rtl="0" algn="l">
              <a:spcBef>
                <a:spcPts val="0"/>
              </a:spcBef>
              <a:spcAft>
                <a:spcPts val="0"/>
              </a:spcAft>
              <a:buNone/>
            </a:pPr>
            <a:r>
              <a:t/>
            </a:r>
            <a:endParaRPr sz="2092">
              <a:solidFill>
                <a:schemeClr val="dk1"/>
              </a:solidFill>
              <a:latin typeface="Arial"/>
              <a:ea typeface="Arial"/>
              <a:cs typeface="Arial"/>
              <a:sym typeface="Arial"/>
            </a:endParaRPr>
          </a:p>
        </p:txBody>
      </p:sp>
      <p:sp>
        <p:nvSpPr>
          <p:cNvPr id="389" name="Google Shape;389;p28"/>
          <p:cNvSpPr/>
          <p:nvPr/>
        </p:nvSpPr>
        <p:spPr>
          <a:xfrm>
            <a:off x="3040569" y="3516251"/>
            <a:ext cx="461400" cy="1045500"/>
          </a:xfrm>
          <a:prstGeom prst="rect">
            <a:avLst/>
          </a:prstGeom>
          <a:noFill/>
          <a:ln>
            <a:noFill/>
          </a:ln>
        </p:spPr>
        <p:txBody>
          <a:bodyPr anchorCtr="0" anchor="ctr" bIns="300" lIns="300" spcFirstLastPara="1" rIns="300" wrap="square" tIns="300">
            <a:noAutofit/>
          </a:bodyPr>
          <a:lstStyle/>
          <a:p>
            <a:pPr indent="0" lvl="0" marL="0" marR="0" rtl="0" algn="ctr">
              <a:spcBef>
                <a:spcPts val="0"/>
              </a:spcBef>
              <a:spcAft>
                <a:spcPts val="0"/>
              </a:spcAft>
              <a:buClr>
                <a:srgbClr val="2D6CDF"/>
              </a:buClr>
              <a:buSzPts val="1494"/>
              <a:buFont typeface="Arial"/>
              <a:buNone/>
            </a:pPr>
            <a:r>
              <a:rPr b="1" lang="en" sz="1494">
                <a:solidFill>
                  <a:srgbClr val="2D6CDF"/>
                </a:solidFill>
                <a:latin typeface="Arial"/>
                <a:ea typeface="Arial"/>
                <a:cs typeface="Arial"/>
                <a:sym typeface="Arial"/>
              </a:rPr>
              <a:t>−</a:t>
            </a:r>
            <a:endParaRPr sz="1494">
              <a:solidFill>
                <a:schemeClr val="dk1"/>
              </a:solidFill>
              <a:latin typeface="Arial"/>
              <a:ea typeface="Arial"/>
              <a:cs typeface="Arial"/>
              <a:sym typeface="Arial"/>
            </a:endParaRPr>
          </a:p>
        </p:txBody>
      </p:sp>
      <p:sp>
        <p:nvSpPr>
          <p:cNvPr id="390" name="Google Shape;390;p28"/>
          <p:cNvSpPr/>
          <p:nvPr/>
        </p:nvSpPr>
        <p:spPr>
          <a:xfrm>
            <a:off x="3816435" y="2317227"/>
            <a:ext cx="1147500" cy="1147500"/>
          </a:xfrm>
          <a:prstGeom prst="rect">
            <a:avLst/>
          </a:prstGeom>
          <a:solidFill>
            <a:srgbClr val="DDF3E7"/>
          </a:solidFill>
          <a:ln cap="flat" cmpd="sng" w="26550">
            <a:solidFill>
              <a:srgbClr val="FFFFFF"/>
            </a:solidFill>
            <a:prstDash val="solid"/>
            <a:round/>
            <a:headEnd len="sm" w="sm" type="none"/>
            <a:tailEnd len="sm" w="sm" type="none"/>
          </a:ln>
        </p:spPr>
        <p:txBody>
          <a:bodyPr anchorCtr="0" anchor="t" bIns="51225" lIns="102475" spcFirstLastPara="1" rIns="102475" wrap="square" tIns="51225">
            <a:noAutofit/>
          </a:bodyPr>
          <a:lstStyle/>
          <a:p>
            <a:pPr indent="0" lvl="0" marL="0" marR="0" rtl="0" algn="l">
              <a:spcBef>
                <a:spcPts val="0"/>
              </a:spcBef>
              <a:spcAft>
                <a:spcPts val="0"/>
              </a:spcAft>
              <a:buNone/>
            </a:pPr>
            <a:r>
              <a:t/>
            </a:r>
            <a:endParaRPr sz="2092">
              <a:solidFill>
                <a:schemeClr val="dk1"/>
              </a:solidFill>
              <a:latin typeface="Arial"/>
              <a:ea typeface="Arial"/>
              <a:cs typeface="Arial"/>
              <a:sym typeface="Arial"/>
            </a:endParaRPr>
          </a:p>
        </p:txBody>
      </p:sp>
      <p:sp>
        <p:nvSpPr>
          <p:cNvPr id="391" name="Google Shape;391;p28"/>
          <p:cNvSpPr/>
          <p:nvPr/>
        </p:nvSpPr>
        <p:spPr>
          <a:xfrm>
            <a:off x="3877924" y="2645165"/>
            <a:ext cx="1024800" cy="594600"/>
          </a:xfrm>
          <a:prstGeom prst="rect">
            <a:avLst/>
          </a:prstGeom>
          <a:noFill/>
          <a:ln>
            <a:noFill/>
          </a:ln>
        </p:spPr>
        <p:txBody>
          <a:bodyPr anchorCtr="0" anchor="ctr" bIns="300" lIns="300" spcFirstLastPara="1" rIns="300" wrap="square" tIns="300">
            <a:noAutofit/>
          </a:bodyPr>
          <a:lstStyle/>
          <a:p>
            <a:pPr indent="0" lvl="0" marL="0" marR="0" rtl="0" algn="ctr">
              <a:spcBef>
                <a:spcPts val="0"/>
              </a:spcBef>
              <a:spcAft>
                <a:spcPts val="0"/>
              </a:spcAft>
              <a:buClr>
                <a:srgbClr val="169B62"/>
              </a:buClr>
              <a:buSzPts val="1644"/>
              <a:buFont typeface="Arial"/>
              <a:buNone/>
            </a:pPr>
            <a:r>
              <a:rPr b="1" lang="en" sz="1644">
                <a:solidFill>
                  <a:srgbClr val="169B62"/>
                </a:solidFill>
                <a:latin typeface="Arial"/>
                <a:ea typeface="Arial"/>
                <a:cs typeface="Arial"/>
                <a:sym typeface="Arial"/>
              </a:rPr>
              <a:t>TP</a:t>
            </a:r>
            <a:endParaRPr sz="1644">
              <a:solidFill>
                <a:schemeClr val="dk1"/>
              </a:solidFill>
              <a:latin typeface="Arial"/>
              <a:ea typeface="Arial"/>
              <a:cs typeface="Arial"/>
              <a:sym typeface="Arial"/>
            </a:endParaRPr>
          </a:p>
          <a:p>
            <a:pPr indent="0" lvl="0" marL="0" marR="0" rtl="0" algn="ctr">
              <a:spcBef>
                <a:spcPts val="0"/>
              </a:spcBef>
              <a:spcAft>
                <a:spcPts val="0"/>
              </a:spcAft>
              <a:buClr>
                <a:srgbClr val="169B62"/>
              </a:buClr>
              <a:buSzPts val="1644"/>
              <a:buFont typeface="Arial"/>
              <a:buNone/>
            </a:pPr>
            <a:r>
              <a:rPr b="1" lang="en" sz="1644">
                <a:solidFill>
                  <a:srgbClr val="169B62"/>
                </a:solidFill>
                <a:latin typeface="Arial"/>
                <a:ea typeface="Arial"/>
                <a:cs typeface="Arial"/>
                <a:sym typeface="Arial"/>
              </a:rPr>
              <a:t>True positive</a:t>
            </a:r>
            <a:endParaRPr sz="1644">
              <a:solidFill>
                <a:schemeClr val="dk1"/>
              </a:solidFill>
              <a:latin typeface="Arial"/>
              <a:ea typeface="Arial"/>
              <a:cs typeface="Arial"/>
              <a:sym typeface="Arial"/>
            </a:endParaRPr>
          </a:p>
        </p:txBody>
      </p:sp>
      <p:sp>
        <p:nvSpPr>
          <p:cNvPr id="392" name="Google Shape;392;p28"/>
          <p:cNvSpPr/>
          <p:nvPr/>
        </p:nvSpPr>
        <p:spPr>
          <a:xfrm>
            <a:off x="4964228" y="2317227"/>
            <a:ext cx="1147500" cy="1147500"/>
          </a:xfrm>
          <a:prstGeom prst="rect">
            <a:avLst/>
          </a:prstGeom>
          <a:solidFill>
            <a:srgbClr val="FBE0E0"/>
          </a:solidFill>
          <a:ln cap="flat" cmpd="sng" w="26550">
            <a:solidFill>
              <a:srgbClr val="FFFFFF"/>
            </a:solidFill>
            <a:prstDash val="solid"/>
            <a:round/>
            <a:headEnd len="sm" w="sm" type="none"/>
            <a:tailEnd len="sm" w="sm" type="none"/>
          </a:ln>
        </p:spPr>
        <p:txBody>
          <a:bodyPr anchorCtr="0" anchor="t" bIns="51225" lIns="102475" spcFirstLastPara="1" rIns="102475" wrap="square" tIns="51225">
            <a:noAutofit/>
          </a:bodyPr>
          <a:lstStyle/>
          <a:p>
            <a:pPr indent="0" lvl="0" marL="0" marR="0" rtl="0" algn="l">
              <a:spcBef>
                <a:spcPts val="0"/>
              </a:spcBef>
              <a:spcAft>
                <a:spcPts val="0"/>
              </a:spcAft>
              <a:buNone/>
            </a:pPr>
            <a:r>
              <a:t/>
            </a:r>
            <a:endParaRPr sz="2092">
              <a:solidFill>
                <a:schemeClr val="dk1"/>
              </a:solidFill>
              <a:latin typeface="Arial"/>
              <a:ea typeface="Arial"/>
              <a:cs typeface="Arial"/>
              <a:sym typeface="Arial"/>
            </a:endParaRPr>
          </a:p>
        </p:txBody>
      </p:sp>
      <p:sp>
        <p:nvSpPr>
          <p:cNvPr id="393" name="Google Shape;393;p28"/>
          <p:cNvSpPr/>
          <p:nvPr/>
        </p:nvSpPr>
        <p:spPr>
          <a:xfrm>
            <a:off x="5025717" y="2645165"/>
            <a:ext cx="1024800" cy="594600"/>
          </a:xfrm>
          <a:prstGeom prst="rect">
            <a:avLst/>
          </a:prstGeom>
          <a:noFill/>
          <a:ln>
            <a:noFill/>
          </a:ln>
        </p:spPr>
        <p:txBody>
          <a:bodyPr anchorCtr="0" anchor="ctr" bIns="300" lIns="300" spcFirstLastPara="1" rIns="300" wrap="square" tIns="300">
            <a:noAutofit/>
          </a:bodyPr>
          <a:lstStyle/>
          <a:p>
            <a:pPr indent="0" lvl="0" marL="0" marR="0" rtl="0" algn="ctr">
              <a:spcBef>
                <a:spcPts val="0"/>
              </a:spcBef>
              <a:spcAft>
                <a:spcPts val="0"/>
              </a:spcAft>
              <a:buClr>
                <a:srgbClr val="D94D4D"/>
              </a:buClr>
              <a:buSzPts val="1644"/>
              <a:buFont typeface="Arial"/>
              <a:buNone/>
            </a:pPr>
            <a:r>
              <a:rPr b="1" lang="en" sz="1644">
                <a:solidFill>
                  <a:srgbClr val="D94D4D"/>
                </a:solidFill>
                <a:latin typeface="Arial"/>
                <a:ea typeface="Arial"/>
                <a:cs typeface="Arial"/>
                <a:sym typeface="Arial"/>
              </a:rPr>
              <a:t>FN</a:t>
            </a:r>
            <a:endParaRPr sz="1644">
              <a:solidFill>
                <a:schemeClr val="dk1"/>
              </a:solidFill>
              <a:latin typeface="Arial"/>
              <a:ea typeface="Arial"/>
              <a:cs typeface="Arial"/>
              <a:sym typeface="Arial"/>
            </a:endParaRPr>
          </a:p>
          <a:p>
            <a:pPr indent="0" lvl="0" marL="0" marR="0" rtl="0" algn="ctr">
              <a:spcBef>
                <a:spcPts val="0"/>
              </a:spcBef>
              <a:spcAft>
                <a:spcPts val="0"/>
              </a:spcAft>
              <a:buClr>
                <a:srgbClr val="D94D4D"/>
              </a:buClr>
              <a:buSzPts val="1644"/>
              <a:buFont typeface="Arial"/>
              <a:buNone/>
            </a:pPr>
            <a:r>
              <a:rPr b="1" lang="en" sz="1644">
                <a:solidFill>
                  <a:srgbClr val="D94D4D"/>
                </a:solidFill>
                <a:latin typeface="Arial"/>
                <a:ea typeface="Arial"/>
                <a:cs typeface="Arial"/>
                <a:sym typeface="Arial"/>
              </a:rPr>
              <a:t>False negative</a:t>
            </a:r>
            <a:endParaRPr sz="1644">
              <a:solidFill>
                <a:schemeClr val="dk1"/>
              </a:solidFill>
              <a:latin typeface="Arial"/>
              <a:ea typeface="Arial"/>
              <a:cs typeface="Arial"/>
              <a:sym typeface="Arial"/>
            </a:endParaRPr>
          </a:p>
        </p:txBody>
      </p:sp>
      <p:sp>
        <p:nvSpPr>
          <p:cNvPr id="394" name="Google Shape;394;p28"/>
          <p:cNvSpPr/>
          <p:nvPr/>
        </p:nvSpPr>
        <p:spPr>
          <a:xfrm>
            <a:off x="3816435" y="3465011"/>
            <a:ext cx="1147500" cy="1147500"/>
          </a:xfrm>
          <a:prstGeom prst="rect">
            <a:avLst/>
          </a:prstGeom>
          <a:solidFill>
            <a:srgbClr val="FBE0E0"/>
          </a:solidFill>
          <a:ln cap="flat" cmpd="sng" w="26550">
            <a:solidFill>
              <a:srgbClr val="FFFFFF"/>
            </a:solidFill>
            <a:prstDash val="solid"/>
            <a:round/>
            <a:headEnd len="sm" w="sm" type="none"/>
            <a:tailEnd len="sm" w="sm" type="none"/>
          </a:ln>
        </p:spPr>
        <p:txBody>
          <a:bodyPr anchorCtr="0" anchor="t" bIns="51225" lIns="102475" spcFirstLastPara="1" rIns="102475" wrap="square" tIns="51225">
            <a:noAutofit/>
          </a:bodyPr>
          <a:lstStyle/>
          <a:p>
            <a:pPr indent="0" lvl="0" marL="0" marR="0" rtl="0" algn="l">
              <a:spcBef>
                <a:spcPts val="0"/>
              </a:spcBef>
              <a:spcAft>
                <a:spcPts val="0"/>
              </a:spcAft>
              <a:buNone/>
            </a:pPr>
            <a:r>
              <a:t/>
            </a:r>
            <a:endParaRPr sz="2092">
              <a:solidFill>
                <a:schemeClr val="dk1"/>
              </a:solidFill>
              <a:latin typeface="Arial"/>
              <a:ea typeface="Arial"/>
              <a:cs typeface="Arial"/>
              <a:sym typeface="Arial"/>
            </a:endParaRPr>
          </a:p>
        </p:txBody>
      </p:sp>
      <p:sp>
        <p:nvSpPr>
          <p:cNvPr id="395" name="Google Shape;395;p28"/>
          <p:cNvSpPr/>
          <p:nvPr/>
        </p:nvSpPr>
        <p:spPr>
          <a:xfrm>
            <a:off x="3877924" y="3792949"/>
            <a:ext cx="1024800" cy="594600"/>
          </a:xfrm>
          <a:prstGeom prst="rect">
            <a:avLst/>
          </a:prstGeom>
          <a:noFill/>
          <a:ln>
            <a:noFill/>
          </a:ln>
        </p:spPr>
        <p:txBody>
          <a:bodyPr anchorCtr="0" anchor="ctr" bIns="300" lIns="300" spcFirstLastPara="1" rIns="300" wrap="square" tIns="300">
            <a:noAutofit/>
          </a:bodyPr>
          <a:lstStyle/>
          <a:p>
            <a:pPr indent="0" lvl="0" marL="0" marR="0" rtl="0" algn="ctr">
              <a:spcBef>
                <a:spcPts val="0"/>
              </a:spcBef>
              <a:spcAft>
                <a:spcPts val="0"/>
              </a:spcAft>
              <a:buClr>
                <a:srgbClr val="D94D4D"/>
              </a:buClr>
              <a:buSzPts val="1644"/>
              <a:buFont typeface="Arial"/>
              <a:buNone/>
            </a:pPr>
            <a:r>
              <a:rPr b="1" lang="en" sz="1644">
                <a:solidFill>
                  <a:srgbClr val="D94D4D"/>
                </a:solidFill>
                <a:latin typeface="Arial"/>
                <a:ea typeface="Arial"/>
                <a:cs typeface="Arial"/>
                <a:sym typeface="Arial"/>
              </a:rPr>
              <a:t>FP</a:t>
            </a:r>
            <a:endParaRPr sz="1644">
              <a:solidFill>
                <a:schemeClr val="dk1"/>
              </a:solidFill>
              <a:latin typeface="Arial"/>
              <a:ea typeface="Arial"/>
              <a:cs typeface="Arial"/>
              <a:sym typeface="Arial"/>
            </a:endParaRPr>
          </a:p>
          <a:p>
            <a:pPr indent="0" lvl="0" marL="0" marR="0" rtl="0" algn="ctr">
              <a:spcBef>
                <a:spcPts val="0"/>
              </a:spcBef>
              <a:spcAft>
                <a:spcPts val="0"/>
              </a:spcAft>
              <a:buClr>
                <a:srgbClr val="D94D4D"/>
              </a:buClr>
              <a:buSzPts val="1644"/>
              <a:buFont typeface="Arial"/>
              <a:buNone/>
            </a:pPr>
            <a:r>
              <a:rPr b="1" lang="en" sz="1644">
                <a:solidFill>
                  <a:srgbClr val="D94D4D"/>
                </a:solidFill>
                <a:latin typeface="Arial"/>
                <a:ea typeface="Arial"/>
                <a:cs typeface="Arial"/>
                <a:sym typeface="Arial"/>
              </a:rPr>
              <a:t>False positive</a:t>
            </a:r>
            <a:endParaRPr sz="1644">
              <a:solidFill>
                <a:schemeClr val="dk1"/>
              </a:solidFill>
              <a:latin typeface="Arial"/>
              <a:ea typeface="Arial"/>
              <a:cs typeface="Arial"/>
              <a:sym typeface="Arial"/>
            </a:endParaRPr>
          </a:p>
        </p:txBody>
      </p:sp>
      <p:sp>
        <p:nvSpPr>
          <p:cNvPr id="396" name="Google Shape;396;p28"/>
          <p:cNvSpPr/>
          <p:nvPr/>
        </p:nvSpPr>
        <p:spPr>
          <a:xfrm>
            <a:off x="4964228" y="3465011"/>
            <a:ext cx="1147500" cy="1147500"/>
          </a:xfrm>
          <a:prstGeom prst="rect">
            <a:avLst/>
          </a:prstGeom>
          <a:solidFill>
            <a:srgbClr val="DDF3E7"/>
          </a:solidFill>
          <a:ln cap="flat" cmpd="sng" w="26550">
            <a:solidFill>
              <a:srgbClr val="FFFFFF"/>
            </a:solidFill>
            <a:prstDash val="solid"/>
            <a:round/>
            <a:headEnd len="sm" w="sm" type="none"/>
            <a:tailEnd len="sm" w="sm" type="none"/>
          </a:ln>
        </p:spPr>
        <p:txBody>
          <a:bodyPr anchorCtr="0" anchor="t" bIns="51225" lIns="102475" spcFirstLastPara="1" rIns="102475" wrap="square" tIns="51225">
            <a:noAutofit/>
          </a:bodyPr>
          <a:lstStyle/>
          <a:p>
            <a:pPr indent="0" lvl="0" marL="0" marR="0" rtl="0" algn="l">
              <a:spcBef>
                <a:spcPts val="0"/>
              </a:spcBef>
              <a:spcAft>
                <a:spcPts val="0"/>
              </a:spcAft>
              <a:buNone/>
            </a:pPr>
            <a:r>
              <a:t/>
            </a:r>
            <a:endParaRPr sz="2092">
              <a:solidFill>
                <a:schemeClr val="dk1"/>
              </a:solidFill>
              <a:latin typeface="Arial"/>
              <a:ea typeface="Arial"/>
              <a:cs typeface="Arial"/>
              <a:sym typeface="Arial"/>
            </a:endParaRPr>
          </a:p>
        </p:txBody>
      </p:sp>
      <p:sp>
        <p:nvSpPr>
          <p:cNvPr id="397" name="Google Shape;397;p28"/>
          <p:cNvSpPr/>
          <p:nvPr/>
        </p:nvSpPr>
        <p:spPr>
          <a:xfrm>
            <a:off x="5025717" y="3792949"/>
            <a:ext cx="1024800" cy="594600"/>
          </a:xfrm>
          <a:prstGeom prst="rect">
            <a:avLst/>
          </a:prstGeom>
          <a:noFill/>
          <a:ln>
            <a:noFill/>
          </a:ln>
        </p:spPr>
        <p:txBody>
          <a:bodyPr anchorCtr="0" anchor="ctr" bIns="300" lIns="300" spcFirstLastPara="1" rIns="300" wrap="square" tIns="300">
            <a:noAutofit/>
          </a:bodyPr>
          <a:lstStyle/>
          <a:p>
            <a:pPr indent="0" lvl="0" marL="0" marR="0" rtl="0" algn="ctr">
              <a:spcBef>
                <a:spcPts val="0"/>
              </a:spcBef>
              <a:spcAft>
                <a:spcPts val="0"/>
              </a:spcAft>
              <a:buClr>
                <a:srgbClr val="169B62"/>
              </a:buClr>
              <a:buSzPts val="1644"/>
              <a:buFont typeface="Arial"/>
              <a:buNone/>
            </a:pPr>
            <a:r>
              <a:rPr b="1" lang="en" sz="1644">
                <a:solidFill>
                  <a:srgbClr val="169B62"/>
                </a:solidFill>
                <a:latin typeface="Arial"/>
                <a:ea typeface="Arial"/>
                <a:cs typeface="Arial"/>
                <a:sym typeface="Arial"/>
              </a:rPr>
              <a:t>TN</a:t>
            </a:r>
            <a:endParaRPr sz="1644">
              <a:solidFill>
                <a:schemeClr val="dk1"/>
              </a:solidFill>
              <a:latin typeface="Arial"/>
              <a:ea typeface="Arial"/>
              <a:cs typeface="Arial"/>
              <a:sym typeface="Arial"/>
            </a:endParaRPr>
          </a:p>
          <a:p>
            <a:pPr indent="0" lvl="0" marL="0" marR="0" rtl="0" algn="ctr">
              <a:spcBef>
                <a:spcPts val="0"/>
              </a:spcBef>
              <a:spcAft>
                <a:spcPts val="0"/>
              </a:spcAft>
              <a:buClr>
                <a:srgbClr val="169B62"/>
              </a:buClr>
              <a:buSzPts val="1644"/>
              <a:buFont typeface="Arial"/>
              <a:buNone/>
            </a:pPr>
            <a:r>
              <a:rPr b="1" lang="en" sz="1644">
                <a:solidFill>
                  <a:srgbClr val="169B62"/>
                </a:solidFill>
                <a:latin typeface="Arial"/>
                <a:ea typeface="Arial"/>
                <a:cs typeface="Arial"/>
                <a:sym typeface="Arial"/>
              </a:rPr>
              <a:t>True negative</a:t>
            </a:r>
            <a:endParaRPr sz="1644">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02" name="Shape 402"/>
        <p:cNvGrpSpPr/>
        <p:nvPr/>
      </p:nvGrpSpPr>
      <p:grpSpPr>
        <a:xfrm>
          <a:off x="0" y="0"/>
          <a:ext cx="0" cy="0"/>
          <a:chOff x="0" y="0"/>
          <a:chExt cx="0" cy="0"/>
        </a:xfrm>
      </p:grpSpPr>
      <p:sp>
        <p:nvSpPr>
          <p:cNvPr id="403" name="Google Shape;403;p29"/>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04" name="Google Shape;404;p29"/>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ASSESSMENT</a:t>
            </a:r>
            <a:endParaRPr sz="700">
              <a:solidFill>
                <a:schemeClr val="dk1"/>
              </a:solidFill>
              <a:latin typeface="Arial"/>
              <a:ea typeface="Arial"/>
              <a:cs typeface="Arial"/>
              <a:sym typeface="Arial"/>
            </a:endParaRPr>
          </a:p>
        </p:txBody>
      </p:sp>
      <p:sp>
        <p:nvSpPr>
          <p:cNvPr id="405" name="Google Shape;405;p29"/>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Four common metrics answer different questions</a:t>
            </a:r>
            <a:endParaRPr sz="2300">
              <a:solidFill>
                <a:schemeClr val="dk1"/>
              </a:solidFill>
              <a:latin typeface="Arial"/>
              <a:ea typeface="Arial"/>
              <a:cs typeface="Arial"/>
              <a:sym typeface="Arial"/>
            </a:endParaRPr>
          </a:p>
        </p:txBody>
      </p:sp>
      <p:sp>
        <p:nvSpPr>
          <p:cNvPr id="406" name="Google Shape;406;p29"/>
          <p:cNvSpPr/>
          <p:nvPr/>
        </p:nvSpPr>
        <p:spPr>
          <a:xfrm>
            <a:off x="493776" y="1110996"/>
            <a:ext cx="3943350" cy="720090"/>
          </a:xfrm>
          <a:prstGeom prst="roundRect">
            <a:avLst>
              <a:gd fmla="val 5714"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07" name="Google Shape;407;p29"/>
          <p:cNvSpPr/>
          <p:nvPr/>
        </p:nvSpPr>
        <p:spPr>
          <a:xfrm>
            <a:off x="493776" y="1110996"/>
            <a:ext cx="54864" cy="720090"/>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08" name="Google Shape;408;p29"/>
          <p:cNvSpPr/>
          <p:nvPr/>
        </p:nvSpPr>
        <p:spPr>
          <a:xfrm>
            <a:off x="665226" y="1234440"/>
            <a:ext cx="36347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200">
                <a:solidFill>
                  <a:srgbClr val="122033"/>
                </a:solidFill>
                <a:latin typeface="Arial"/>
                <a:ea typeface="Arial"/>
                <a:cs typeface="Arial"/>
                <a:sym typeface="Arial"/>
              </a:rPr>
              <a:t>Accuracy</a:t>
            </a:r>
            <a:endParaRPr sz="1200">
              <a:solidFill>
                <a:schemeClr val="dk1"/>
              </a:solidFill>
              <a:latin typeface="Arial"/>
              <a:ea typeface="Arial"/>
              <a:cs typeface="Arial"/>
              <a:sym typeface="Arial"/>
            </a:endParaRPr>
          </a:p>
        </p:txBody>
      </p:sp>
      <p:sp>
        <p:nvSpPr>
          <p:cNvPr id="409" name="Google Shape;409;p29"/>
          <p:cNvSpPr/>
          <p:nvPr/>
        </p:nvSpPr>
        <p:spPr>
          <a:xfrm>
            <a:off x="665226" y="1508760"/>
            <a:ext cx="3634740" cy="24003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000">
                <a:solidFill>
                  <a:srgbClr val="516071"/>
                </a:solidFill>
                <a:latin typeface="Arial"/>
                <a:ea typeface="Arial"/>
                <a:cs typeface="Arial"/>
                <a:sym typeface="Arial"/>
              </a:rPr>
              <a:t>Of all examples, what percent were predicted correctly?</a:t>
            </a:r>
            <a:endParaRPr sz="1000">
              <a:solidFill>
                <a:schemeClr val="dk1"/>
              </a:solidFill>
              <a:latin typeface="Arial"/>
              <a:ea typeface="Arial"/>
              <a:cs typeface="Arial"/>
              <a:sym typeface="Arial"/>
            </a:endParaRPr>
          </a:p>
        </p:txBody>
      </p:sp>
      <p:sp>
        <p:nvSpPr>
          <p:cNvPr id="410" name="Google Shape;410;p29"/>
          <p:cNvSpPr/>
          <p:nvPr/>
        </p:nvSpPr>
        <p:spPr>
          <a:xfrm>
            <a:off x="493776" y="2071116"/>
            <a:ext cx="3943350" cy="720090"/>
          </a:xfrm>
          <a:prstGeom prst="roundRect">
            <a:avLst>
              <a:gd fmla="val 5714"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11" name="Google Shape;411;p29"/>
          <p:cNvSpPr/>
          <p:nvPr/>
        </p:nvSpPr>
        <p:spPr>
          <a:xfrm>
            <a:off x="493776" y="2071116"/>
            <a:ext cx="54864" cy="720090"/>
          </a:xfrm>
          <a:prstGeom prst="rect">
            <a:avLst/>
          </a:prstGeom>
          <a:solidFill>
            <a:srgbClr val="D94D4D"/>
          </a:solidFill>
          <a:ln cap="flat" cmpd="sng" w="12700">
            <a:solidFill>
              <a:srgbClr val="D94D4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12" name="Google Shape;412;p29"/>
          <p:cNvSpPr/>
          <p:nvPr/>
        </p:nvSpPr>
        <p:spPr>
          <a:xfrm>
            <a:off x="665226" y="2194560"/>
            <a:ext cx="36347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200">
                <a:solidFill>
                  <a:srgbClr val="122033"/>
                </a:solidFill>
                <a:latin typeface="Arial"/>
                <a:ea typeface="Arial"/>
                <a:cs typeface="Arial"/>
                <a:sym typeface="Arial"/>
              </a:rPr>
              <a:t>Recall / Sensitivity</a:t>
            </a:r>
            <a:endParaRPr sz="1200">
              <a:solidFill>
                <a:schemeClr val="dk1"/>
              </a:solidFill>
              <a:latin typeface="Arial"/>
              <a:ea typeface="Arial"/>
              <a:cs typeface="Arial"/>
              <a:sym typeface="Arial"/>
            </a:endParaRPr>
          </a:p>
        </p:txBody>
      </p:sp>
      <p:sp>
        <p:nvSpPr>
          <p:cNvPr id="413" name="Google Shape;413;p29"/>
          <p:cNvSpPr/>
          <p:nvPr/>
        </p:nvSpPr>
        <p:spPr>
          <a:xfrm>
            <a:off x="665226" y="2468880"/>
            <a:ext cx="3634740" cy="24003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000">
                <a:solidFill>
                  <a:srgbClr val="516071"/>
                </a:solidFill>
                <a:latin typeface="Arial"/>
                <a:ea typeface="Arial"/>
                <a:cs typeface="Arial"/>
                <a:sym typeface="Arial"/>
              </a:rPr>
              <a:t>Of the actual positives, what percent did we detect?</a:t>
            </a:r>
            <a:endParaRPr sz="1000">
              <a:solidFill>
                <a:schemeClr val="dk1"/>
              </a:solidFill>
              <a:latin typeface="Arial"/>
              <a:ea typeface="Arial"/>
              <a:cs typeface="Arial"/>
              <a:sym typeface="Arial"/>
            </a:endParaRPr>
          </a:p>
        </p:txBody>
      </p:sp>
      <p:sp>
        <p:nvSpPr>
          <p:cNvPr id="414" name="Google Shape;414;p29"/>
          <p:cNvSpPr/>
          <p:nvPr/>
        </p:nvSpPr>
        <p:spPr>
          <a:xfrm>
            <a:off x="4697730" y="1110996"/>
            <a:ext cx="3943350" cy="720090"/>
          </a:xfrm>
          <a:prstGeom prst="roundRect">
            <a:avLst>
              <a:gd fmla="val 5714"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15" name="Google Shape;415;p29"/>
          <p:cNvSpPr/>
          <p:nvPr/>
        </p:nvSpPr>
        <p:spPr>
          <a:xfrm>
            <a:off x="4697730" y="1110996"/>
            <a:ext cx="54864" cy="720090"/>
          </a:xfrm>
          <a:prstGeom prst="rect">
            <a:avLst/>
          </a:prstGeom>
          <a:solidFill>
            <a:srgbClr val="169B62"/>
          </a:solidFill>
          <a:ln cap="flat" cmpd="sng" w="12700">
            <a:solidFill>
              <a:srgbClr val="169B6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16" name="Google Shape;416;p29"/>
          <p:cNvSpPr/>
          <p:nvPr/>
        </p:nvSpPr>
        <p:spPr>
          <a:xfrm>
            <a:off x="4869180" y="1234440"/>
            <a:ext cx="36347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200">
                <a:solidFill>
                  <a:srgbClr val="122033"/>
                </a:solidFill>
                <a:latin typeface="Arial"/>
                <a:ea typeface="Arial"/>
                <a:cs typeface="Arial"/>
                <a:sym typeface="Arial"/>
              </a:rPr>
              <a:t>Specificity</a:t>
            </a:r>
            <a:endParaRPr sz="1200">
              <a:solidFill>
                <a:schemeClr val="dk1"/>
              </a:solidFill>
              <a:latin typeface="Arial"/>
              <a:ea typeface="Arial"/>
              <a:cs typeface="Arial"/>
              <a:sym typeface="Arial"/>
            </a:endParaRPr>
          </a:p>
        </p:txBody>
      </p:sp>
      <p:sp>
        <p:nvSpPr>
          <p:cNvPr id="417" name="Google Shape;417;p29"/>
          <p:cNvSpPr/>
          <p:nvPr/>
        </p:nvSpPr>
        <p:spPr>
          <a:xfrm>
            <a:off x="4869180" y="1508760"/>
            <a:ext cx="3634740" cy="24003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000">
                <a:solidFill>
                  <a:srgbClr val="516071"/>
                </a:solidFill>
                <a:latin typeface="Arial"/>
                <a:ea typeface="Arial"/>
                <a:cs typeface="Arial"/>
                <a:sym typeface="Arial"/>
              </a:rPr>
              <a:t>Of the actual negatives, what percent did we correctly reject?</a:t>
            </a:r>
            <a:endParaRPr sz="1000">
              <a:solidFill>
                <a:schemeClr val="dk1"/>
              </a:solidFill>
              <a:latin typeface="Arial"/>
              <a:ea typeface="Arial"/>
              <a:cs typeface="Arial"/>
              <a:sym typeface="Arial"/>
            </a:endParaRPr>
          </a:p>
        </p:txBody>
      </p:sp>
      <p:sp>
        <p:nvSpPr>
          <p:cNvPr id="418" name="Google Shape;418;p29"/>
          <p:cNvSpPr/>
          <p:nvPr/>
        </p:nvSpPr>
        <p:spPr>
          <a:xfrm>
            <a:off x="4697730" y="2071116"/>
            <a:ext cx="3943350" cy="720090"/>
          </a:xfrm>
          <a:prstGeom prst="roundRect">
            <a:avLst>
              <a:gd fmla="val 5714"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19" name="Google Shape;419;p29"/>
          <p:cNvSpPr/>
          <p:nvPr/>
        </p:nvSpPr>
        <p:spPr>
          <a:xfrm>
            <a:off x="4697730" y="2071116"/>
            <a:ext cx="54864" cy="720090"/>
          </a:xfrm>
          <a:prstGeom prst="rect">
            <a:avLst/>
          </a:prstGeom>
          <a:solidFill>
            <a:srgbClr val="F59E0B"/>
          </a:solidFill>
          <a:ln cap="flat" cmpd="sng" w="12700">
            <a:solidFill>
              <a:srgbClr val="F59E0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20" name="Google Shape;420;p29"/>
          <p:cNvSpPr/>
          <p:nvPr/>
        </p:nvSpPr>
        <p:spPr>
          <a:xfrm>
            <a:off x="4869180" y="2194560"/>
            <a:ext cx="363474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200">
                <a:solidFill>
                  <a:srgbClr val="122033"/>
                </a:solidFill>
                <a:latin typeface="Arial"/>
                <a:ea typeface="Arial"/>
                <a:cs typeface="Arial"/>
                <a:sym typeface="Arial"/>
              </a:rPr>
              <a:t>Precision / PPV</a:t>
            </a:r>
            <a:endParaRPr sz="1200">
              <a:solidFill>
                <a:schemeClr val="dk1"/>
              </a:solidFill>
              <a:latin typeface="Arial"/>
              <a:ea typeface="Arial"/>
              <a:cs typeface="Arial"/>
              <a:sym typeface="Arial"/>
            </a:endParaRPr>
          </a:p>
        </p:txBody>
      </p:sp>
      <p:sp>
        <p:nvSpPr>
          <p:cNvPr id="421" name="Google Shape;421;p29"/>
          <p:cNvSpPr/>
          <p:nvPr/>
        </p:nvSpPr>
        <p:spPr>
          <a:xfrm>
            <a:off x="4869180" y="2468880"/>
            <a:ext cx="3634740" cy="24003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000">
                <a:solidFill>
                  <a:srgbClr val="516071"/>
                </a:solidFill>
                <a:latin typeface="Arial"/>
                <a:ea typeface="Arial"/>
                <a:cs typeface="Arial"/>
                <a:sym typeface="Arial"/>
              </a:rPr>
              <a:t>Of the predicted positives, what percent were truly positive?</a:t>
            </a:r>
            <a:endParaRPr sz="1000">
              <a:solidFill>
                <a:schemeClr val="dk1"/>
              </a:solidFill>
              <a:latin typeface="Arial"/>
              <a:ea typeface="Arial"/>
              <a:cs typeface="Arial"/>
              <a:sym typeface="Arial"/>
            </a:endParaRPr>
          </a:p>
        </p:txBody>
      </p:sp>
      <p:sp>
        <p:nvSpPr>
          <p:cNvPr id="422" name="Google Shape;422;p29"/>
          <p:cNvSpPr/>
          <p:nvPr/>
        </p:nvSpPr>
        <p:spPr>
          <a:xfrm>
            <a:off x="5736450" y="3435849"/>
            <a:ext cx="3007500" cy="1054500"/>
          </a:xfrm>
          <a:prstGeom prst="roundRect">
            <a:avLst>
              <a:gd fmla="val 6667" name="adj"/>
            </a:avLst>
          </a:prstGeom>
          <a:solidFill>
            <a:srgbClr val="EEE6FF"/>
          </a:solidFill>
          <a:ln cap="flat" cmpd="sng" w="12700">
            <a:solidFill>
              <a:srgbClr val="EEE6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23" name="Google Shape;423;p29"/>
          <p:cNvSpPr/>
          <p:nvPr/>
        </p:nvSpPr>
        <p:spPr>
          <a:xfrm>
            <a:off x="5736450" y="3557800"/>
            <a:ext cx="3007500" cy="81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600"/>
              <a:buFont typeface="Arial"/>
              <a:buNone/>
            </a:pPr>
            <a:r>
              <a:rPr b="1" lang="en" sz="1600">
                <a:solidFill>
                  <a:srgbClr val="7C3AED"/>
                </a:solidFill>
                <a:latin typeface="Arial"/>
                <a:ea typeface="Arial"/>
                <a:cs typeface="Arial"/>
                <a:sym typeface="Arial"/>
              </a:rPr>
              <a:t>Shortcut: ask “What group is in the denominator?”</a:t>
            </a:r>
            <a:endParaRPr sz="1600">
              <a:solidFill>
                <a:schemeClr val="dk1"/>
              </a:solidFill>
              <a:latin typeface="Arial"/>
              <a:ea typeface="Arial"/>
              <a:cs typeface="Arial"/>
              <a:sym typeface="Arial"/>
            </a:endParaRPr>
          </a:p>
        </p:txBody>
      </p:sp>
      <p:pic>
        <p:nvPicPr>
          <p:cNvPr id="424" name="Google Shape;424;p29"/>
          <p:cNvPicPr preferRelativeResize="0"/>
          <p:nvPr/>
        </p:nvPicPr>
        <p:blipFill>
          <a:blip r:embed="rId3">
            <a:alphaModFix/>
          </a:blip>
          <a:stretch>
            <a:fillRect/>
          </a:stretch>
        </p:blipFill>
        <p:spPr>
          <a:xfrm>
            <a:off x="548650" y="2914862"/>
            <a:ext cx="4870224" cy="2096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29" name="Shape 429"/>
        <p:cNvGrpSpPr/>
        <p:nvPr/>
      </p:nvGrpSpPr>
      <p:grpSpPr>
        <a:xfrm>
          <a:off x="0" y="0"/>
          <a:ext cx="0" cy="0"/>
          <a:chOff x="0" y="0"/>
          <a:chExt cx="0" cy="0"/>
        </a:xfrm>
      </p:grpSpPr>
      <p:sp>
        <p:nvSpPr>
          <p:cNvPr id="430" name="Google Shape;430;p30"/>
          <p:cNvSpPr/>
          <p:nvPr/>
        </p:nvSpPr>
        <p:spPr>
          <a:xfrm>
            <a:off x="0" y="0"/>
            <a:ext cx="9143771" cy="5143500"/>
          </a:xfrm>
          <a:prstGeom prst="rect">
            <a:avLst/>
          </a:prstGeom>
          <a:solidFill>
            <a:srgbClr val="F7F9FC"/>
          </a:solidFill>
          <a:ln cap="flat" cmpd="sng" w="12700">
            <a:solidFill>
              <a:srgbClr val="F7F9FC">
                <a:alpha val="0"/>
              </a:srgb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31" name="Google Shape;431;p30"/>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32" name="Google Shape;432;p30"/>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ASSESSMENT</a:t>
            </a:r>
            <a:endParaRPr sz="700">
              <a:solidFill>
                <a:schemeClr val="dk1"/>
              </a:solidFill>
              <a:latin typeface="Arial"/>
              <a:ea typeface="Arial"/>
              <a:cs typeface="Arial"/>
              <a:sym typeface="Arial"/>
            </a:endParaRPr>
          </a:p>
        </p:txBody>
      </p:sp>
      <p:sp>
        <p:nvSpPr>
          <p:cNvPr id="433" name="Google Shape;433;p30"/>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Continuous targets need error metrics</a:t>
            </a:r>
            <a:endParaRPr sz="2300">
              <a:solidFill>
                <a:schemeClr val="dk1"/>
              </a:solidFill>
              <a:latin typeface="Arial"/>
              <a:ea typeface="Arial"/>
              <a:cs typeface="Arial"/>
              <a:sym typeface="Arial"/>
            </a:endParaRPr>
          </a:p>
        </p:txBody>
      </p:sp>
      <p:sp>
        <p:nvSpPr>
          <p:cNvPr id="434" name="Google Shape;434;p30"/>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For regression, we compare predicted values against true values.</a:t>
            </a:r>
            <a:endParaRPr sz="1100">
              <a:solidFill>
                <a:schemeClr val="dk1"/>
              </a:solidFill>
              <a:latin typeface="Arial"/>
              <a:ea typeface="Arial"/>
              <a:cs typeface="Arial"/>
              <a:sym typeface="Arial"/>
            </a:endParaRPr>
          </a:p>
        </p:txBody>
      </p:sp>
      <p:sp>
        <p:nvSpPr>
          <p:cNvPr id="435" name="Google Shape;435;p30"/>
          <p:cNvSpPr/>
          <p:nvPr/>
        </p:nvSpPr>
        <p:spPr>
          <a:xfrm>
            <a:off x="488575" y="1374099"/>
            <a:ext cx="3943200" cy="2803800"/>
          </a:xfrm>
          <a:prstGeom prst="roundRect">
            <a:avLst>
              <a:gd fmla="val 3030"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215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36" name="Google Shape;436;p30"/>
          <p:cNvSpPr/>
          <p:nvPr/>
        </p:nvSpPr>
        <p:spPr>
          <a:xfrm>
            <a:off x="4834890" y="1220724"/>
            <a:ext cx="3154680" cy="493776"/>
          </a:xfrm>
          <a:prstGeom prst="roundRect">
            <a:avLst>
              <a:gd fmla="val 8333" name="adj"/>
            </a:avLst>
          </a:prstGeom>
          <a:solidFill>
            <a:srgbClr val="D9E8FF"/>
          </a:solidFill>
          <a:ln cap="flat" cmpd="sng" w="12700">
            <a:solidFill>
              <a:srgbClr val="D9E8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37" name="Google Shape;437;p30"/>
          <p:cNvSpPr/>
          <p:nvPr/>
        </p:nvSpPr>
        <p:spPr>
          <a:xfrm>
            <a:off x="4889754" y="1275588"/>
            <a:ext cx="3044952" cy="384048"/>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122033"/>
              </a:buClr>
              <a:buSzPts val="1400"/>
              <a:buFont typeface="Arial"/>
              <a:buNone/>
            </a:pPr>
            <a:r>
              <a:rPr b="1" lang="en" sz="1400">
                <a:solidFill>
                  <a:srgbClr val="122033"/>
                </a:solidFill>
                <a:latin typeface="Arial"/>
                <a:ea typeface="Arial"/>
                <a:cs typeface="Arial"/>
                <a:sym typeface="Arial"/>
              </a:rPr>
              <a:t>MSE averages squared errors</a:t>
            </a:r>
            <a:endParaRPr sz="1400">
              <a:solidFill>
                <a:schemeClr val="dk1"/>
              </a:solidFill>
              <a:latin typeface="Arial"/>
              <a:ea typeface="Arial"/>
              <a:cs typeface="Arial"/>
              <a:sym typeface="Arial"/>
            </a:endParaRPr>
          </a:p>
        </p:txBody>
      </p:sp>
      <p:sp>
        <p:nvSpPr>
          <p:cNvPr id="438" name="Google Shape;438;p30"/>
          <p:cNvSpPr/>
          <p:nvPr/>
        </p:nvSpPr>
        <p:spPr>
          <a:xfrm>
            <a:off x="4834890" y="1975104"/>
            <a:ext cx="3154680" cy="493776"/>
          </a:xfrm>
          <a:prstGeom prst="roundRect">
            <a:avLst>
              <a:gd fmla="val 8333" name="adj"/>
            </a:avLst>
          </a:prstGeom>
          <a:solidFill>
            <a:srgbClr val="D7F2F1"/>
          </a:solidFill>
          <a:ln cap="flat" cmpd="sng" w="12700">
            <a:solidFill>
              <a:srgbClr val="D7F2F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39" name="Google Shape;439;p30"/>
          <p:cNvSpPr/>
          <p:nvPr/>
        </p:nvSpPr>
        <p:spPr>
          <a:xfrm>
            <a:off x="4889754" y="2029968"/>
            <a:ext cx="3044952" cy="384048"/>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122033"/>
              </a:buClr>
              <a:buSzPts val="1400"/>
              <a:buFont typeface="Arial"/>
              <a:buNone/>
            </a:pPr>
            <a:r>
              <a:rPr b="1" lang="en" sz="1400">
                <a:solidFill>
                  <a:srgbClr val="122033"/>
                </a:solidFill>
                <a:latin typeface="Arial"/>
                <a:ea typeface="Arial"/>
                <a:cs typeface="Arial"/>
                <a:sym typeface="Arial"/>
              </a:rPr>
              <a:t>RMSE = square root of MSE</a:t>
            </a:r>
            <a:endParaRPr sz="1400">
              <a:solidFill>
                <a:schemeClr val="dk1"/>
              </a:solidFill>
              <a:latin typeface="Arial"/>
              <a:ea typeface="Arial"/>
              <a:cs typeface="Arial"/>
              <a:sym typeface="Arial"/>
            </a:endParaRPr>
          </a:p>
        </p:txBody>
      </p:sp>
      <p:sp>
        <p:nvSpPr>
          <p:cNvPr id="440" name="Google Shape;440;p30"/>
          <p:cNvSpPr/>
          <p:nvPr/>
        </p:nvSpPr>
        <p:spPr>
          <a:xfrm>
            <a:off x="4834890" y="2729484"/>
            <a:ext cx="3154680" cy="493776"/>
          </a:xfrm>
          <a:prstGeom prst="roundRect">
            <a:avLst>
              <a:gd fmla="val 8333" name="adj"/>
            </a:avLst>
          </a:prstGeom>
          <a:solidFill>
            <a:srgbClr val="FCECCB"/>
          </a:solidFill>
          <a:ln cap="flat" cmpd="sng" w="12700">
            <a:solidFill>
              <a:srgbClr val="FCECC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41" name="Google Shape;441;p30"/>
          <p:cNvSpPr/>
          <p:nvPr/>
        </p:nvSpPr>
        <p:spPr>
          <a:xfrm>
            <a:off x="4889754" y="2784348"/>
            <a:ext cx="3044952" cy="384048"/>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122033"/>
              </a:buClr>
              <a:buSzPts val="1400"/>
              <a:buFont typeface="Arial"/>
              <a:buNone/>
            </a:pPr>
            <a:r>
              <a:rPr b="1" lang="en" sz="1400">
                <a:solidFill>
                  <a:srgbClr val="122033"/>
                </a:solidFill>
                <a:latin typeface="Arial"/>
                <a:ea typeface="Arial"/>
                <a:cs typeface="Arial"/>
                <a:sym typeface="Arial"/>
              </a:rPr>
              <a:t>MAE averages absolute errors</a:t>
            </a:r>
            <a:endParaRPr sz="1400">
              <a:solidFill>
                <a:schemeClr val="dk1"/>
              </a:solidFill>
              <a:latin typeface="Arial"/>
              <a:ea typeface="Arial"/>
              <a:cs typeface="Arial"/>
              <a:sym typeface="Arial"/>
            </a:endParaRPr>
          </a:p>
        </p:txBody>
      </p:sp>
      <p:sp>
        <p:nvSpPr>
          <p:cNvPr id="442" name="Google Shape;442;p30"/>
          <p:cNvSpPr/>
          <p:nvPr/>
        </p:nvSpPr>
        <p:spPr>
          <a:xfrm>
            <a:off x="4924044" y="3545586"/>
            <a:ext cx="3120390" cy="48006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122033"/>
              </a:buClr>
              <a:buSzPts val="1300"/>
              <a:buFont typeface="Arial"/>
              <a:buNone/>
            </a:pPr>
            <a:r>
              <a:rPr b="1" lang="en" sz="1300">
                <a:solidFill>
                  <a:srgbClr val="122033"/>
                </a:solidFill>
                <a:latin typeface="Arial"/>
                <a:ea typeface="Arial"/>
                <a:cs typeface="Arial"/>
                <a:sym typeface="Arial"/>
              </a:rPr>
              <a:t>Squared-error metrics punish large errors especially strongly. MAE is less dominated by extreme outliers.</a:t>
            </a:r>
            <a:endParaRPr sz="1300">
              <a:solidFill>
                <a:schemeClr val="dk1"/>
              </a:solidFill>
              <a:latin typeface="Arial"/>
              <a:ea typeface="Arial"/>
              <a:cs typeface="Arial"/>
              <a:sym typeface="Arial"/>
            </a:endParaRPr>
          </a:p>
        </p:txBody>
      </p:sp>
      <p:pic>
        <p:nvPicPr>
          <p:cNvPr descr="Evaluation Metrics in Machine Learning: MAE, MSE, RMSE &amp; R² Explained  Simply | by Angel B | GoPenAI" id="443" name="Google Shape;443;p30"/>
          <p:cNvPicPr preferRelativeResize="0"/>
          <p:nvPr/>
        </p:nvPicPr>
        <p:blipFill>
          <a:blip r:embed="rId3">
            <a:alphaModFix/>
          </a:blip>
          <a:stretch>
            <a:fillRect/>
          </a:stretch>
        </p:blipFill>
        <p:spPr>
          <a:xfrm>
            <a:off x="613188" y="1704675"/>
            <a:ext cx="3693975" cy="2142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48" name="Shape 448"/>
        <p:cNvGrpSpPr/>
        <p:nvPr/>
      </p:nvGrpSpPr>
      <p:grpSpPr>
        <a:xfrm>
          <a:off x="0" y="0"/>
          <a:ext cx="0" cy="0"/>
          <a:chOff x="0" y="0"/>
          <a:chExt cx="0" cy="0"/>
        </a:xfrm>
      </p:grpSpPr>
      <p:sp>
        <p:nvSpPr>
          <p:cNvPr id="449" name="Google Shape;449;p31"/>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50" name="Google Shape;450;p31"/>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ASSESSMENT</a:t>
            </a:r>
            <a:endParaRPr sz="700">
              <a:solidFill>
                <a:schemeClr val="dk1"/>
              </a:solidFill>
              <a:latin typeface="Arial"/>
              <a:ea typeface="Arial"/>
              <a:cs typeface="Arial"/>
              <a:sym typeface="Arial"/>
            </a:endParaRPr>
          </a:p>
        </p:txBody>
      </p:sp>
      <p:sp>
        <p:nvSpPr>
          <p:cNvPr id="451" name="Google Shape;451;p31"/>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ROC curves show threshold tradeoffs</a:t>
            </a:r>
            <a:endParaRPr sz="2300">
              <a:solidFill>
                <a:schemeClr val="dk1"/>
              </a:solidFill>
              <a:latin typeface="Arial"/>
              <a:ea typeface="Arial"/>
              <a:cs typeface="Arial"/>
              <a:sym typeface="Arial"/>
            </a:endParaRPr>
          </a:p>
        </p:txBody>
      </p:sp>
      <p:sp>
        <p:nvSpPr>
          <p:cNvPr id="452" name="Google Shape;452;p31"/>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AUC summarizes how well scores separate positives from negatives across thresholds.</a:t>
            </a:r>
            <a:endParaRPr sz="1100">
              <a:solidFill>
                <a:schemeClr val="dk1"/>
              </a:solidFill>
              <a:latin typeface="Arial"/>
              <a:ea typeface="Arial"/>
              <a:cs typeface="Arial"/>
              <a:sym typeface="Arial"/>
            </a:endParaRPr>
          </a:p>
        </p:txBody>
      </p:sp>
      <p:sp>
        <p:nvSpPr>
          <p:cNvPr id="453" name="Google Shape;453;p31"/>
          <p:cNvSpPr/>
          <p:nvPr/>
        </p:nvSpPr>
        <p:spPr>
          <a:xfrm>
            <a:off x="5048250" y="1152150"/>
            <a:ext cx="3695700" cy="1121100"/>
          </a:xfrm>
          <a:prstGeom prst="roundRect">
            <a:avLst>
              <a:gd fmla="val 5714"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54" name="Google Shape;454;p31"/>
          <p:cNvSpPr/>
          <p:nvPr/>
        </p:nvSpPr>
        <p:spPr>
          <a:xfrm>
            <a:off x="5048250" y="1152150"/>
            <a:ext cx="66300" cy="1121100"/>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55" name="Google Shape;455;p31"/>
          <p:cNvSpPr/>
          <p:nvPr/>
        </p:nvSpPr>
        <p:spPr>
          <a:xfrm>
            <a:off x="5255867" y="1260302"/>
            <a:ext cx="33219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700">
                <a:solidFill>
                  <a:srgbClr val="122033"/>
                </a:solidFill>
                <a:latin typeface="Arial"/>
                <a:ea typeface="Arial"/>
                <a:cs typeface="Arial"/>
                <a:sym typeface="Arial"/>
              </a:rPr>
              <a:t>ROC curve</a:t>
            </a:r>
            <a:endParaRPr sz="1700">
              <a:solidFill>
                <a:schemeClr val="dk1"/>
              </a:solidFill>
              <a:latin typeface="Arial"/>
              <a:ea typeface="Arial"/>
              <a:cs typeface="Arial"/>
              <a:sym typeface="Arial"/>
            </a:endParaRPr>
          </a:p>
        </p:txBody>
      </p:sp>
      <p:sp>
        <p:nvSpPr>
          <p:cNvPr id="456" name="Google Shape;456;p31"/>
          <p:cNvSpPr/>
          <p:nvPr/>
        </p:nvSpPr>
        <p:spPr>
          <a:xfrm>
            <a:off x="5255867" y="1692461"/>
            <a:ext cx="3321900" cy="326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500">
                <a:solidFill>
                  <a:srgbClr val="516071"/>
                </a:solidFill>
                <a:latin typeface="Arial"/>
                <a:ea typeface="Arial"/>
                <a:cs typeface="Arial"/>
                <a:sym typeface="Arial"/>
              </a:rPr>
              <a:t>Plots true positive rate against false positive rate as the threshold changes.</a:t>
            </a:r>
            <a:endParaRPr sz="1500">
              <a:solidFill>
                <a:schemeClr val="dk1"/>
              </a:solidFill>
              <a:latin typeface="Arial"/>
              <a:ea typeface="Arial"/>
              <a:cs typeface="Arial"/>
              <a:sym typeface="Arial"/>
            </a:endParaRPr>
          </a:p>
        </p:txBody>
      </p:sp>
      <p:sp>
        <p:nvSpPr>
          <p:cNvPr id="457" name="Google Shape;457;p31"/>
          <p:cNvSpPr/>
          <p:nvPr/>
        </p:nvSpPr>
        <p:spPr>
          <a:xfrm>
            <a:off x="5048250" y="2456350"/>
            <a:ext cx="3695700" cy="978300"/>
          </a:xfrm>
          <a:prstGeom prst="roundRect">
            <a:avLst>
              <a:gd fmla="val 5714"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58" name="Google Shape;458;p31"/>
          <p:cNvSpPr/>
          <p:nvPr/>
        </p:nvSpPr>
        <p:spPr>
          <a:xfrm>
            <a:off x="5048250" y="2456350"/>
            <a:ext cx="66300" cy="978300"/>
          </a:xfrm>
          <a:prstGeom prst="rect">
            <a:avLst/>
          </a:prstGeom>
          <a:solidFill>
            <a:srgbClr val="7C3AED"/>
          </a:solidFill>
          <a:ln cap="flat" cmpd="sng" w="12700">
            <a:solidFill>
              <a:srgbClr val="7C3AE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59" name="Google Shape;459;p31"/>
          <p:cNvSpPr/>
          <p:nvPr/>
        </p:nvSpPr>
        <p:spPr>
          <a:xfrm>
            <a:off x="5255867" y="2600220"/>
            <a:ext cx="33219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700">
                <a:solidFill>
                  <a:srgbClr val="122033"/>
                </a:solidFill>
                <a:latin typeface="Arial"/>
                <a:ea typeface="Arial"/>
                <a:cs typeface="Arial"/>
                <a:sym typeface="Arial"/>
              </a:rPr>
              <a:t>AUC</a:t>
            </a:r>
            <a:endParaRPr sz="1700">
              <a:solidFill>
                <a:schemeClr val="dk1"/>
              </a:solidFill>
              <a:latin typeface="Arial"/>
              <a:ea typeface="Arial"/>
              <a:cs typeface="Arial"/>
              <a:sym typeface="Arial"/>
            </a:endParaRPr>
          </a:p>
        </p:txBody>
      </p:sp>
      <p:sp>
        <p:nvSpPr>
          <p:cNvPr id="460" name="Google Shape;460;p31"/>
          <p:cNvSpPr/>
          <p:nvPr/>
        </p:nvSpPr>
        <p:spPr>
          <a:xfrm>
            <a:off x="5255867" y="2984755"/>
            <a:ext cx="3321900" cy="326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500">
                <a:solidFill>
                  <a:srgbClr val="516071"/>
                </a:solidFill>
                <a:latin typeface="Arial"/>
                <a:ea typeface="Arial"/>
                <a:cs typeface="Arial"/>
                <a:sym typeface="Arial"/>
              </a:rPr>
              <a:t>Area under the ROC curve. Higher values mean better separation.</a:t>
            </a:r>
            <a:endParaRPr sz="1500">
              <a:solidFill>
                <a:schemeClr val="dk1"/>
              </a:solidFill>
              <a:latin typeface="Arial"/>
              <a:ea typeface="Arial"/>
              <a:cs typeface="Arial"/>
              <a:sym typeface="Arial"/>
            </a:endParaRPr>
          </a:p>
        </p:txBody>
      </p:sp>
      <p:sp>
        <p:nvSpPr>
          <p:cNvPr id="461" name="Google Shape;461;p31"/>
          <p:cNvSpPr/>
          <p:nvPr/>
        </p:nvSpPr>
        <p:spPr>
          <a:xfrm>
            <a:off x="5048250" y="3760550"/>
            <a:ext cx="3695700" cy="1121100"/>
          </a:xfrm>
          <a:prstGeom prst="roundRect">
            <a:avLst>
              <a:gd fmla="val 5714"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62" name="Google Shape;462;p31"/>
          <p:cNvSpPr/>
          <p:nvPr/>
        </p:nvSpPr>
        <p:spPr>
          <a:xfrm>
            <a:off x="5048250" y="3760550"/>
            <a:ext cx="66300" cy="1121100"/>
          </a:xfrm>
          <a:prstGeom prst="rect">
            <a:avLst/>
          </a:prstGeom>
          <a:solidFill>
            <a:srgbClr val="079A99"/>
          </a:solidFill>
          <a:ln cap="flat" cmpd="sng" w="12700">
            <a:solidFill>
              <a:srgbClr val="079A99"/>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900">
              <a:solidFill>
                <a:schemeClr val="dk1"/>
              </a:solidFill>
              <a:latin typeface="Arial"/>
              <a:ea typeface="Arial"/>
              <a:cs typeface="Arial"/>
              <a:sym typeface="Arial"/>
            </a:endParaRPr>
          </a:p>
        </p:txBody>
      </p:sp>
      <p:sp>
        <p:nvSpPr>
          <p:cNvPr id="463" name="Google Shape;463;p31"/>
          <p:cNvSpPr/>
          <p:nvPr/>
        </p:nvSpPr>
        <p:spPr>
          <a:xfrm>
            <a:off x="5255867" y="3856795"/>
            <a:ext cx="33219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700">
                <a:solidFill>
                  <a:srgbClr val="122033"/>
                </a:solidFill>
                <a:latin typeface="Arial"/>
                <a:ea typeface="Arial"/>
                <a:cs typeface="Arial"/>
                <a:sym typeface="Arial"/>
              </a:rPr>
              <a:t>Interpretation</a:t>
            </a:r>
            <a:endParaRPr sz="1700">
              <a:solidFill>
                <a:schemeClr val="dk1"/>
              </a:solidFill>
              <a:latin typeface="Arial"/>
              <a:ea typeface="Arial"/>
              <a:cs typeface="Arial"/>
              <a:sym typeface="Arial"/>
            </a:endParaRPr>
          </a:p>
        </p:txBody>
      </p:sp>
      <p:sp>
        <p:nvSpPr>
          <p:cNvPr id="464" name="Google Shape;464;p31"/>
          <p:cNvSpPr/>
          <p:nvPr/>
        </p:nvSpPr>
        <p:spPr>
          <a:xfrm>
            <a:off x="5255867" y="4300861"/>
            <a:ext cx="3321900" cy="3261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500">
                <a:solidFill>
                  <a:srgbClr val="516071"/>
                </a:solidFill>
                <a:latin typeface="Arial"/>
                <a:ea typeface="Arial"/>
                <a:cs typeface="Arial"/>
                <a:sym typeface="Arial"/>
              </a:rPr>
              <a:t>Random-like performance is near 0.5 for balanced binary data. Perfect separation is 1.</a:t>
            </a:r>
            <a:endParaRPr sz="1500">
              <a:solidFill>
                <a:schemeClr val="dk1"/>
              </a:solidFill>
              <a:latin typeface="Arial"/>
              <a:ea typeface="Arial"/>
              <a:cs typeface="Arial"/>
              <a:sym typeface="Arial"/>
            </a:endParaRPr>
          </a:p>
        </p:txBody>
      </p:sp>
      <p:pic>
        <p:nvPicPr>
          <p:cNvPr id="465" name="Google Shape;465;p31"/>
          <p:cNvPicPr preferRelativeResize="0"/>
          <p:nvPr/>
        </p:nvPicPr>
        <p:blipFill>
          <a:blip r:embed="rId3">
            <a:alphaModFix/>
          </a:blip>
          <a:stretch>
            <a:fillRect/>
          </a:stretch>
        </p:blipFill>
        <p:spPr>
          <a:xfrm>
            <a:off x="377188" y="1365663"/>
            <a:ext cx="4297150" cy="31596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70" name="Shape 470"/>
        <p:cNvGrpSpPr/>
        <p:nvPr/>
      </p:nvGrpSpPr>
      <p:grpSpPr>
        <a:xfrm>
          <a:off x="0" y="0"/>
          <a:ext cx="0" cy="0"/>
          <a:chOff x="0" y="0"/>
          <a:chExt cx="0" cy="0"/>
        </a:xfrm>
      </p:grpSpPr>
      <p:sp>
        <p:nvSpPr>
          <p:cNvPr id="471" name="Google Shape;471;p32"/>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72" name="Google Shape;472;p32"/>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SELECTION</a:t>
            </a:r>
            <a:endParaRPr sz="700">
              <a:solidFill>
                <a:schemeClr val="dk1"/>
              </a:solidFill>
              <a:latin typeface="Arial"/>
              <a:ea typeface="Arial"/>
              <a:cs typeface="Arial"/>
              <a:sym typeface="Arial"/>
            </a:endParaRPr>
          </a:p>
        </p:txBody>
      </p:sp>
      <p:sp>
        <p:nvSpPr>
          <p:cNvPr id="473" name="Google Shape;473;p32"/>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Model selection prevents overfitting</a:t>
            </a:r>
            <a:endParaRPr sz="2300">
              <a:solidFill>
                <a:schemeClr val="dk1"/>
              </a:solidFill>
              <a:latin typeface="Arial"/>
              <a:ea typeface="Arial"/>
              <a:cs typeface="Arial"/>
              <a:sym typeface="Arial"/>
            </a:endParaRPr>
          </a:p>
        </p:txBody>
      </p:sp>
      <p:sp>
        <p:nvSpPr>
          <p:cNvPr id="474" name="Google Shape;474;p32"/>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Trying many models is allowed only if we evaluate them on data not used for fitting.</a:t>
            </a:r>
            <a:endParaRPr sz="1100">
              <a:solidFill>
                <a:schemeClr val="dk1"/>
              </a:solidFill>
              <a:latin typeface="Arial"/>
              <a:ea typeface="Arial"/>
              <a:cs typeface="Arial"/>
              <a:sym typeface="Arial"/>
            </a:endParaRPr>
          </a:p>
        </p:txBody>
      </p:sp>
      <p:sp>
        <p:nvSpPr>
          <p:cNvPr id="475" name="Google Shape;475;p32"/>
          <p:cNvSpPr/>
          <p:nvPr/>
        </p:nvSpPr>
        <p:spPr>
          <a:xfrm>
            <a:off x="659537" y="1520300"/>
            <a:ext cx="2380200" cy="1164900"/>
          </a:xfrm>
          <a:prstGeom prst="roundRect">
            <a:avLst>
              <a:gd fmla="val 5217" name="adj"/>
            </a:avLst>
          </a:prstGeom>
          <a:solidFill>
            <a:srgbClr val="FFFFFF"/>
          </a:solidFill>
          <a:ln cap="flat" cmpd="sng" w="18750">
            <a:solidFill>
              <a:srgbClr val="DDE5EF"/>
            </a:solidFill>
            <a:prstDash val="solid"/>
            <a:round/>
            <a:headEnd len="sm" w="sm" type="none"/>
            <a:tailEnd len="sm" w="sm" type="none"/>
          </a:ln>
          <a:effectLst>
            <a:outerShdw blurRad="22508" rotWithShape="0" algn="bl" dir="2700000" dist="18757">
              <a:srgbClr val="000000">
                <a:alpha val="10196"/>
              </a:srgbClr>
            </a:outerShdw>
          </a:effectLst>
        </p:spPr>
        <p:txBody>
          <a:bodyPr anchorCtr="0" anchor="t" bIns="50600" lIns="101275" spcFirstLastPara="1" rIns="101275" wrap="square" tIns="50600">
            <a:noAutofit/>
          </a:bodyPr>
          <a:lstStyle/>
          <a:p>
            <a:pPr indent="0" lvl="0" marL="0" marR="0" rtl="0" algn="l">
              <a:spcBef>
                <a:spcPts val="0"/>
              </a:spcBef>
              <a:spcAft>
                <a:spcPts val="0"/>
              </a:spcAft>
              <a:buNone/>
            </a:pPr>
            <a:r>
              <a:t/>
            </a:r>
            <a:endParaRPr sz="2068">
              <a:solidFill>
                <a:schemeClr val="dk1"/>
              </a:solidFill>
              <a:latin typeface="Arial"/>
              <a:ea typeface="Arial"/>
              <a:cs typeface="Arial"/>
              <a:sym typeface="Arial"/>
            </a:endParaRPr>
          </a:p>
        </p:txBody>
      </p:sp>
      <p:sp>
        <p:nvSpPr>
          <p:cNvPr id="476" name="Google Shape;476;p32"/>
          <p:cNvSpPr/>
          <p:nvPr/>
        </p:nvSpPr>
        <p:spPr>
          <a:xfrm>
            <a:off x="659537" y="1520300"/>
            <a:ext cx="81000" cy="1164900"/>
          </a:xfrm>
          <a:prstGeom prst="rect">
            <a:avLst/>
          </a:prstGeom>
          <a:solidFill>
            <a:srgbClr val="2D6CDF"/>
          </a:solidFill>
          <a:ln cap="flat" cmpd="sng" w="18750">
            <a:solidFill>
              <a:srgbClr val="2D6CDF"/>
            </a:solidFill>
            <a:prstDash val="solid"/>
            <a:round/>
            <a:headEnd len="sm" w="sm" type="none"/>
            <a:tailEnd len="sm" w="sm" type="none"/>
          </a:ln>
        </p:spPr>
        <p:txBody>
          <a:bodyPr anchorCtr="0" anchor="t" bIns="50600" lIns="101275" spcFirstLastPara="1" rIns="101275" wrap="square" tIns="50600">
            <a:noAutofit/>
          </a:bodyPr>
          <a:lstStyle/>
          <a:p>
            <a:pPr indent="0" lvl="0" marL="0" marR="0" rtl="0" algn="l">
              <a:spcBef>
                <a:spcPts val="0"/>
              </a:spcBef>
              <a:spcAft>
                <a:spcPts val="0"/>
              </a:spcAft>
              <a:buNone/>
            </a:pPr>
            <a:r>
              <a:t/>
            </a:r>
            <a:endParaRPr sz="2068">
              <a:solidFill>
                <a:schemeClr val="dk1"/>
              </a:solidFill>
              <a:latin typeface="Arial"/>
              <a:ea typeface="Arial"/>
              <a:cs typeface="Arial"/>
              <a:sym typeface="Arial"/>
            </a:endParaRPr>
          </a:p>
        </p:txBody>
      </p:sp>
      <p:sp>
        <p:nvSpPr>
          <p:cNvPr id="477" name="Google Shape;477;p32"/>
          <p:cNvSpPr/>
          <p:nvPr/>
        </p:nvSpPr>
        <p:spPr>
          <a:xfrm>
            <a:off x="912755" y="1702618"/>
            <a:ext cx="1924200" cy="28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772"/>
              <a:buFont typeface="Arial"/>
              <a:buNone/>
            </a:pPr>
            <a:r>
              <a:rPr b="1" lang="en" sz="1772">
                <a:solidFill>
                  <a:srgbClr val="122033"/>
                </a:solidFill>
                <a:highlight>
                  <a:srgbClr val="FFFF00"/>
                </a:highlight>
                <a:latin typeface="Arial"/>
                <a:ea typeface="Arial"/>
                <a:cs typeface="Arial"/>
                <a:sym typeface="Arial"/>
              </a:rPr>
              <a:t>Algorithms</a:t>
            </a:r>
            <a:endParaRPr sz="1772">
              <a:solidFill>
                <a:schemeClr val="dk1"/>
              </a:solidFill>
              <a:highlight>
                <a:srgbClr val="FFFF00"/>
              </a:highlight>
              <a:latin typeface="Arial"/>
              <a:ea typeface="Arial"/>
              <a:cs typeface="Arial"/>
              <a:sym typeface="Arial"/>
            </a:endParaRPr>
          </a:p>
        </p:txBody>
      </p:sp>
      <p:sp>
        <p:nvSpPr>
          <p:cNvPr id="478" name="Google Shape;478;p32"/>
          <p:cNvSpPr/>
          <p:nvPr/>
        </p:nvSpPr>
        <p:spPr>
          <a:xfrm>
            <a:off x="912755" y="2107767"/>
            <a:ext cx="1924200" cy="456000"/>
          </a:xfrm>
          <a:prstGeom prst="rect">
            <a:avLst/>
          </a:prstGeom>
          <a:noFill/>
          <a:ln>
            <a:noFill/>
          </a:ln>
        </p:spPr>
        <p:txBody>
          <a:bodyPr anchorCtr="0" anchor="ctr" bIns="275" lIns="275" spcFirstLastPara="1" rIns="275" wrap="square" tIns="275">
            <a:noAutofit/>
          </a:bodyPr>
          <a:lstStyle/>
          <a:p>
            <a:pPr indent="0" lvl="0" marL="0" marR="0" rtl="0" algn="l">
              <a:spcBef>
                <a:spcPts val="0"/>
              </a:spcBef>
              <a:spcAft>
                <a:spcPts val="0"/>
              </a:spcAft>
              <a:buClr>
                <a:srgbClr val="516071"/>
              </a:buClr>
              <a:buSzPts val="1477"/>
              <a:buFont typeface="Arial"/>
              <a:buNone/>
            </a:pPr>
            <a:r>
              <a:rPr lang="en" sz="1477">
                <a:solidFill>
                  <a:srgbClr val="516071"/>
                </a:solidFill>
                <a:latin typeface="Arial"/>
                <a:ea typeface="Arial"/>
                <a:cs typeface="Arial"/>
                <a:sym typeface="Arial"/>
              </a:rPr>
              <a:t>Try kNN, SVM, decision trees, neural nets, and others.</a:t>
            </a:r>
            <a:endParaRPr sz="1477">
              <a:solidFill>
                <a:schemeClr val="dk1"/>
              </a:solidFill>
              <a:latin typeface="Arial"/>
              <a:ea typeface="Arial"/>
              <a:cs typeface="Arial"/>
              <a:sym typeface="Arial"/>
            </a:endParaRPr>
          </a:p>
        </p:txBody>
      </p:sp>
      <p:sp>
        <p:nvSpPr>
          <p:cNvPr id="479" name="Google Shape;479;p32"/>
          <p:cNvSpPr/>
          <p:nvPr/>
        </p:nvSpPr>
        <p:spPr>
          <a:xfrm>
            <a:off x="3394290" y="1520300"/>
            <a:ext cx="2380200" cy="1164900"/>
          </a:xfrm>
          <a:prstGeom prst="roundRect">
            <a:avLst>
              <a:gd fmla="val 5217" name="adj"/>
            </a:avLst>
          </a:prstGeom>
          <a:solidFill>
            <a:srgbClr val="FFFFFF"/>
          </a:solidFill>
          <a:ln cap="flat" cmpd="sng" w="18750">
            <a:solidFill>
              <a:srgbClr val="DDE5EF"/>
            </a:solidFill>
            <a:prstDash val="solid"/>
            <a:round/>
            <a:headEnd len="sm" w="sm" type="none"/>
            <a:tailEnd len="sm" w="sm" type="none"/>
          </a:ln>
          <a:effectLst>
            <a:outerShdw blurRad="22508" rotWithShape="0" algn="bl" dir="2700000" dist="18757">
              <a:srgbClr val="000000">
                <a:alpha val="10196"/>
              </a:srgbClr>
            </a:outerShdw>
          </a:effectLst>
        </p:spPr>
        <p:txBody>
          <a:bodyPr anchorCtr="0" anchor="t" bIns="50600" lIns="101275" spcFirstLastPara="1" rIns="101275" wrap="square" tIns="50600">
            <a:noAutofit/>
          </a:bodyPr>
          <a:lstStyle/>
          <a:p>
            <a:pPr indent="0" lvl="0" marL="0" marR="0" rtl="0" algn="l">
              <a:spcBef>
                <a:spcPts val="0"/>
              </a:spcBef>
              <a:spcAft>
                <a:spcPts val="0"/>
              </a:spcAft>
              <a:buNone/>
            </a:pPr>
            <a:r>
              <a:t/>
            </a:r>
            <a:endParaRPr sz="2068">
              <a:solidFill>
                <a:schemeClr val="dk1"/>
              </a:solidFill>
              <a:latin typeface="Arial"/>
              <a:ea typeface="Arial"/>
              <a:cs typeface="Arial"/>
              <a:sym typeface="Arial"/>
            </a:endParaRPr>
          </a:p>
        </p:txBody>
      </p:sp>
      <p:sp>
        <p:nvSpPr>
          <p:cNvPr id="480" name="Google Shape;480;p32"/>
          <p:cNvSpPr/>
          <p:nvPr/>
        </p:nvSpPr>
        <p:spPr>
          <a:xfrm>
            <a:off x="3394290" y="1520300"/>
            <a:ext cx="81000" cy="1164900"/>
          </a:xfrm>
          <a:prstGeom prst="rect">
            <a:avLst/>
          </a:prstGeom>
          <a:solidFill>
            <a:srgbClr val="F59E0B"/>
          </a:solidFill>
          <a:ln cap="flat" cmpd="sng" w="18750">
            <a:solidFill>
              <a:srgbClr val="F59E0B"/>
            </a:solidFill>
            <a:prstDash val="solid"/>
            <a:round/>
            <a:headEnd len="sm" w="sm" type="none"/>
            <a:tailEnd len="sm" w="sm" type="none"/>
          </a:ln>
        </p:spPr>
        <p:txBody>
          <a:bodyPr anchorCtr="0" anchor="t" bIns="50600" lIns="101275" spcFirstLastPara="1" rIns="101275" wrap="square" tIns="50600">
            <a:noAutofit/>
          </a:bodyPr>
          <a:lstStyle/>
          <a:p>
            <a:pPr indent="0" lvl="0" marL="0" marR="0" rtl="0" algn="l">
              <a:spcBef>
                <a:spcPts val="0"/>
              </a:spcBef>
              <a:spcAft>
                <a:spcPts val="0"/>
              </a:spcAft>
              <a:buNone/>
            </a:pPr>
            <a:r>
              <a:t/>
            </a:r>
            <a:endParaRPr sz="2068">
              <a:solidFill>
                <a:schemeClr val="dk1"/>
              </a:solidFill>
              <a:latin typeface="Arial"/>
              <a:ea typeface="Arial"/>
              <a:cs typeface="Arial"/>
              <a:sym typeface="Arial"/>
            </a:endParaRPr>
          </a:p>
        </p:txBody>
      </p:sp>
      <p:sp>
        <p:nvSpPr>
          <p:cNvPr id="481" name="Google Shape;481;p32"/>
          <p:cNvSpPr/>
          <p:nvPr/>
        </p:nvSpPr>
        <p:spPr>
          <a:xfrm>
            <a:off x="3647508" y="1702618"/>
            <a:ext cx="1924200" cy="28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772"/>
              <a:buFont typeface="Arial"/>
              <a:buNone/>
            </a:pPr>
            <a:r>
              <a:rPr b="1" lang="en" sz="1772">
                <a:solidFill>
                  <a:srgbClr val="122033"/>
                </a:solidFill>
                <a:highlight>
                  <a:srgbClr val="FFFF00"/>
                </a:highlight>
                <a:latin typeface="Arial"/>
                <a:ea typeface="Arial"/>
                <a:cs typeface="Arial"/>
                <a:sym typeface="Arial"/>
              </a:rPr>
              <a:t>Hyperparameters</a:t>
            </a:r>
            <a:endParaRPr sz="1772">
              <a:solidFill>
                <a:schemeClr val="dk1"/>
              </a:solidFill>
              <a:highlight>
                <a:srgbClr val="FFFF00"/>
              </a:highlight>
              <a:latin typeface="Arial"/>
              <a:ea typeface="Arial"/>
              <a:cs typeface="Arial"/>
              <a:sym typeface="Arial"/>
            </a:endParaRPr>
          </a:p>
        </p:txBody>
      </p:sp>
      <p:sp>
        <p:nvSpPr>
          <p:cNvPr id="482" name="Google Shape;482;p32"/>
          <p:cNvSpPr/>
          <p:nvPr/>
        </p:nvSpPr>
        <p:spPr>
          <a:xfrm>
            <a:off x="3647508" y="2107767"/>
            <a:ext cx="1924200" cy="456000"/>
          </a:xfrm>
          <a:prstGeom prst="rect">
            <a:avLst/>
          </a:prstGeom>
          <a:noFill/>
          <a:ln>
            <a:noFill/>
          </a:ln>
        </p:spPr>
        <p:txBody>
          <a:bodyPr anchorCtr="0" anchor="ctr" bIns="275" lIns="275" spcFirstLastPara="1" rIns="275" wrap="square" tIns="275">
            <a:noAutofit/>
          </a:bodyPr>
          <a:lstStyle/>
          <a:p>
            <a:pPr indent="0" lvl="0" marL="0" marR="0" rtl="0" algn="l">
              <a:spcBef>
                <a:spcPts val="0"/>
              </a:spcBef>
              <a:spcAft>
                <a:spcPts val="0"/>
              </a:spcAft>
              <a:buClr>
                <a:srgbClr val="516071"/>
              </a:buClr>
              <a:buSzPts val="1477"/>
              <a:buFont typeface="Arial"/>
              <a:buNone/>
            </a:pPr>
            <a:r>
              <a:rPr lang="en" sz="1477">
                <a:solidFill>
                  <a:srgbClr val="516071"/>
                </a:solidFill>
                <a:latin typeface="Arial"/>
                <a:ea typeface="Arial"/>
                <a:cs typeface="Arial"/>
                <a:sym typeface="Arial"/>
              </a:rPr>
              <a:t>Try k, C, kernel type, max depth, and more.</a:t>
            </a:r>
            <a:endParaRPr sz="1477">
              <a:solidFill>
                <a:schemeClr val="dk1"/>
              </a:solidFill>
              <a:latin typeface="Arial"/>
              <a:ea typeface="Arial"/>
              <a:cs typeface="Arial"/>
              <a:sym typeface="Arial"/>
            </a:endParaRPr>
          </a:p>
        </p:txBody>
      </p:sp>
      <p:sp>
        <p:nvSpPr>
          <p:cNvPr id="483" name="Google Shape;483;p32"/>
          <p:cNvSpPr/>
          <p:nvPr/>
        </p:nvSpPr>
        <p:spPr>
          <a:xfrm>
            <a:off x="6129043" y="1520300"/>
            <a:ext cx="2380200" cy="1164900"/>
          </a:xfrm>
          <a:prstGeom prst="roundRect">
            <a:avLst>
              <a:gd fmla="val 5217" name="adj"/>
            </a:avLst>
          </a:prstGeom>
          <a:solidFill>
            <a:srgbClr val="FFFFFF"/>
          </a:solidFill>
          <a:ln cap="flat" cmpd="sng" w="18750">
            <a:solidFill>
              <a:srgbClr val="DDE5EF"/>
            </a:solidFill>
            <a:prstDash val="solid"/>
            <a:round/>
            <a:headEnd len="sm" w="sm" type="none"/>
            <a:tailEnd len="sm" w="sm" type="none"/>
          </a:ln>
          <a:effectLst>
            <a:outerShdw blurRad="22508" rotWithShape="0" algn="bl" dir="2700000" dist="18757">
              <a:srgbClr val="000000">
                <a:alpha val="10196"/>
              </a:srgbClr>
            </a:outerShdw>
          </a:effectLst>
        </p:spPr>
        <p:txBody>
          <a:bodyPr anchorCtr="0" anchor="t" bIns="50600" lIns="101275" spcFirstLastPara="1" rIns="101275" wrap="square" tIns="50600">
            <a:noAutofit/>
          </a:bodyPr>
          <a:lstStyle/>
          <a:p>
            <a:pPr indent="0" lvl="0" marL="0" marR="0" rtl="0" algn="l">
              <a:spcBef>
                <a:spcPts val="0"/>
              </a:spcBef>
              <a:spcAft>
                <a:spcPts val="0"/>
              </a:spcAft>
              <a:buNone/>
            </a:pPr>
            <a:r>
              <a:t/>
            </a:r>
            <a:endParaRPr sz="2068">
              <a:solidFill>
                <a:schemeClr val="dk1"/>
              </a:solidFill>
              <a:latin typeface="Arial"/>
              <a:ea typeface="Arial"/>
              <a:cs typeface="Arial"/>
              <a:sym typeface="Arial"/>
            </a:endParaRPr>
          </a:p>
        </p:txBody>
      </p:sp>
      <p:sp>
        <p:nvSpPr>
          <p:cNvPr id="484" name="Google Shape;484;p32"/>
          <p:cNvSpPr/>
          <p:nvPr/>
        </p:nvSpPr>
        <p:spPr>
          <a:xfrm>
            <a:off x="6129043" y="1520300"/>
            <a:ext cx="81000" cy="1164900"/>
          </a:xfrm>
          <a:prstGeom prst="rect">
            <a:avLst/>
          </a:prstGeom>
          <a:solidFill>
            <a:srgbClr val="079A99"/>
          </a:solidFill>
          <a:ln cap="flat" cmpd="sng" w="18750">
            <a:solidFill>
              <a:srgbClr val="079A99"/>
            </a:solidFill>
            <a:prstDash val="solid"/>
            <a:round/>
            <a:headEnd len="sm" w="sm" type="none"/>
            <a:tailEnd len="sm" w="sm" type="none"/>
          </a:ln>
        </p:spPr>
        <p:txBody>
          <a:bodyPr anchorCtr="0" anchor="t" bIns="50600" lIns="101275" spcFirstLastPara="1" rIns="101275" wrap="square" tIns="50600">
            <a:noAutofit/>
          </a:bodyPr>
          <a:lstStyle/>
          <a:p>
            <a:pPr indent="0" lvl="0" marL="0" marR="0" rtl="0" algn="l">
              <a:spcBef>
                <a:spcPts val="0"/>
              </a:spcBef>
              <a:spcAft>
                <a:spcPts val="0"/>
              </a:spcAft>
              <a:buNone/>
            </a:pPr>
            <a:r>
              <a:t/>
            </a:r>
            <a:endParaRPr sz="2068">
              <a:solidFill>
                <a:schemeClr val="dk1"/>
              </a:solidFill>
              <a:latin typeface="Arial"/>
              <a:ea typeface="Arial"/>
              <a:cs typeface="Arial"/>
              <a:sym typeface="Arial"/>
            </a:endParaRPr>
          </a:p>
        </p:txBody>
      </p:sp>
      <p:sp>
        <p:nvSpPr>
          <p:cNvPr id="485" name="Google Shape;485;p32"/>
          <p:cNvSpPr/>
          <p:nvPr/>
        </p:nvSpPr>
        <p:spPr>
          <a:xfrm>
            <a:off x="6382261" y="1702618"/>
            <a:ext cx="1924200" cy="28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772"/>
              <a:buFont typeface="Arial"/>
              <a:buNone/>
            </a:pPr>
            <a:r>
              <a:rPr b="1" lang="en" sz="1772">
                <a:solidFill>
                  <a:srgbClr val="122033"/>
                </a:solidFill>
                <a:highlight>
                  <a:srgbClr val="FFFF00"/>
                </a:highlight>
                <a:latin typeface="Arial"/>
                <a:ea typeface="Arial"/>
                <a:cs typeface="Arial"/>
                <a:sym typeface="Arial"/>
              </a:rPr>
              <a:t>Features</a:t>
            </a:r>
            <a:endParaRPr sz="1772">
              <a:solidFill>
                <a:schemeClr val="dk1"/>
              </a:solidFill>
              <a:highlight>
                <a:srgbClr val="FFFF00"/>
              </a:highlight>
              <a:latin typeface="Arial"/>
              <a:ea typeface="Arial"/>
              <a:cs typeface="Arial"/>
              <a:sym typeface="Arial"/>
            </a:endParaRPr>
          </a:p>
        </p:txBody>
      </p:sp>
      <p:sp>
        <p:nvSpPr>
          <p:cNvPr id="486" name="Google Shape;486;p32"/>
          <p:cNvSpPr/>
          <p:nvPr/>
        </p:nvSpPr>
        <p:spPr>
          <a:xfrm>
            <a:off x="6382261" y="2107767"/>
            <a:ext cx="1924200" cy="456000"/>
          </a:xfrm>
          <a:prstGeom prst="rect">
            <a:avLst/>
          </a:prstGeom>
          <a:noFill/>
          <a:ln>
            <a:noFill/>
          </a:ln>
        </p:spPr>
        <p:txBody>
          <a:bodyPr anchorCtr="0" anchor="ctr" bIns="275" lIns="275" spcFirstLastPara="1" rIns="275" wrap="square" tIns="275">
            <a:noAutofit/>
          </a:bodyPr>
          <a:lstStyle/>
          <a:p>
            <a:pPr indent="0" lvl="0" marL="0" marR="0" rtl="0" algn="l">
              <a:spcBef>
                <a:spcPts val="0"/>
              </a:spcBef>
              <a:spcAft>
                <a:spcPts val="0"/>
              </a:spcAft>
              <a:buClr>
                <a:srgbClr val="516071"/>
              </a:buClr>
              <a:buSzPts val="1477"/>
              <a:buFont typeface="Arial"/>
              <a:buNone/>
            </a:pPr>
            <a:r>
              <a:rPr lang="en" sz="1477">
                <a:solidFill>
                  <a:srgbClr val="516071"/>
                </a:solidFill>
                <a:latin typeface="Arial"/>
                <a:ea typeface="Arial"/>
                <a:cs typeface="Arial"/>
                <a:sym typeface="Arial"/>
              </a:rPr>
              <a:t>Try different predictor sets or engineered features.</a:t>
            </a:r>
            <a:endParaRPr sz="1477">
              <a:solidFill>
                <a:schemeClr val="dk1"/>
              </a:solidFill>
              <a:latin typeface="Arial"/>
              <a:ea typeface="Arial"/>
              <a:cs typeface="Arial"/>
              <a:sym typeface="Arial"/>
            </a:endParaRPr>
          </a:p>
        </p:txBody>
      </p:sp>
      <p:cxnSp>
        <p:nvCxnSpPr>
          <p:cNvPr id="487" name="Google Shape;487;p32"/>
          <p:cNvCxnSpPr/>
          <p:nvPr/>
        </p:nvCxnSpPr>
        <p:spPr>
          <a:xfrm>
            <a:off x="2218375" y="3498520"/>
            <a:ext cx="4731900" cy="0"/>
          </a:xfrm>
          <a:prstGeom prst="straightConnector1">
            <a:avLst/>
          </a:prstGeom>
          <a:noFill/>
          <a:ln cap="flat" cmpd="sng" w="38100">
            <a:solidFill>
              <a:srgbClr val="D7DEE8"/>
            </a:solidFill>
            <a:prstDash val="solid"/>
            <a:round/>
            <a:headEnd len="sm" w="sm" type="none"/>
            <a:tailEnd len="med" w="med" type="triangle"/>
          </a:ln>
        </p:spPr>
      </p:cxnSp>
      <p:sp>
        <p:nvSpPr>
          <p:cNvPr id="488" name="Google Shape;488;p32"/>
          <p:cNvSpPr/>
          <p:nvPr/>
        </p:nvSpPr>
        <p:spPr>
          <a:xfrm>
            <a:off x="2629855" y="3237916"/>
            <a:ext cx="3840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033"/>
              </a:buClr>
              <a:buSzPts val="1400"/>
              <a:buFont typeface="Arial"/>
              <a:buNone/>
            </a:pPr>
            <a:r>
              <a:rPr b="1" lang="en" sz="1400">
                <a:solidFill>
                  <a:srgbClr val="122033"/>
                </a:solidFill>
                <a:latin typeface="Arial"/>
                <a:ea typeface="Arial"/>
                <a:cs typeface="Arial"/>
                <a:sym typeface="Arial"/>
              </a:rPr>
              <a:t>Compare on validation data</a:t>
            </a:r>
            <a:endParaRPr sz="1400">
              <a:solidFill>
                <a:schemeClr val="dk1"/>
              </a:solidFill>
              <a:latin typeface="Arial"/>
              <a:ea typeface="Arial"/>
              <a:cs typeface="Arial"/>
              <a:sym typeface="Arial"/>
            </a:endParaRPr>
          </a:p>
        </p:txBody>
      </p:sp>
      <p:sp>
        <p:nvSpPr>
          <p:cNvPr id="489" name="Google Shape;489;p32"/>
          <p:cNvSpPr/>
          <p:nvPr/>
        </p:nvSpPr>
        <p:spPr>
          <a:xfrm>
            <a:off x="560225" y="4104075"/>
            <a:ext cx="8000700" cy="7200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500">
                <a:solidFill>
                  <a:srgbClr val="516071"/>
                </a:solidFill>
                <a:latin typeface="Arial"/>
                <a:ea typeface="Arial"/>
                <a:cs typeface="Arial"/>
                <a:sym typeface="Arial"/>
              </a:rPr>
              <a:t>If we tune using the test set, the test set stops being an honest estimate of future performance.</a:t>
            </a:r>
            <a:endParaRPr sz="15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94" name="Shape 494"/>
        <p:cNvGrpSpPr/>
        <p:nvPr/>
      </p:nvGrpSpPr>
      <p:grpSpPr>
        <a:xfrm>
          <a:off x="0" y="0"/>
          <a:ext cx="0" cy="0"/>
          <a:chOff x="0" y="0"/>
          <a:chExt cx="0" cy="0"/>
        </a:xfrm>
      </p:grpSpPr>
      <p:sp>
        <p:nvSpPr>
          <p:cNvPr id="495" name="Google Shape;495;p33"/>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96" name="Google Shape;496;p33"/>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WORKFLOW</a:t>
            </a:r>
            <a:endParaRPr sz="700">
              <a:solidFill>
                <a:schemeClr val="dk1"/>
              </a:solidFill>
              <a:latin typeface="Arial"/>
              <a:ea typeface="Arial"/>
              <a:cs typeface="Arial"/>
              <a:sym typeface="Arial"/>
            </a:endParaRPr>
          </a:p>
        </p:txBody>
      </p:sp>
      <p:sp>
        <p:nvSpPr>
          <p:cNvPr id="497" name="Google Shape;497;p33"/>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Separate fitting, choosing, and final testing</a:t>
            </a:r>
            <a:endParaRPr sz="2300">
              <a:solidFill>
                <a:schemeClr val="dk1"/>
              </a:solidFill>
              <a:latin typeface="Arial"/>
              <a:ea typeface="Arial"/>
              <a:cs typeface="Arial"/>
              <a:sym typeface="Arial"/>
            </a:endParaRPr>
          </a:p>
        </p:txBody>
      </p:sp>
      <p:sp>
        <p:nvSpPr>
          <p:cNvPr id="498" name="Google Shape;498;p33"/>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The validation set is for choosing a model; the test set is for the final performance estimate.</a:t>
            </a:r>
            <a:endParaRPr sz="1100">
              <a:solidFill>
                <a:schemeClr val="dk1"/>
              </a:solidFill>
              <a:latin typeface="Arial"/>
              <a:ea typeface="Arial"/>
              <a:cs typeface="Arial"/>
              <a:sym typeface="Arial"/>
            </a:endParaRPr>
          </a:p>
        </p:txBody>
      </p:sp>
      <p:sp>
        <p:nvSpPr>
          <p:cNvPr id="499" name="Google Shape;499;p33"/>
          <p:cNvSpPr/>
          <p:nvPr/>
        </p:nvSpPr>
        <p:spPr>
          <a:xfrm>
            <a:off x="674850" y="1453850"/>
            <a:ext cx="3301800" cy="1134300"/>
          </a:xfrm>
          <a:prstGeom prst="roundRect">
            <a:avLst>
              <a:gd fmla="val 6316" name="adj"/>
            </a:avLst>
          </a:prstGeom>
          <a:solidFill>
            <a:srgbClr val="FFFFFF"/>
          </a:solidFill>
          <a:ln cap="flat" cmpd="sng" w="14275">
            <a:solidFill>
              <a:srgbClr val="DDE5EF"/>
            </a:solidFill>
            <a:prstDash val="solid"/>
            <a:round/>
            <a:headEnd len="sm" w="sm" type="none"/>
            <a:tailEnd len="sm" w="sm" type="none"/>
          </a:ln>
          <a:effectLst>
            <a:outerShdw blurRad="17124" rotWithShape="0" algn="bl" dir="2700000" dist="14270">
              <a:srgbClr val="000000">
                <a:alpha val="10196"/>
              </a:srgbClr>
            </a:outerShdw>
          </a:effectLst>
        </p:spPr>
        <p:txBody>
          <a:bodyPr anchorCtr="0" anchor="t" bIns="38500" lIns="77050" spcFirstLastPara="1" rIns="77050" wrap="square" tIns="38500">
            <a:noAutofit/>
          </a:bodyPr>
          <a:lstStyle/>
          <a:p>
            <a:pPr indent="0" lvl="0" marL="0" marR="0" rtl="0" algn="l">
              <a:lnSpc>
                <a:spcPct val="100000"/>
              </a:lnSpc>
              <a:spcBef>
                <a:spcPts val="0"/>
              </a:spcBef>
              <a:spcAft>
                <a:spcPts val="0"/>
              </a:spcAft>
              <a:buNone/>
            </a:pPr>
            <a:r>
              <a:t/>
            </a:r>
            <a:endParaRPr sz="2073">
              <a:solidFill>
                <a:schemeClr val="dk1"/>
              </a:solidFill>
            </a:endParaRPr>
          </a:p>
        </p:txBody>
      </p:sp>
      <p:sp>
        <p:nvSpPr>
          <p:cNvPr id="500" name="Google Shape;500;p33"/>
          <p:cNvSpPr/>
          <p:nvPr/>
        </p:nvSpPr>
        <p:spPr>
          <a:xfrm>
            <a:off x="674850" y="1453850"/>
            <a:ext cx="59100" cy="1134300"/>
          </a:xfrm>
          <a:prstGeom prst="rect">
            <a:avLst/>
          </a:prstGeom>
          <a:solidFill>
            <a:srgbClr val="2D6CDF"/>
          </a:solidFill>
          <a:ln cap="flat" cmpd="sng" w="14275">
            <a:solidFill>
              <a:srgbClr val="2D6CDF"/>
            </a:solidFill>
            <a:prstDash val="solid"/>
            <a:round/>
            <a:headEnd len="sm" w="sm" type="none"/>
            <a:tailEnd len="sm" w="sm" type="none"/>
          </a:ln>
        </p:spPr>
        <p:txBody>
          <a:bodyPr anchorCtr="0" anchor="t" bIns="38500" lIns="77050" spcFirstLastPara="1" rIns="77050" wrap="square" tIns="38500">
            <a:noAutofit/>
          </a:bodyPr>
          <a:lstStyle/>
          <a:p>
            <a:pPr indent="0" lvl="0" marL="0" marR="0" rtl="0" algn="l">
              <a:spcBef>
                <a:spcPts val="0"/>
              </a:spcBef>
              <a:spcAft>
                <a:spcPts val="0"/>
              </a:spcAft>
              <a:buNone/>
            </a:pPr>
            <a:r>
              <a:t/>
            </a:r>
            <a:endParaRPr sz="2073">
              <a:solidFill>
                <a:schemeClr val="dk1"/>
              </a:solidFill>
              <a:latin typeface="Arial"/>
              <a:ea typeface="Arial"/>
              <a:cs typeface="Arial"/>
              <a:sym typeface="Arial"/>
            </a:endParaRPr>
          </a:p>
        </p:txBody>
      </p:sp>
      <p:sp>
        <p:nvSpPr>
          <p:cNvPr id="501" name="Google Shape;501;p33"/>
          <p:cNvSpPr/>
          <p:nvPr/>
        </p:nvSpPr>
        <p:spPr>
          <a:xfrm>
            <a:off x="860343" y="1668778"/>
            <a:ext cx="2967900" cy="33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348"/>
              <a:buFont typeface="Arial"/>
              <a:buNone/>
            </a:pPr>
            <a:r>
              <a:rPr b="1" lang="en" sz="1848">
                <a:solidFill>
                  <a:srgbClr val="122033"/>
                </a:solidFill>
                <a:highlight>
                  <a:srgbClr val="FFFF00"/>
                </a:highlight>
                <a:latin typeface="Arial"/>
                <a:ea typeface="Arial"/>
                <a:cs typeface="Arial"/>
                <a:sym typeface="Arial"/>
              </a:rPr>
              <a:t>1. Shuffle and split</a:t>
            </a:r>
            <a:endParaRPr sz="1848">
              <a:solidFill>
                <a:schemeClr val="dk1"/>
              </a:solidFill>
              <a:highlight>
                <a:srgbClr val="FFFF00"/>
              </a:highlight>
              <a:latin typeface="Arial"/>
              <a:ea typeface="Arial"/>
              <a:cs typeface="Arial"/>
              <a:sym typeface="Arial"/>
            </a:endParaRPr>
          </a:p>
        </p:txBody>
      </p:sp>
      <p:sp>
        <p:nvSpPr>
          <p:cNvPr id="502" name="Google Shape;502;p33"/>
          <p:cNvSpPr/>
          <p:nvPr/>
        </p:nvSpPr>
        <p:spPr>
          <a:xfrm>
            <a:off x="860343" y="2146396"/>
            <a:ext cx="2967900" cy="298500"/>
          </a:xfrm>
          <a:prstGeom prst="rect">
            <a:avLst/>
          </a:prstGeom>
          <a:noFill/>
          <a:ln>
            <a:noFill/>
          </a:ln>
        </p:spPr>
        <p:txBody>
          <a:bodyPr anchorCtr="0" anchor="ctr" bIns="225" lIns="225" spcFirstLastPara="1" rIns="225" wrap="square" tIns="225">
            <a:noAutofit/>
          </a:bodyPr>
          <a:lstStyle/>
          <a:p>
            <a:pPr indent="0" lvl="0" marL="0" marR="0" rtl="0" algn="l">
              <a:spcBef>
                <a:spcPts val="0"/>
              </a:spcBef>
              <a:spcAft>
                <a:spcPts val="0"/>
              </a:spcAft>
              <a:buClr>
                <a:srgbClr val="516071"/>
              </a:buClr>
              <a:buSzPts val="1124"/>
              <a:buFont typeface="Arial"/>
              <a:buNone/>
            </a:pPr>
            <a:r>
              <a:rPr lang="en" sz="1624">
                <a:solidFill>
                  <a:srgbClr val="516071"/>
                </a:solidFill>
                <a:latin typeface="Arial"/>
                <a:ea typeface="Arial"/>
                <a:cs typeface="Arial"/>
                <a:sym typeface="Arial"/>
              </a:rPr>
              <a:t>Create training, validation, and test data.</a:t>
            </a:r>
            <a:endParaRPr sz="1624">
              <a:solidFill>
                <a:schemeClr val="dk1"/>
              </a:solidFill>
              <a:latin typeface="Arial"/>
              <a:ea typeface="Arial"/>
              <a:cs typeface="Arial"/>
              <a:sym typeface="Arial"/>
            </a:endParaRPr>
          </a:p>
        </p:txBody>
      </p:sp>
      <p:sp>
        <p:nvSpPr>
          <p:cNvPr id="503" name="Google Shape;503;p33"/>
          <p:cNvSpPr/>
          <p:nvPr/>
        </p:nvSpPr>
        <p:spPr>
          <a:xfrm>
            <a:off x="674850" y="2946407"/>
            <a:ext cx="3301800" cy="1134300"/>
          </a:xfrm>
          <a:prstGeom prst="roundRect">
            <a:avLst>
              <a:gd fmla="val 6316" name="adj"/>
            </a:avLst>
          </a:prstGeom>
          <a:solidFill>
            <a:srgbClr val="FFFFFF"/>
          </a:solidFill>
          <a:ln cap="flat" cmpd="sng" w="14275">
            <a:solidFill>
              <a:srgbClr val="DDE5EF"/>
            </a:solidFill>
            <a:prstDash val="solid"/>
            <a:round/>
            <a:headEnd len="sm" w="sm" type="none"/>
            <a:tailEnd len="sm" w="sm" type="none"/>
          </a:ln>
          <a:effectLst>
            <a:outerShdw blurRad="17124" rotWithShape="0" algn="bl" dir="2700000" dist="14270">
              <a:srgbClr val="000000">
                <a:alpha val="10196"/>
              </a:srgbClr>
            </a:outerShdw>
          </a:effectLst>
        </p:spPr>
        <p:txBody>
          <a:bodyPr anchorCtr="0" anchor="t" bIns="38500" lIns="77050" spcFirstLastPara="1" rIns="77050" wrap="square" tIns="38500">
            <a:noAutofit/>
          </a:bodyPr>
          <a:lstStyle/>
          <a:p>
            <a:pPr indent="0" lvl="0" marL="0" marR="0" rtl="0" algn="l">
              <a:spcBef>
                <a:spcPts val="0"/>
              </a:spcBef>
              <a:spcAft>
                <a:spcPts val="0"/>
              </a:spcAft>
              <a:buNone/>
            </a:pPr>
            <a:r>
              <a:t/>
            </a:r>
            <a:endParaRPr sz="2073">
              <a:solidFill>
                <a:schemeClr val="dk1"/>
              </a:solidFill>
              <a:latin typeface="Arial"/>
              <a:ea typeface="Arial"/>
              <a:cs typeface="Arial"/>
              <a:sym typeface="Arial"/>
            </a:endParaRPr>
          </a:p>
        </p:txBody>
      </p:sp>
      <p:sp>
        <p:nvSpPr>
          <p:cNvPr id="504" name="Google Shape;504;p33"/>
          <p:cNvSpPr/>
          <p:nvPr/>
        </p:nvSpPr>
        <p:spPr>
          <a:xfrm>
            <a:off x="674850" y="2946407"/>
            <a:ext cx="59100" cy="1134300"/>
          </a:xfrm>
          <a:prstGeom prst="rect">
            <a:avLst/>
          </a:prstGeom>
          <a:solidFill>
            <a:srgbClr val="F59E0B"/>
          </a:solidFill>
          <a:ln cap="flat" cmpd="sng" w="14275">
            <a:solidFill>
              <a:srgbClr val="F59E0B"/>
            </a:solidFill>
            <a:prstDash val="solid"/>
            <a:round/>
            <a:headEnd len="sm" w="sm" type="none"/>
            <a:tailEnd len="sm" w="sm" type="none"/>
          </a:ln>
        </p:spPr>
        <p:txBody>
          <a:bodyPr anchorCtr="0" anchor="t" bIns="38500" lIns="77050" spcFirstLastPara="1" rIns="77050" wrap="square" tIns="38500">
            <a:noAutofit/>
          </a:bodyPr>
          <a:lstStyle/>
          <a:p>
            <a:pPr indent="0" lvl="0" marL="0" marR="0" rtl="0" algn="l">
              <a:spcBef>
                <a:spcPts val="0"/>
              </a:spcBef>
              <a:spcAft>
                <a:spcPts val="0"/>
              </a:spcAft>
              <a:buNone/>
            </a:pPr>
            <a:r>
              <a:t/>
            </a:r>
            <a:endParaRPr sz="2073">
              <a:solidFill>
                <a:schemeClr val="dk1"/>
              </a:solidFill>
              <a:latin typeface="Arial"/>
              <a:ea typeface="Arial"/>
              <a:cs typeface="Arial"/>
              <a:sym typeface="Arial"/>
            </a:endParaRPr>
          </a:p>
        </p:txBody>
      </p:sp>
      <p:sp>
        <p:nvSpPr>
          <p:cNvPr id="505" name="Google Shape;505;p33"/>
          <p:cNvSpPr/>
          <p:nvPr/>
        </p:nvSpPr>
        <p:spPr>
          <a:xfrm>
            <a:off x="860343" y="3161335"/>
            <a:ext cx="2967900" cy="33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348"/>
              <a:buFont typeface="Arial"/>
              <a:buNone/>
            </a:pPr>
            <a:r>
              <a:rPr b="1" lang="en" sz="1848">
                <a:solidFill>
                  <a:srgbClr val="122033"/>
                </a:solidFill>
                <a:highlight>
                  <a:srgbClr val="FFFF00"/>
                </a:highlight>
                <a:latin typeface="Arial"/>
                <a:ea typeface="Arial"/>
                <a:cs typeface="Arial"/>
                <a:sym typeface="Arial"/>
              </a:rPr>
              <a:t>2. Fit candidates</a:t>
            </a:r>
            <a:endParaRPr sz="1848">
              <a:solidFill>
                <a:schemeClr val="dk1"/>
              </a:solidFill>
              <a:highlight>
                <a:srgbClr val="FFFF00"/>
              </a:highlight>
              <a:latin typeface="Arial"/>
              <a:ea typeface="Arial"/>
              <a:cs typeface="Arial"/>
              <a:sym typeface="Arial"/>
            </a:endParaRPr>
          </a:p>
        </p:txBody>
      </p:sp>
      <p:sp>
        <p:nvSpPr>
          <p:cNvPr id="506" name="Google Shape;506;p33"/>
          <p:cNvSpPr/>
          <p:nvPr/>
        </p:nvSpPr>
        <p:spPr>
          <a:xfrm>
            <a:off x="860343" y="3638953"/>
            <a:ext cx="2967900" cy="298500"/>
          </a:xfrm>
          <a:prstGeom prst="rect">
            <a:avLst/>
          </a:prstGeom>
          <a:noFill/>
          <a:ln>
            <a:noFill/>
          </a:ln>
        </p:spPr>
        <p:txBody>
          <a:bodyPr anchorCtr="0" anchor="ctr" bIns="225" lIns="225" spcFirstLastPara="1" rIns="225" wrap="square" tIns="225">
            <a:noAutofit/>
          </a:bodyPr>
          <a:lstStyle/>
          <a:p>
            <a:pPr indent="0" lvl="0" marL="0" marR="0" rtl="0" algn="l">
              <a:spcBef>
                <a:spcPts val="0"/>
              </a:spcBef>
              <a:spcAft>
                <a:spcPts val="0"/>
              </a:spcAft>
              <a:buClr>
                <a:srgbClr val="516071"/>
              </a:buClr>
              <a:buSzPts val="1124"/>
              <a:buFont typeface="Arial"/>
              <a:buNone/>
            </a:pPr>
            <a:r>
              <a:rPr lang="en" sz="1624">
                <a:solidFill>
                  <a:srgbClr val="516071"/>
                </a:solidFill>
                <a:latin typeface="Arial"/>
                <a:ea typeface="Arial"/>
                <a:cs typeface="Arial"/>
                <a:sym typeface="Arial"/>
              </a:rPr>
              <a:t>Train each candidate on training data.</a:t>
            </a:r>
            <a:endParaRPr sz="1624">
              <a:solidFill>
                <a:schemeClr val="dk1"/>
              </a:solidFill>
              <a:latin typeface="Arial"/>
              <a:ea typeface="Arial"/>
              <a:cs typeface="Arial"/>
              <a:sym typeface="Arial"/>
            </a:endParaRPr>
          </a:p>
        </p:txBody>
      </p:sp>
      <p:sp>
        <p:nvSpPr>
          <p:cNvPr id="507" name="Google Shape;507;p33"/>
          <p:cNvSpPr/>
          <p:nvPr/>
        </p:nvSpPr>
        <p:spPr>
          <a:xfrm>
            <a:off x="4861547" y="1453850"/>
            <a:ext cx="3526200" cy="1209000"/>
          </a:xfrm>
          <a:prstGeom prst="roundRect">
            <a:avLst>
              <a:gd fmla="val 6316" name="adj"/>
            </a:avLst>
          </a:prstGeom>
          <a:solidFill>
            <a:srgbClr val="FFFFFF"/>
          </a:solidFill>
          <a:ln cap="flat" cmpd="sng" w="14275">
            <a:solidFill>
              <a:srgbClr val="DDE5EF"/>
            </a:solidFill>
            <a:prstDash val="solid"/>
            <a:round/>
            <a:headEnd len="sm" w="sm" type="none"/>
            <a:tailEnd len="sm" w="sm" type="none"/>
          </a:ln>
          <a:effectLst>
            <a:outerShdw blurRad="17124" rotWithShape="0" algn="bl" dir="2700000" dist="14270">
              <a:srgbClr val="000000">
                <a:alpha val="10196"/>
              </a:srgbClr>
            </a:outerShdw>
          </a:effectLst>
        </p:spPr>
        <p:txBody>
          <a:bodyPr anchorCtr="0" anchor="t" bIns="38500" lIns="77050" spcFirstLastPara="1" rIns="77050" wrap="square" tIns="38500">
            <a:noAutofit/>
          </a:bodyPr>
          <a:lstStyle/>
          <a:p>
            <a:pPr indent="0" lvl="0" marL="0" marR="0" rtl="0" algn="l">
              <a:spcBef>
                <a:spcPts val="0"/>
              </a:spcBef>
              <a:spcAft>
                <a:spcPts val="0"/>
              </a:spcAft>
              <a:buNone/>
            </a:pPr>
            <a:r>
              <a:t/>
            </a:r>
            <a:endParaRPr sz="2073">
              <a:solidFill>
                <a:schemeClr val="dk1"/>
              </a:solidFill>
              <a:latin typeface="Arial"/>
              <a:ea typeface="Arial"/>
              <a:cs typeface="Arial"/>
              <a:sym typeface="Arial"/>
            </a:endParaRPr>
          </a:p>
        </p:txBody>
      </p:sp>
      <p:sp>
        <p:nvSpPr>
          <p:cNvPr id="508" name="Google Shape;508;p33"/>
          <p:cNvSpPr/>
          <p:nvPr/>
        </p:nvSpPr>
        <p:spPr>
          <a:xfrm>
            <a:off x="4861547" y="1453850"/>
            <a:ext cx="63000" cy="1209000"/>
          </a:xfrm>
          <a:prstGeom prst="rect">
            <a:avLst/>
          </a:prstGeom>
          <a:solidFill>
            <a:srgbClr val="079A99"/>
          </a:solidFill>
          <a:ln cap="flat" cmpd="sng" w="14275">
            <a:solidFill>
              <a:srgbClr val="079A99"/>
            </a:solidFill>
            <a:prstDash val="solid"/>
            <a:round/>
            <a:headEnd len="sm" w="sm" type="none"/>
            <a:tailEnd len="sm" w="sm" type="none"/>
          </a:ln>
        </p:spPr>
        <p:txBody>
          <a:bodyPr anchorCtr="0" anchor="t" bIns="38500" lIns="77050" spcFirstLastPara="1" rIns="77050" wrap="square" tIns="38500">
            <a:noAutofit/>
          </a:bodyPr>
          <a:lstStyle/>
          <a:p>
            <a:pPr indent="0" lvl="0" marL="0" marR="0" rtl="0" algn="l">
              <a:spcBef>
                <a:spcPts val="0"/>
              </a:spcBef>
              <a:spcAft>
                <a:spcPts val="0"/>
              </a:spcAft>
              <a:buNone/>
            </a:pPr>
            <a:r>
              <a:t/>
            </a:r>
            <a:endParaRPr sz="2073">
              <a:solidFill>
                <a:schemeClr val="dk1"/>
              </a:solidFill>
              <a:latin typeface="Arial"/>
              <a:ea typeface="Arial"/>
              <a:cs typeface="Arial"/>
              <a:sym typeface="Arial"/>
            </a:endParaRPr>
          </a:p>
        </p:txBody>
      </p:sp>
      <p:sp>
        <p:nvSpPr>
          <p:cNvPr id="509" name="Google Shape;509;p33"/>
          <p:cNvSpPr/>
          <p:nvPr/>
        </p:nvSpPr>
        <p:spPr>
          <a:xfrm>
            <a:off x="5059640" y="1590188"/>
            <a:ext cx="31695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348"/>
              <a:buFont typeface="Arial"/>
              <a:buNone/>
            </a:pPr>
            <a:r>
              <a:rPr b="1" lang="en" sz="1848">
                <a:solidFill>
                  <a:srgbClr val="122033"/>
                </a:solidFill>
                <a:highlight>
                  <a:srgbClr val="FFFF00"/>
                </a:highlight>
                <a:latin typeface="Arial"/>
                <a:ea typeface="Arial"/>
                <a:cs typeface="Arial"/>
                <a:sym typeface="Arial"/>
              </a:rPr>
              <a:t>3. Choose and refit</a:t>
            </a:r>
            <a:endParaRPr sz="1848">
              <a:solidFill>
                <a:schemeClr val="dk1"/>
              </a:solidFill>
              <a:highlight>
                <a:srgbClr val="FFFF00"/>
              </a:highlight>
              <a:latin typeface="Arial"/>
              <a:ea typeface="Arial"/>
              <a:cs typeface="Arial"/>
              <a:sym typeface="Arial"/>
            </a:endParaRPr>
          </a:p>
        </p:txBody>
      </p:sp>
      <p:sp>
        <p:nvSpPr>
          <p:cNvPr id="510" name="Google Shape;510;p33"/>
          <p:cNvSpPr/>
          <p:nvPr/>
        </p:nvSpPr>
        <p:spPr>
          <a:xfrm>
            <a:off x="5059640" y="2122883"/>
            <a:ext cx="3169500" cy="288300"/>
          </a:xfrm>
          <a:prstGeom prst="rect">
            <a:avLst/>
          </a:prstGeom>
          <a:noFill/>
          <a:ln>
            <a:noFill/>
          </a:ln>
        </p:spPr>
        <p:txBody>
          <a:bodyPr anchorCtr="0" anchor="ctr" bIns="225" lIns="225" spcFirstLastPara="1" rIns="225" wrap="square" tIns="225">
            <a:noAutofit/>
          </a:bodyPr>
          <a:lstStyle/>
          <a:p>
            <a:pPr indent="0" lvl="0" marL="0" marR="0" rtl="0" algn="l">
              <a:spcBef>
                <a:spcPts val="0"/>
              </a:spcBef>
              <a:spcAft>
                <a:spcPts val="0"/>
              </a:spcAft>
              <a:buClr>
                <a:srgbClr val="516071"/>
              </a:buClr>
              <a:buSzPts val="1124"/>
              <a:buFont typeface="Arial"/>
              <a:buNone/>
            </a:pPr>
            <a:r>
              <a:rPr lang="en" sz="1624">
                <a:solidFill>
                  <a:srgbClr val="516071"/>
                </a:solidFill>
                <a:latin typeface="Arial"/>
                <a:ea typeface="Arial"/>
                <a:cs typeface="Arial"/>
                <a:sym typeface="Arial"/>
              </a:rPr>
              <a:t>Pick based on validation, then refit using training plus validation.</a:t>
            </a:r>
            <a:endParaRPr sz="1624">
              <a:solidFill>
                <a:schemeClr val="dk1"/>
              </a:solidFill>
              <a:latin typeface="Arial"/>
              <a:ea typeface="Arial"/>
              <a:cs typeface="Arial"/>
              <a:sym typeface="Arial"/>
            </a:endParaRPr>
          </a:p>
        </p:txBody>
      </p:sp>
      <p:sp>
        <p:nvSpPr>
          <p:cNvPr id="511" name="Google Shape;511;p33"/>
          <p:cNvSpPr/>
          <p:nvPr/>
        </p:nvSpPr>
        <p:spPr>
          <a:xfrm>
            <a:off x="4861547" y="2984848"/>
            <a:ext cx="3526200" cy="1095900"/>
          </a:xfrm>
          <a:prstGeom prst="roundRect">
            <a:avLst>
              <a:gd fmla="val 6316" name="adj"/>
            </a:avLst>
          </a:prstGeom>
          <a:solidFill>
            <a:srgbClr val="FFFFFF"/>
          </a:solidFill>
          <a:ln cap="flat" cmpd="sng" w="14275">
            <a:solidFill>
              <a:srgbClr val="DDE5EF"/>
            </a:solidFill>
            <a:prstDash val="solid"/>
            <a:round/>
            <a:headEnd len="sm" w="sm" type="none"/>
            <a:tailEnd len="sm" w="sm" type="none"/>
          </a:ln>
          <a:effectLst>
            <a:outerShdw blurRad="17124" rotWithShape="0" algn="bl" dir="2700000" dist="14270">
              <a:srgbClr val="000000">
                <a:alpha val="10196"/>
              </a:srgbClr>
            </a:outerShdw>
          </a:effectLst>
        </p:spPr>
        <p:txBody>
          <a:bodyPr anchorCtr="0" anchor="t" bIns="38500" lIns="77050" spcFirstLastPara="1" rIns="77050" wrap="square" tIns="38500">
            <a:noAutofit/>
          </a:bodyPr>
          <a:lstStyle/>
          <a:p>
            <a:pPr indent="0" lvl="0" marL="0" marR="0" rtl="0" algn="l">
              <a:spcBef>
                <a:spcPts val="0"/>
              </a:spcBef>
              <a:spcAft>
                <a:spcPts val="0"/>
              </a:spcAft>
              <a:buNone/>
            </a:pPr>
            <a:r>
              <a:t/>
            </a:r>
            <a:endParaRPr sz="2073">
              <a:solidFill>
                <a:schemeClr val="dk1"/>
              </a:solidFill>
              <a:latin typeface="Arial"/>
              <a:ea typeface="Arial"/>
              <a:cs typeface="Arial"/>
              <a:sym typeface="Arial"/>
            </a:endParaRPr>
          </a:p>
        </p:txBody>
      </p:sp>
      <p:sp>
        <p:nvSpPr>
          <p:cNvPr id="512" name="Google Shape;512;p33"/>
          <p:cNvSpPr/>
          <p:nvPr/>
        </p:nvSpPr>
        <p:spPr>
          <a:xfrm>
            <a:off x="4861547" y="2984848"/>
            <a:ext cx="63000" cy="1095900"/>
          </a:xfrm>
          <a:prstGeom prst="rect">
            <a:avLst/>
          </a:prstGeom>
          <a:solidFill>
            <a:srgbClr val="169B62"/>
          </a:solidFill>
          <a:ln cap="flat" cmpd="sng" w="14275">
            <a:solidFill>
              <a:srgbClr val="169B62"/>
            </a:solidFill>
            <a:prstDash val="solid"/>
            <a:round/>
            <a:headEnd len="sm" w="sm" type="none"/>
            <a:tailEnd len="sm" w="sm" type="none"/>
          </a:ln>
        </p:spPr>
        <p:txBody>
          <a:bodyPr anchorCtr="0" anchor="t" bIns="38500" lIns="77050" spcFirstLastPara="1" rIns="77050" wrap="square" tIns="38500">
            <a:noAutofit/>
          </a:bodyPr>
          <a:lstStyle/>
          <a:p>
            <a:pPr indent="0" lvl="0" marL="0" marR="0" rtl="0" algn="l">
              <a:spcBef>
                <a:spcPts val="0"/>
              </a:spcBef>
              <a:spcAft>
                <a:spcPts val="0"/>
              </a:spcAft>
              <a:buNone/>
            </a:pPr>
            <a:r>
              <a:t/>
            </a:r>
            <a:endParaRPr sz="2073">
              <a:solidFill>
                <a:schemeClr val="dk1"/>
              </a:solidFill>
              <a:latin typeface="Arial"/>
              <a:ea typeface="Arial"/>
              <a:cs typeface="Arial"/>
              <a:sym typeface="Arial"/>
            </a:endParaRPr>
          </a:p>
        </p:txBody>
      </p:sp>
      <p:sp>
        <p:nvSpPr>
          <p:cNvPr id="513" name="Google Shape;513;p33"/>
          <p:cNvSpPr/>
          <p:nvPr/>
        </p:nvSpPr>
        <p:spPr>
          <a:xfrm>
            <a:off x="5059640" y="3192479"/>
            <a:ext cx="3169500" cy="32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348"/>
              <a:buFont typeface="Arial"/>
              <a:buNone/>
            </a:pPr>
            <a:r>
              <a:rPr b="1" lang="en" sz="1848">
                <a:solidFill>
                  <a:srgbClr val="122033"/>
                </a:solidFill>
                <a:highlight>
                  <a:srgbClr val="FFFF00"/>
                </a:highlight>
                <a:latin typeface="Arial"/>
                <a:ea typeface="Arial"/>
                <a:cs typeface="Arial"/>
                <a:sym typeface="Arial"/>
              </a:rPr>
              <a:t>4. Final estimate</a:t>
            </a:r>
            <a:endParaRPr sz="1848">
              <a:solidFill>
                <a:schemeClr val="dk1"/>
              </a:solidFill>
              <a:highlight>
                <a:srgbClr val="FFFF00"/>
              </a:highlight>
              <a:latin typeface="Arial"/>
              <a:ea typeface="Arial"/>
              <a:cs typeface="Arial"/>
              <a:sym typeface="Arial"/>
            </a:endParaRPr>
          </a:p>
        </p:txBody>
      </p:sp>
      <p:sp>
        <p:nvSpPr>
          <p:cNvPr id="514" name="Google Shape;514;p33"/>
          <p:cNvSpPr/>
          <p:nvPr/>
        </p:nvSpPr>
        <p:spPr>
          <a:xfrm>
            <a:off x="5059640" y="3653881"/>
            <a:ext cx="3169500" cy="288300"/>
          </a:xfrm>
          <a:prstGeom prst="rect">
            <a:avLst/>
          </a:prstGeom>
          <a:noFill/>
          <a:ln>
            <a:noFill/>
          </a:ln>
        </p:spPr>
        <p:txBody>
          <a:bodyPr anchorCtr="0" anchor="ctr" bIns="225" lIns="225" spcFirstLastPara="1" rIns="225" wrap="square" tIns="225">
            <a:noAutofit/>
          </a:bodyPr>
          <a:lstStyle/>
          <a:p>
            <a:pPr indent="0" lvl="0" marL="0" marR="0" rtl="0" algn="l">
              <a:spcBef>
                <a:spcPts val="0"/>
              </a:spcBef>
              <a:spcAft>
                <a:spcPts val="0"/>
              </a:spcAft>
              <a:buClr>
                <a:srgbClr val="516071"/>
              </a:buClr>
              <a:buSzPts val="1124"/>
              <a:buFont typeface="Arial"/>
              <a:buNone/>
            </a:pPr>
            <a:r>
              <a:rPr lang="en" sz="1624">
                <a:solidFill>
                  <a:srgbClr val="516071"/>
                </a:solidFill>
                <a:latin typeface="Arial"/>
                <a:ea typeface="Arial"/>
                <a:cs typeface="Arial"/>
                <a:sym typeface="Arial"/>
              </a:rPr>
              <a:t>Evaluate once on the test data.</a:t>
            </a:r>
            <a:endParaRPr sz="1624">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19" name="Shape 519"/>
        <p:cNvGrpSpPr/>
        <p:nvPr/>
      </p:nvGrpSpPr>
      <p:grpSpPr>
        <a:xfrm>
          <a:off x="0" y="0"/>
          <a:ext cx="0" cy="0"/>
          <a:chOff x="0" y="0"/>
          <a:chExt cx="0" cy="0"/>
        </a:xfrm>
      </p:grpSpPr>
      <p:sp>
        <p:nvSpPr>
          <p:cNvPr id="520" name="Google Shape;520;p34"/>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21" name="Google Shape;521;p34"/>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latin typeface="Arial"/>
                <a:ea typeface="Arial"/>
                <a:cs typeface="Arial"/>
                <a:sym typeface="Arial"/>
              </a:rPr>
              <a:t>IMPLEMENTATION</a:t>
            </a:r>
            <a:endParaRPr sz="700">
              <a:solidFill>
                <a:schemeClr val="dk1"/>
              </a:solidFill>
              <a:latin typeface="Arial"/>
              <a:ea typeface="Arial"/>
              <a:cs typeface="Arial"/>
              <a:sym typeface="Arial"/>
            </a:endParaRPr>
          </a:p>
        </p:txBody>
      </p:sp>
      <p:sp>
        <p:nvSpPr>
          <p:cNvPr id="522" name="Google Shape;522;p34"/>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A reliable sklearn recipe</a:t>
            </a:r>
            <a:endParaRPr sz="2300">
              <a:solidFill>
                <a:schemeClr val="dk1"/>
              </a:solidFill>
              <a:latin typeface="Arial"/>
              <a:ea typeface="Arial"/>
              <a:cs typeface="Arial"/>
              <a:sym typeface="Arial"/>
            </a:endParaRPr>
          </a:p>
        </p:txBody>
      </p:sp>
      <p:sp>
        <p:nvSpPr>
          <p:cNvPr id="523" name="Google Shape;523;p34"/>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The notebook shows the practical ingredients: preprocessing, fitting, assessment, and selection.</a:t>
            </a:r>
            <a:endParaRPr sz="1100">
              <a:solidFill>
                <a:schemeClr val="dk1"/>
              </a:solidFill>
              <a:latin typeface="Arial"/>
              <a:ea typeface="Arial"/>
              <a:cs typeface="Arial"/>
              <a:sym typeface="Arial"/>
            </a:endParaRPr>
          </a:p>
        </p:txBody>
      </p:sp>
      <p:sp>
        <p:nvSpPr>
          <p:cNvPr id="524" name="Google Shape;524;p34"/>
          <p:cNvSpPr/>
          <p:nvPr/>
        </p:nvSpPr>
        <p:spPr>
          <a:xfrm>
            <a:off x="480050" y="1384631"/>
            <a:ext cx="1371600" cy="994500"/>
          </a:xfrm>
          <a:prstGeom prst="roundRect">
            <a:avLst>
              <a:gd fmla="val 4800"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25" name="Google Shape;525;p34"/>
          <p:cNvSpPr/>
          <p:nvPr/>
        </p:nvSpPr>
        <p:spPr>
          <a:xfrm>
            <a:off x="480050" y="1384631"/>
            <a:ext cx="54900" cy="994500"/>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26" name="Google Shape;526;p34"/>
          <p:cNvSpPr/>
          <p:nvPr/>
        </p:nvSpPr>
        <p:spPr>
          <a:xfrm>
            <a:off x="651500" y="1527825"/>
            <a:ext cx="1062900" cy="22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latin typeface="Arial"/>
                <a:ea typeface="Arial"/>
                <a:cs typeface="Arial"/>
                <a:sym typeface="Arial"/>
              </a:rPr>
              <a:t>Raw data</a:t>
            </a:r>
            <a:endParaRPr sz="1500">
              <a:solidFill>
                <a:schemeClr val="dk1"/>
              </a:solidFill>
              <a:latin typeface="Arial"/>
              <a:ea typeface="Arial"/>
              <a:cs typeface="Arial"/>
              <a:sym typeface="Arial"/>
            </a:endParaRPr>
          </a:p>
        </p:txBody>
      </p:sp>
      <p:sp>
        <p:nvSpPr>
          <p:cNvPr id="527" name="Google Shape;527;p34"/>
          <p:cNvSpPr/>
          <p:nvPr/>
        </p:nvSpPr>
        <p:spPr>
          <a:xfrm>
            <a:off x="651500" y="1846033"/>
            <a:ext cx="1062900" cy="4374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600">
                <a:solidFill>
                  <a:srgbClr val="516071"/>
                </a:solidFill>
                <a:latin typeface="Arial"/>
                <a:ea typeface="Arial"/>
                <a:cs typeface="Arial"/>
                <a:sym typeface="Arial"/>
              </a:rPr>
              <a:t>Features + target</a:t>
            </a:r>
            <a:endParaRPr sz="1600">
              <a:solidFill>
                <a:schemeClr val="dk1"/>
              </a:solidFill>
              <a:latin typeface="Arial"/>
              <a:ea typeface="Arial"/>
              <a:cs typeface="Arial"/>
              <a:sym typeface="Arial"/>
            </a:endParaRPr>
          </a:p>
        </p:txBody>
      </p:sp>
      <p:cxnSp>
        <p:nvCxnSpPr>
          <p:cNvPr id="528" name="Google Shape;528;p34"/>
          <p:cNvCxnSpPr/>
          <p:nvPr/>
        </p:nvCxnSpPr>
        <p:spPr>
          <a:xfrm>
            <a:off x="1885940" y="1885809"/>
            <a:ext cx="260700" cy="0"/>
          </a:xfrm>
          <a:prstGeom prst="straightConnector1">
            <a:avLst/>
          </a:prstGeom>
          <a:noFill/>
          <a:ln cap="flat" cmpd="sng" w="27925">
            <a:solidFill>
              <a:srgbClr val="D7DEE8"/>
            </a:solidFill>
            <a:prstDash val="solid"/>
            <a:round/>
            <a:headEnd len="sm" w="sm" type="none"/>
            <a:tailEnd len="med" w="med" type="triangle"/>
          </a:ln>
        </p:spPr>
      </p:cxnSp>
      <p:sp>
        <p:nvSpPr>
          <p:cNvPr id="529" name="Google Shape;529;p34"/>
          <p:cNvSpPr/>
          <p:nvPr/>
        </p:nvSpPr>
        <p:spPr>
          <a:xfrm>
            <a:off x="2194550" y="1384631"/>
            <a:ext cx="1371600" cy="994500"/>
          </a:xfrm>
          <a:prstGeom prst="roundRect">
            <a:avLst>
              <a:gd fmla="val 4800"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30" name="Google Shape;530;p34"/>
          <p:cNvSpPr/>
          <p:nvPr/>
        </p:nvSpPr>
        <p:spPr>
          <a:xfrm>
            <a:off x="2194550" y="1384631"/>
            <a:ext cx="54900" cy="994500"/>
          </a:xfrm>
          <a:prstGeom prst="rect">
            <a:avLst/>
          </a:prstGeom>
          <a:solidFill>
            <a:srgbClr val="079A99"/>
          </a:solidFill>
          <a:ln cap="flat" cmpd="sng" w="12700">
            <a:solidFill>
              <a:srgbClr val="079A99"/>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31" name="Google Shape;531;p34"/>
          <p:cNvSpPr/>
          <p:nvPr/>
        </p:nvSpPr>
        <p:spPr>
          <a:xfrm>
            <a:off x="2366000" y="1527825"/>
            <a:ext cx="1062900" cy="22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latin typeface="Arial"/>
                <a:ea typeface="Arial"/>
                <a:cs typeface="Arial"/>
                <a:sym typeface="Arial"/>
              </a:rPr>
              <a:t>Preprocess</a:t>
            </a:r>
            <a:endParaRPr sz="1500">
              <a:solidFill>
                <a:schemeClr val="dk1"/>
              </a:solidFill>
              <a:latin typeface="Arial"/>
              <a:ea typeface="Arial"/>
              <a:cs typeface="Arial"/>
              <a:sym typeface="Arial"/>
            </a:endParaRPr>
          </a:p>
        </p:txBody>
      </p:sp>
      <p:sp>
        <p:nvSpPr>
          <p:cNvPr id="532" name="Google Shape;532;p34"/>
          <p:cNvSpPr/>
          <p:nvPr/>
        </p:nvSpPr>
        <p:spPr>
          <a:xfrm>
            <a:off x="2366000" y="1846033"/>
            <a:ext cx="1062900" cy="4374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600">
                <a:solidFill>
                  <a:srgbClr val="516071"/>
                </a:solidFill>
                <a:latin typeface="Arial"/>
                <a:ea typeface="Arial"/>
                <a:cs typeface="Arial"/>
                <a:sym typeface="Arial"/>
              </a:rPr>
              <a:t>standardize, one-hot</a:t>
            </a:r>
            <a:endParaRPr sz="1600">
              <a:solidFill>
                <a:schemeClr val="dk1"/>
              </a:solidFill>
              <a:latin typeface="Arial"/>
              <a:ea typeface="Arial"/>
              <a:cs typeface="Arial"/>
              <a:sym typeface="Arial"/>
            </a:endParaRPr>
          </a:p>
        </p:txBody>
      </p:sp>
      <p:cxnSp>
        <p:nvCxnSpPr>
          <p:cNvPr id="533" name="Google Shape;533;p34"/>
          <p:cNvCxnSpPr/>
          <p:nvPr/>
        </p:nvCxnSpPr>
        <p:spPr>
          <a:xfrm>
            <a:off x="3600440" y="1885809"/>
            <a:ext cx="260700" cy="0"/>
          </a:xfrm>
          <a:prstGeom prst="straightConnector1">
            <a:avLst/>
          </a:prstGeom>
          <a:noFill/>
          <a:ln cap="flat" cmpd="sng" w="27925">
            <a:solidFill>
              <a:srgbClr val="D7DEE8"/>
            </a:solidFill>
            <a:prstDash val="solid"/>
            <a:round/>
            <a:headEnd len="sm" w="sm" type="none"/>
            <a:tailEnd len="med" w="med" type="triangle"/>
          </a:ln>
        </p:spPr>
      </p:cxnSp>
      <p:sp>
        <p:nvSpPr>
          <p:cNvPr id="534" name="Google Shape;534;p34"/>
          <p:cNvSpPr/>
          <p:nvPr/>
        </p:nvSpPr>
        <p:spPr>
          <a:xfrm>
            <a:off x="3909050" y="1384631"/>
            <a:ext cx="1371600" cy="994500"/>
          </a:xfrm>
          <a:prstGeom prst="roundRect">
            <a:avLst>
              <a:gd fmla="val 4800"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35" name="Google Shape;535;p34"/>
          <p:cNvSpPr/>
          <p:nvPr/>
        </p:nvSpPr>
        <p:spPr>
          <a:xfrm>
            <a:off x="3909050" y="1384631"/>
            <a:ext cx="54900" cy="994500"/>
          </a:xfrm>
          <a:prstGeom prst="rect">
            <a:avLst/>
          </a:prstGeom>
          <a:solidFill>
            <a:srgbClr val="F59E0B"/>
          </a:solidFill>
          <a:ln cap="flat" cmpd="sng" w="12700">
            <a:solidFill>
              <a:srgbClr val="F59E0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36" name="Google Shape;536;p34"/>
          <p:cNvSpPr/>
          <p:nvPr/>
        </p:nvSpPr>
        <p:spPr>
          <a:xfrm>
            <a:off x="4080500" y="1527825"/>
            <a:ext cx="1062900" cy="22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latin typeface="Arial"/>
                <a:ea typeface="Arial"/>
                <a:cs typeface="Arial"/>
                <a:sym typeface="Arial"/>
              </a:rPr>
              <a:t>Fit model</a:t>
            </a:r>
            <a:endParaRPr sz="1500">
              <a:solidFill>
                <a:schemeClr val="dk1"/>
              </a:solidFill>
              <a:latin typeface="Arial"/>
              <a:ea typeface="Arial"/>
              <a:cs typeface="Arial"/>
              <a:sym typeface="Arial"/>
            </a:endParaRPr>
          </a:p>
        </p:txBody>
      </p:sp>
      <p:sp>
        <p:nvSpPr>
          <p:cNvPr id="537" name="Google Shape;537;p34"/>
          <p:cNvSpPr/>
          <p:nvPr/>
        </p:nvSpPr>
        <p:spPr>
          <a:xfrm>
            <a:off x="4080500" y="1846033"/>
            <a:ext cx="1062900" cy="4374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600">
                <a:solidFill>
                  <a:srgbClr val="516071"/>
                </a:solidFill>
                <a:latin typeface="Arial"/>
                <a:ea typeface="Arial"/>
                <a:cs typeface="Arial"/>
                <a:sym typeface="Arial"/>
              </a:rPr>
              <a:t>kNN, SVM, tree</a:t>
            </a:r>
            <a:endParaRPr sz="1600">
              <a:solidFill>
                <a:schemeClr val="dk1"/>
              </a:solidFill>
              <a:latin typeface="Arial"/>
              <a:ea typeface="Arial"/>
              <a:cs typeface="Arial"/>
              <a:sym typeface="Arial"/>
            </a:endParaRPr>
          </a:p>
        </p:txBody>
      </p:sp>
      <p:cxnSp>
        <p:nvCxnSpPr>
          <p:cNvPr id="538" name="Google Shape;538;p34"/>
          <p:cNvCxnSpPr/>
          <p:nvPr/>
        </p:nvCxnSpPr>
        <p:spPr>
          <a:xfrm>
            <a:off x="5314940" y="1885809"/>
            <a:ext cx="260700" cy="0"/>
          </a:xfrm>
          <a:prstGeom prst="straightConnector1">
            <a:avLst/>
          </a:prstGeom>
          <a:noFill/>
          <a:ln cap="flat" cmpd="sng" w="27925">
            <a:solidFill>
              <a:srgbClr val="D7DEE8"/>
            </a:solidFill>
            <a:prstDash val="solid"/>
            <a:round/>
            <a:headEnd len="sm" w="sm" type="none"/>
            <a:tailEnd len="med" w="med" type="triangle"/>
          </a:ln>
        </p:spPr>
      </p:cxnSp>
      <p:sp>
        <p:nvSpPr>
          <p:cNvPr id="539" name="Google Shape;539;p34"/>
          <p:cNvSpPr/>
          <p:nvPr/>
        </p:nvSpPr>
        <p:spPr>
          <a:xfrm>
            <a:off x="5623550" y="1384631"/>
            <a:ext cx="1371600" cy="994500"/>
          </a:xfrm>
          <a:prstGeom prst="roundRect">
            <a:avLst>
              <a:gd fmla="val 4800"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40" name="Google Shape;540;p34"/>
          <p:cNvSpPr/>
          <p:nvPr/>
        </p:nvSpPr>
        <p:spPr>
          <a:xfrm>
            <a:off x="5623550" y="1384631"/>
            <a:ext cx="54900" cy="994500"/>
          </a:xfrm>
          <a:prstGeom prst="rect">
            <a:avLst/>
          </a:prstGeom>
          <a:solidFill>
            <a:srgbClr val="7C3AED"/>
          </a:solidFill>
          <a:ln cap="flat" cmpd="sng" w="12700">
            <a:solidFill>
              <a:srgbClr val="7C3AE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41" name="Google Shape;541;p34"/>
          <p:cNvSpPr/>
          <p:nvPr/>
        </p:nvSpPr>
        <p:spPr>
          <a:xfrm>
            <a:off x="5795000" y="1527825"/>
            <a:ext cx="1062900" cy="22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latin typeface="Arial"/>
                <a:ea typeface="Arial"/>
                <a:cs typeface="Arial"/>
                <a:sym typeface="Arial"/>
              </a:rPr>
              <a:t>Evaluate</a:t>
            </a:r>
            <a:endParaRPr sz="1500">
              <a:solidFill>
                <a:schemeClr val="dk1"/>
              </a:solidFill>
              <a:latin typeface="Arial"/>
              <a:ea typeface="Arial"/>
              <a:cs typeface="Arial"/>
              <a:sym typeface="Arial"/>
            </a:endParaRPr>
          </a:p>
        </p:txBody>
      </p:sp>
      <p:sp>
        <p:nvSpPr>
          <p:cNvPr id="542" name="Google Shape;542;p34"/>
          <p:cNvSpPr/>
          <p:nvPr/>
        </p:nvSpPr>
        <p:spPr>
          <a:xfrm>
            <a:off x="5795000" y="1846033"/>
            <a:ext cx="1062900" cy="4374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600">
                <a:solidFill>
                  <a:srgbClr val="516071"/>
                </a:solidFill>
                <a:latin typeface="Arial"/>
                <a:ea typeface="Arial"/>
                <a:cs typeface="Arial"/>
                <a:sym typeface="Arial"/>
              </a:rPr>
              <a:t>metrics + plots</a:t>
            </a:r>
            <a:endParaRPr sz="1600">
              <a:solidFill>
                <a:schemeClr val="dk1"/>
              </a:solidFill>
              <a:latin typeface="Arial"/>
              <a:ea typeface="Arial"/>
              <a:cs typeface="Arial"/>
              <a:sym typeface="Arial"/>
            </a:endParaRPr>
          </a:p>
        </p:txBody>
      </p:sp>
      <p:cxnSp>
        <p:nvCxnSpPr>
          <p:cNvPr id="543" name="Google Shape;543;p34"/>
          <p:cNvCxnSpPr/>
          <p:nvPr/>
        </p:nvCxnSpPr>
        <p:spPr>
          <a:xfrm>
            <a:off x="7029440" y="1885809"/>
            <a:ext cx="260700" cy="0"/>
          </a:xfrm>
          <a:prstGeom prst="straightConnector1">
            <a:avLst/>
          </a:prstGeom>
          <a:noFill/>
          <a:ln cap="flat" cmpd="sng" w="27925">
            <a:solidFill>
              <a:srgbClr val="D7DEE8"/>
            </a:solidFill>
            <a:prstDash val="solid"/>
            <a:round/>
            <a:headEnd len="sm" w="sm" type="none"/>
            <a:tailEnd len="med" w="med" type="triangle"/>
          </a:ln>
        </p:spPr>
      </p:cxnSp>
      <p:sp>
        <p:nvSpPr>
          <p:cNvPr id="544" name="Google Shape;544;p34"/>
          <p:cNvSpPr/>
          <p:nvPr/>
        </p:nvSpPr>
        <p:spPr>
          <a:xfrm>
            <a:off x="7338050" y="1384631"/>
            <a:ext cx="1371600" cy="994500"/>
          </a:xfrm>
          <a:prstGeom prst="roundRect">
            <a:avLst>
              <a:gd fmla="val 4800"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45" name="Google Shape;545;p34"/>
          <p:cNvSpPr/>
          <p:nvPr/>
        </p:nvSpPr>
        <p:spPr>
          <a:xfrm>
            <a:off x="7338050" y="1384631"/>
            <a:ext cx="54900" cy="994500"/>
          </a:xfrm>
          <a:prstGeom prst="rect">
            <a:avLst/>
          </a:prstGeom>
          <a:solidFill>
            <a:srgbClr val="169B62"/>
          </a:solidFill>
          <a:ln cap="flat" cmpd="sng" w="12700">
            <a:solidFill>
              <a:srgbClr val="169B6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46" name="Google Shape;546;p34"/>
          <p:cNvSpPr/>
          <p:nvPr/>
        </p:nvSpPr>
        <p:spPr>
          <a:xfrm>
            <a:off x="7509500" y="1527825"/>
            <a:ext cx="1062900" cy="22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latin typeface="Arial"/>
                <a:ea typeface="Arial"/>
                <a:cs typeface="Arial"/>
                <a:sym typeface="Arial"/>
              </a:rPr>
              <a:t>Select</a:t>
            </a:r>
            <a:endParaRPr sz="1500">
              <a:solidFill>
                <a:schemeClr val="dk1"/>
              </a:solidFill>
              <a:latin typeface="Arial"/>
              <a:ea typeface="Arial"/>
              <a:cs typeface="Arial"/>
              <a:sym typeface="Arial"/>
            </a:endParaRPr>
          </a:p>
        </p:txBody>
      </p:sp>
      <p:sp>
        <p:nvSpPr>
          <p:cNvPr id="547" name="Google Shape;547;p34"/>
          <p:cNvSpPr/>
          <p:nvPr/>
        </p:nvSpPr>
        <p:spPr>
          <a:xfrm>
            <a:off x="7509500" y="1846033"/>
            <a:ext cx="1062900" cy="4374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600">
                <a:solidFill>
                  <a:srgbClr val="516071"/>
                </a:solidFill>
                <a:latin typeface="Arial"/>
                <a:ea typeface="Arial"/>
                <a:cs typeface="Arial"/>
                <a:sym typeface="Arial"/>
              </a:rPr>
              <a:t>CV / grid search</a:t>
            </a:r>
            <a:endParaRPr sz="1600">
              <a:solidFill>
                <a:schemeClr val="dk1"/>
              </a:solidFill>
              <a:latin typeface="Arial"/>
              <a:ea typeface="Arial"/>
              <a:cs typeface="Arial"/>
              <a:sym typeface="Arial"/>
            </a:endParaRPr>
          </a:p>
        </p:txBody>
      </p:sp>
      <p:sp>
        <p:nvSpPr>
          <p:cNvPr id="548" name="Google Shape;548;p34"/>
          <p:cNvSpPr/>
          <p:nvPr/>
        </p:nvSpPr>
        <p:spPr>
          <a:xfrm>
            <a:off x="685800" y="2743200"/>
            <a:ext cx="7680960" cy="994410"/>
          </a:xfrm>
          <a:prstGeom prst="rect">
            <a:avLst/>
          </a:prstGeom>
          <a:noFill/>
          <a:ln>
            <a:noFill/>
          </a:ln>
        </p:spPr>
        <p:txBody>
          <a:bodyPr anchorCtr="0" anchor="ctr" bIns="575" lIns="575" spcFirstLastPara="1" rIns="575" wrap="square" tIns="575">
            <a:noAutofit/>
          </a:bodyPr>
          <a:lstStyle/>
          <a:p>
            <a:pPr indent="0" lvl="0" marL="0" marR="0" rtl="0" algn="l">
              <a:spcBef>
                <a:spcPts val="0"/>
              </a:spcBef>
              <a:spcAft>
                <a:spcPts val="0"/>
              </a:spcAft>
              <a:buNone/>
            </a:pPr>
            <a:r>
              <a:rPr lang="en" sz="1300">
                <a:solidFill>
                  <a:srgbClr val="122033"/>
                </a:solidFill>
                <a:latin typeface="Arial"/>
                <a:ea typeface="Arial"/>
                <a:cs typeface="Arial"/>
                <a:sym typeface="Arial"/>
              </a:rPr>
              <a:t>Standardize continuous features when distance or magnitude matters.</a:t>
            </a:r>
            <a:endParaRPr sz="1300">
              <a:solidFill>
                <a:schemeClr val="dk1"/>
              </a:solidFill>
              <a:latin typeface="Arial"/>
              <a:ea typeface="Arial"/>
              <a:cs typeface="Arial"/>
              <a:sym typeface="Arial"/>
            </a:endParaRPr>
          </a:p>
          <a:p>
            <a:pPr indent="0" lvl="0" marL="0" marR="0" rtl="0" algn="l">
              <a:spcBef>
                <a:spcPts val="0"/>
              </a:spcBef>
              <a:spcAft>
                <a:spcPts val="0"/>
              </a:spcAft>
              <a:buNone/>
            </a:pPr>
            <a:r>
              <a:rPr lang="en" sz="1300">
                <a:solidFill>
                  <a:srgbClr val="122033"/>
                </a:solidFill>
                <a:latin typeface="Arial"/>
                <a:ea typeface="Arial"/>
                <a:cs typeface="Arial"/>
                <a:sym typeface="Arial"/>
              </a:rPr>
              <a:t>One-hot encode unordered categorical variables.</a:t>
            </a:r>
            <a:endParaRPr sz="1300">
              <a:solidFill>
                <a:schemeClr val="dk1"/>
              </a:solidFill>
              <a:latin typeface="Arial"/>
              <a:ea typeface="Arial"/>
              <a:cs typeface="Arial"/>
              <a:sym typeface="Arial"/>
            </a:endParaRPr>
          </a:p>
          <a:p>
            <a:pPr indent="0" lvl="0" marL="0" marR="0" rtl="0" algn="l">
              <a:spcBef>
                <a:spcPts val="0"/>
              </a:spcBef>
              <a:spcAft>
                <a:spcPts val="0"/>
              </a:spcAft>
              <a:buNone/>
            </a:pPr>
            <a:r>
              <a:rPr lang="en" sz="1300">
                <a:solidFill>
                  <a:srgbClr val="122033"/>
                </a:solidFill>
                <a:latin typeface="Arial"/>
                <a:ea typeface="Arial"/>
                <a:cs typeface="Arial"/>
                <a:sym typeface="Arial"/>
              </a:rPr>
              <a:t>Use train_test_split, cross_val_score / cross_val_predict, GridSearchCV, and Pipeline as needed.</a:t>
            </a:r>
            <a:endParaRPr sz="1300">
              <a:solidFill>
                <a:schemeClr val="dk1"/>
              </a:solidFill>
              <a:latin typeface="Arial"/>
              <a:ea typeface="Arial"/>
              <a:cs typeface="Arial"/>
              <a:sym typeface="Arial"/>
            </a:endParaRPr>
          </a:p>
          <a:p>
            <a:pPr indent="0" lvl="0" marL="0" marR="0" rtl="0" algn="l">
              <a:spcBef>
                <a:spcPts val="0"/>
              </a:spcBef>
              <a:spcAft>
                <a:spcPts val="0"/>
              </a:spcAft>
              <a:buNone/>
            </a:pPr>
            <a:r>
              <a:rPr lang="en" sz="1300">
                <a:solidFill>
                  <a:srgbClr val="122033"/>
                </a:solidFill>
                <a:latin typeface="Arial"/>
                <a:ea typeface="Arial"/>
                <a:cs typeface="Arial"/>
                <a:sym typeface="Arial"/>
              </a:rPr>
              <a:t>Use grouped or stratified split strategies when observations are not independent or classes are imbalanced.</a:t>
            </a:r>
            <a:endParaRPr sz="1300">
              <a:solidFill>
                <a:schemeClr val="dk1"/>
              </a:solidFill>
              <a:latin typeface="Arial"/>
              <a:ea typeface="Arial"/>
              <a:cs typeface="Arial"/>
              <a:sym typeface="Arial"/>
            </a:endParaRPr>
          </a:p>
        </p:txBody>
      </p:sp>
      <p:sp>
        <p:nvSpPr>
          <p:cNvPr id="549" name="Google Shape;549;p34"/>
          <p:cNvSpPr/>
          <p:nvPr/>
        </p:nvSpPr>
        <p:spPr>
          <a:xfrm>
            <a:off x="754380" y="4101084"/>
            <a:ext cx="7612380" cy="301752"/>
          </a:xfrm>
          <a:prstGeom prst="roundRect">
            <a:avLst>
              <a:gd fmla="val 9091" name="adj"/>
            </a:avLst>
          </a:prstGeom>
          <a:solidFill>
            <a:srgbClr val="FFE082"/>
          </a:solidFill>
          <a:ln cap="flat" cmpd="sng" w="12700">
            <a:solidFill>
              <a:srgbClr val="FFE08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50" name="Google Shape;550;p34"/>
          <p:cNvSpPr/>
          <p:nvPr/>
        </p:nvSpPr>
        <p:spPr>
          <a:xfrm>
            <a:off x="857250" y="4176522"/>
            <a:ext cx="7406640"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033"/>
              </a:buClr>
              <a:buSzPts val="1100"/>
              <a:buFont typeface="Arial"/>
              <a:buNone/>
            </a:pPr>
            <a:r>
              <a:rPr b="1" lang="en" sz="1100">
                <a:solidFill>
                  <a:srgbClr val="122033"/>
                </a:solidFill>
                <a:latin typeface="Arial"/>
                <a:ea typeface="Arial"/>
                <a:cs typeface="Arial"/>
                <a:sym typeface="Arial"/>
              </a:rPr>
              <a:t>Main implementation principle: avoid leakage between training, validation, and test data.</a:t>
            </a:r>
            <a:endParaRPr sz="11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555" name="Shape 555"/>
        <p:cNvGrpSpPr/>
        <p:nvPr/>
      </p:nvGrpSpPr>
      <p:grpSpPr>
        <a:xfrm>
          <a:off x="0" y="0"/>
          <a:ext cx="0" cy="0"/>
          <a:chOff x="0" y="0"/>
          <a:chExt cx="0" cy="0"/>
        </a:xfrm>
      </p:grpSpPr>
      <p:sp>
        <p:nvSpPr>
          <p:cNvPr id="556" name="Google Shape;556;p35"/>
          <p:cNvSpPr/>
          <p:nvPr/>
        </p:nvSpPr>
        <p:spPr>
          <a:xfrm>
            <a:off x="0" y="0"/>
            <a:ext cx="9143771" cy="109728"/>
          </a:xfrm>
          <a:prstGeom prst="rect">
            <a:avLst/>
          </a:prstGeom>
          <a:solidFill>
            <a:srgbClr val="2D6CDF"/>
          </a:solidFill>
          <a:ln cap="flat" cmpd="sng" w="12700">
            <a:solidFill>
              <a:srgbClr val="2D6CD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57" name="Google Shape;557;p35"/>
          <p:cNvSpPr/>
          <p:nvPr/>
        </p:nvSpPr>
        <p:spPr>
          <a:xfrm>
            <a:off x="377190" y="178308"/>
            <a:ext cx="2743200" cy="1097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6CDF"/>
              </a:buClr>
              <a:buSzPts val="700"/>
              <a:buFont typeface="Arial"/>
              <a:buNone/>
            </a:pPr>
            <a:r>
              <a:rPr b="1" lang="en" sz="700">
                <a:solidFill>
                  <a:srgbClr val="2D6CDF"/>
                </a:solidFill>
              </a:rPr>
              <a:t>Text Features</a:t>
            </a:r>
            <a:endParaRPr sz="700">
              <a:solidFill>
                <a:schemeClr val="dk1"/>
              </a:solidFill>
              <a:latin typeface="Arial"/>
              <a:ea typeface="Arial"/>
              <a:cs typeface="Arial"/>
              <a:sym typeface="Arial"/>
            </a:endParaRPr>
          </a:p>
        </p:txBody>
      </p:sp>
      <p:sp>
        <p:nvSpPr>
          <p:cNvPr id="558" name="Google Shape;558;p35"/>
          <p:cNvSpPr/>
          <p:nvPr/>
        </p:nvSpPr>
        <p:spPr>
          <a:xfrm>
            <a:off x="377190" y="384048"/>
            <a:ext cx="8366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2300"/>
              <a:buFont typeface="Play"/>
              <a:buNone/>
            </a:pPr>
            <a:r>
              <a:rPr b="1" lang="en" sz="2300">
                <a:solidFill>
                  <a:srgbClr val="122033"/>
                </a:solidFill>
                <a:latin typeface="Play"/>
                <a:ea typeface="Play"/>
                <a:cs typeface="Play"/>
                <a:sym typeface="Play"/>
              </a:rPr>
              <a:t>Text features: tokens, TF–IDF, and sentiment</a:t>
            </a:r>
            <a:endParaRPr sz="2300">
              <a:solidFill>
                <a:schemeClr val="dk1"/>
              </a:solidFill>
              <a:latin typeface="Arial"/>
              <a:ea typeface="Arial"/>
              <a:cs typeface="Arial"/>
              <a:sym typeface="Arial"/>
            </a:endParaRPr>
          </a:p>
        </p:txBody>
      </p:sp>
      <p:sp>
        <p:nvSpPr>
          <p:cNvPr id="559" name="Google Shape;559;p35"/>
          <p:cNvSpPr/>
          <p:nvPr/>
        </p:nvSpPr>
        <p:spPr>
          <a:xfrm>
            <a:off x="397764" y="836676"/>
            <a:ext cx="80924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6071"/>
              </a:buClr>
              <a:buSzPts val="1100"/>
              <a:buFont typeface="Arial"/>
              <a:buNone/>
            </a:pPr>
            <a:r>
              <a:rPr lang="en" sz="1100">
                <a:solidFill>
                  <a:srgbClr val="516071"/>
                </a:solidFill>
                <a:latin typeface="Arial"/>
                <a:ea typeface="Arial"/>
                <a:cs typeface="Arial"/>
                <a:sym typeface="Arial"/>
              </a:rPr>
              <a:t>For text data, the model sees engineered representations of words or tokens.</a:t>
            </a:r>
            <a:endParaRPr sz="1100">
              <a:solidFill>
                <a:schemeClr val="dk1"/>
              </a:solidFill>
              <a:latin typeface="Arial"/>
              <a:ea typeface="Arial"/>
              <a:cs typeface="Arial"/>
              <a:sym typeface="Arial"/>
            </a:endParaRPr>
          </a:p>
        </p:txBody>
      </p:sp>
      <p:sp>
        <p:nvSpPr>
          <p:cNvPr id="560" name="Google Shape;560;p35"/>
          <p:cNvSpPr/>
          <p:nvPr/>
        </p:nvSpPr>
        <p:spPr>
          <a:xfrm>
            <a:off x="534924" y="1131570"/>
            <a:ext cx="3840480" cy="493776"/>
          </a:xfrm>
          <a:prstGeom prst="roundRect">
            <a:avLst>
              <a:gd fmla="val 8333" name="adj"/>
            </a:avLst>
          </a:prstGeom>
          <a:solidFill>
            <a:srgbClr val="FFFFFF"/>
          </a:solidFill>
          <a:ln cap="flat" cmpd="sng" w="12700">
            <a:solidFill>
              <a:srgbClr val="DDE5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61" name="Google Shape;561;p35"/>
          <p:cNvSpPr/>
          <p:nvPr/>
        </p:nvSpPr>
        <p:spPr>
          <a:xfrm>
            <a:off x="685800" y="1303020"/>
            <a:ext cx="353187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300"/>
              <a:buFont typeface="Arial"/>
              <a:buNone/>
            </a:pPr>
            <a:r>
              <a:rPr b="1" lang="en" sz="1300">
                <a:solidFill>
                  <a:srgbClr val="122033"/>
                </a:solidFill>
                <a:latin typeface="Arial"/>
                <a:ea typeface="Arial"/>
                <a:cs typeface="Arial"/>
                <a:sym typeface="Arial"/>
              </a:rPr>
              <a:t>“The penalty kick went over the bar.”</a:t>
            </a:r>
            <a:endParaRPr sz="1300">
              <a:solidFill>
                <a:schemeClr val="dk1"/>
              </a:solidFill>
              <a:latin typeface="Arial"/>
              <a:ea typeface="Arial"/>
              <a:cs typeface="Arial"/>
              <a:sym typeface="Arial"/>
            </a:endParaRPr>
          </a:p>
        </p:txBody>
      </p:sp>
      <p:sp>
        <p:nvSpPr>
          <p:cNvPr id="562" name="Google Shape;562;p35"/>
          <p:cNvSpPr/>
          <p:nvPr/>
        </p:nvSpPr>
        <p:spPr>
          <a:xfrm>
            <a:off x="466702" y="1865375"/>
            <a:ext cx="697500" cy="308400"/>
          </a:xfrm>
          <a:prstGeom prst="roundRect">
            <a:avLst>
              <a:gd fmla="val 19048" name="adj"/>
            </a:avLst>
          </a:prstGeom>
          <a:solidFill>
            <a:srgbClr val="D9E8FF"/>
          </a:solidFill>
          <a:ln cap="flat" cmpd="sng" w="13600">
            <a:solidFill>
              <a:srgbClr val="D9E8FF"/>
            </a:solidFill>
            <a:prstDash val="solid"/>
            <a:round/>
            <a:headEnd len="sm" w="sm" type="none"/>
            <a:tailEnd len="sm" w="sm" type="none"/>
          </a:ln>
        </p:spPr>
        <p:txBody>
          <a:bodyPr anchorCtr="0" anchor="t" bIns="36700" lIns="73425" spcFirstLastPara="1" rIns="73425" wrap="square" tIns="36700">
            <a:noAutofit/>
          </a:bodyPr>
          <a:lstStyle/>
          <a:p>
            <a:pPr indent="0" lvl="0" marL="0" marR="0" rtl="0" algn="l">
              <a:spcBef>
                <a:spcPts val="0"/>
              </a:spcBef>
              <a:spcAft>
                <a:spcPts val="0"/>
              </a:spcAft>
              <a:buNone/>
            </a:pPr>
            <a:r>
              <a:t/>
            </a:r>
            <a:endParaRPr sz="1499">
              <a:solidFill>
                <a:schemeClr val="dk1"/>
              </a:solidFill>
              <a:latin typeface="Arial"/>
              <a:ea typeface="Arial"/>
              <a:cs typeface="Arial"/>
              <a:sym typeface="Arial"/>
            </a:endParaRPr>
          </a:p>
        </p:txBody>
      </p:sp>
      <p:sp>
        <p:nvSpPr>
          <p:cNvPr id="563" name="Google Shape;563;p35"/>
          <p:cNvSpPr/>
          <p:nvPr/>
        </p:nvSpPr>
        <p:spPr>
          <a:xfrm>
            <a:off x="503413" y="1902085"/>
            <a:ext cx="624000" cy="2349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2D6CDF"/>
              </a:buClr>
              <a:buSzPts val="1071"/>
              <a:buFont typeface="Arial"/>
              <a:buNone/>
            </a:pPr>
            <a:r>
              <a:rPr b="1" lang="en" sz="1071">
                <a:solidFill>
                  <a:srgbClr val="2D6CDF"/>
                </a:solidFill>
                <a:latin typeface="Arial"/>
                <a:ea typeface="Arial"/>
                <a:cs typeface="Arial"/>
                <a:sym typeface="Arial"/>
              </a:rPr>
              <a:t>penalty</a:t>
            </a:r>
            <a:endParaRPr sz="1071">
              <a:solidFill>
                <a:schemeClr val="dk1"/>
              </a:solidFill>
              <a:latin typeface="Arial"/>
              <a:ea typeface="Arial"/>
              <a:cs typeface="Arial"/>
              <a:sym typeface="Arial"/>
            </a:endParaRPr>
          </a:p>
        </p:txBody>
      </p:sp>
      <p:sp>
        <p:nvSpPr>
          <p:cNvPr id="564" name="Google Shape;564;p35"/>
          <p:cNvSpPr/>
          <p:nvPr/>
        </p:nvSpPr>
        <p:spPr>
          <a:xfrm>
            <a:off x="1274354" y="1865375"/>
            <a:ext cx="697500" cy="308400"/>
          </a:xfrm>
          <a:prstGeom prst="roundRect">
            <a:avLst>
              <a:gd fmla="val 19048" name="adj"/>
            </a:avLst>
          </a:prstGeom>
          <a:solidFill>
            <a:srgbClr val="D9E8FF"/>
          </a:solidFill>
          <a:ln cap="flat" cmpd="sng" w="13600">
            <a:solidFill>
              <a:srgbClr val="D9E8FF"/>
            </a:solidFill>
            <a:prstDash val="solid"/>
            <a:round/>
            <a:headEnd len="sm" w="sm" type="none"/>
            <a:tailEnd len="sm" w="sm" type="none"/>
          </a:ln>
        </p:spPr>
        <p:txBody>
          <a:bodyPr anchorCtr="0" anchor="t" bIns="36700" lIns="73425" spcFirstLastPara="1" rIns="73425" wrap="square" tIns="36700">
            <a:noAutofit/>
          </a:bodyPr>
          <a:lstStyle/>
          <a:p>
            <a:pPr indent="0" lvl="0" marL="0" marR="0" rtl="0" algn="l">
              <a:spcBef>
                <a:spcPts val="0"/>
              </a:spcBef>
              <a:spcAft>
                <a:spcPts val="0"/>
              </a:spcAft>
              <a:buNone/>
            </a:pPr>
            <a:r>
              <a:t/>
            </a:r>
            <a:endParaRPr sz="1499">
              <a:solidFill>
                <a:schemeClr val="dk1"/>
              </a:solidFill>
              <a:latin typeface="Arial"/>
              <a:ea typeface="Arial"/>
              <a:cs typeface="Arial"/>
              <a:sym typeface="Arial"/>
            </a:endParaRPr>
          </a:p>
        </p:txBody>
      </p:sp>
      <p:sp>
        <p:nvSpPr>
          <p:cNvPr id="565" name="Google Shape;565;p35"/>
          <p:cNvSpPr/>
          <p:nvPr/>
        </p:nvSpPr>
        <p:spPr>
          <a:xfrm>
            <a:off x="1311066" y="1902085"/>
            <a:ext cx="624000" cy="2349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2D6CDF"/>
              </a:buClr>
              <a:buSzPts val="1071"/>
              <a:buFont typeface="Arial"/>
              <a:buNone/>
            </a:pPr>
            <a:r>
              <a:rPr b="1" lang="en" sz="1071">
                <a:solidFill>
                  <a:srgbClr val="2D6CDF"/>
                </a:solidFill>
                <a:latin typeface="Arial"/>
                <a:ea typeface="Arial"/>
                <a:cs typeface="Arial"/>
                <a:sym typeface="Arial"/>
              </a:rPr>
              <a:t>kick</a:t>
            </a:r>
            <a:endParaRPr sz="1071">
              <a:solidFill>
                <a:schemeClr val="dk1"/>
              </a:solidFill>
              <a:latin typeface="Arial"/>
              <a:ea typeface="Arial"/>
              <a:cs typeface="Arial"/>
              <a:sym typeface="Arial"/>
            </a:endParaRPr>
          </a:p>
        </p:txBody>
      </p:sp>
      <p:sp>
        <p:nvSpPr>
          <p:cNvPr id="566" name="Google Shape;566;p35"/>
          <p:cNvSpPr/>
          <p:nvPr/>
        </p:nvSpPr>
        <p:spPr>
          <a:xfrm>
            <a:off x="2082007" y="1865375"/>
            <a:ext cx="697500" cy="308400"/>
          </a:xfrm>
          <a:prstGeom prst="roundRect">
            <a:avLst>
              <a:gd fmla="val 19048" name="adj"/>
            </a:avLst>
          </a:prstGeom>
          <a:solidFill>
            <a:srgbClr val="D9E8FF"/>
          </a:solidFill>
          <a:ln cap="flat" cmpd="sng" w="13600">
            <a:solidFill>
              <a:srgbClr val="D9E8FF"/>
            </a:solidFill>
            <a:prstDash val="solid"/>
            <a:round/>
            <a:headEnd len="sm" w="sm" type="none"/>
            <a:tailEnd len="sm" w="sm" type="none"/>
          </a:ln>
        </p:spPr>
        <p:txBody>
          <a:bodyPr anchorCtr="0" anchor="t" bIns="36700" lIns="73425" spcFirstLastPara="1" rIns="73425" wrap="square" tIns="36700">
            <a:noAutofit/>
          </a:bodyPr>
          <a:lstStyle/>
          <a:p>
            <a:pPr indent="0" lvl="0" marL="0" marR="0" rtl="0" algn="l">
              <a:spcBef>
                <a:spcPts val="0"/>
              </a:spcBef>
              <a:spcAft>
                <a:spcPts val="0"/>
              </a:spcAft>
              <a:buNone/>
            </a:pPr>
            <a:r>
              <a:t/>
            </a:r>
            <a:endParaRPr sz="1499">
              <a:solidFill>
                <a:schemeClr val="dk1"/>
              </a:solidFill>
              <a:latin typeface="Arial"/>
              <a:ea typeface="Arial"/>
              <a:cs typeface="Arial"/>
              <a:sym typeface="Arial"/>
            </a:endParaRPr>
          </a:p>
        </p:txBody>
      </p:sp>
      <p:sp>
        <p:nvSpPr>
          <p:cNvPr id="567" name="Google Shape;567;p35"/>
          <p:cNvSpPr/>
          <p:nvPr/>
        </p:nvSpPr>
        <p:spPr>
          <a:xfrm>
            <a:off x="2118718" y="1902085"/>
            <a:ext cx="624000" cy="2349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2D6CDF"/>
              </a:buClr>
              <a:buSzPts val="1071"/>
              <a:buFont typeface="Arial"/>
              <a:buNone/>
            </a:pPr>
            <a:r>
              <a:rPr b="1" lang="en" sz="1071">
                <a:solidFill>
                  <a:srgbClr val="2D6CDF"/>
                </a:solidFill>
                <a:latin typeface="Arial"/>
                <a:ea typeface="Arial"/>
                <a:cs typeface="Arial"/>
                <a:sym typeface="Arial"/>
              </a:rPr>
              <a:t>went</a:t>
            </a:r>
            <a:endParaRPr sz="1071">
              <a:solidFill>
                <a:schemeClr val="dk1"/>
              </a:solidFill>
              <a:latin typeface="Arial"/>
              <a:ea typeface="Arial"/>
              <a:cs typeface="Arial"/>
              <a:sym typeface="Arial"/>
            </a:endParaRPr>
          </a:p>
        </p:txBody>
      </p:sp>
      <p:sp>
        <p:nvSpPr>
          <p:cNvPr id="568" name="Google Shape;568;p35"/>
          <p:cNvSpPr/>
          <p:nvPr/>
        </p:nvSpPr>
        <p:spPr>
          <a:xfrm>
            <a:off x="2889659" y="1865375"/>
            <a:ext cx="697500" cy="308400"/>
          </a:xfrm>
          <a:prstGeom prst="roundRect">
            <a:avLst>
              <a:gd fmla="val 19048" name="adj"/>
            </a:avLst>
          </a:prstGeom>
          <a:solidFill>
            <a:srgbClr val="D9E8FF"/>
          </a:solidFill>
          <a:ln cap="flat" cmpd="sng" w="13600">
            <a:solidFill>
              <a:srgbClr val="D9E8FF"/>
            </a:solidFill>
            <a:prstDash val="solid"/>
            <a:round/>
            <a:headEnd len="sm" w="sm" type="none"/>
            <a:tailEnd len="sm" w="sm" type="none"/>
          </a:ln>
        </p:spPr>
        <p:txBody>
          <a:bodyPr anchorCtr="0" anchor="t" bIns="36700" lIns="73425" spcFirstLastPara="1" rIns="73425" wrap="square" tIns="36700">
            <a:noAutofit/>
          </a:bodyPr>
          <a:lstStyle/>
          <a:p>
            <a:pPr indent="0" lvl="0" marL="0" marR="0" rtl="0" algn="l">
              <a:spcBef>
                <a:spcPts val="0"/>
              </a:spcBef>
              <a:spcAft>
                <a:spcPts val="0"/>
              </a:spcAft>
              <a:buNone/>
            </a:pPr>
            <a:r>
              <a:t/>
            </a:r>
            <a:endParaRPr sz="1499">
              <a:solidFill>
                <a:schemeClr val="dk1"/>
              </a:solidFill>
              <a:latin typeface="Arial"/>
              <a:ea typeface="Arial"/>
              <a:cs typeface="Arial"/>
              <a:sym typeface="Arial"/>
            </a:endParaRPr>
          </a:p>
        </p:txBody>
      </p:sp>
      <p:sp>
        <p:nvSpPr>
          <p:cNvPr id="569" name="Google Shape;569;p35"/>
          <p:cNvSpPr/>
          <p:nvPr/>
        </p:nvSpPr>
        <p:spPr>
          <a:xfrm>
            <a:off x="2926371" y="1902085"/>
            <a:ext cx="624000" cy="2349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2D6CDF"/>
              </a:buClr>
              <a:buSzPts val="1071"/>
              <a:buFont typeface="Arial"/>
              <a:buNone/>
            </a:pPr>
            <a:r>
              <a:rPr b="1" lang="en" sz="1071">
                <a:solidFill>
                  <a:srgbClr val="2D6CDF"/>
                </a:solidFill>
                <a:latin typeface="Arial"/>
                <a:ea typeface="Arial"/>
                <a:cs typeface="Arial"/>
                <a:sym typeface="Arial"/>
              </a:rPr>
              <a:t>over</a:t>
            </a:r>
            <a:endParaRPr sz="1071">
              <a:solidFill>
                <a:schemeClr val="dk1"/>
              </a:solidFill>
              <a:latin typeface="Arial"/>
              <a:ea typeface="Arial"/>
              <a:cs typeface="Arial"/>
              <a:sym typeface="Arial"/>
            </a:endParaRPr>
          </a:p>
        </p:txBody>
      </p:sp>
      <p:sp>
        <p:nvSpPr>
          <p:cNvPr id="570" name="Google Shape;570;p35"/>
          <p:cNvSpPr/>
          <p:nvPr/>
        </p:nvSpPr>
        <p:spPr>
          <a:xfrm>
            <a:off x="3697312" y="1865375"/>
            <a:ext cx="697500" cy="308400"/>
          </a:xfrm>
          <a:prstGeom prst="roundRect">
            <a:avLst>
              <a:gd fmla="val 19048" name="adj"/>
            </a:avLst>
          </a:prstGeom>
          <a:solidFill>
            <a:srgbClr val="D9E8FF"/>
          </a:solidFill>
          <a:ln cap="flat" cmpd="sng" w="13600">
            <a:solidFill>
              <a:srgbClr val="D9E8FF"/>
            </a:solidFill>
            <a:prstDash val="solid"/>
            <a:round/>
            <a:headEnd len="sm" w="sm" type="none"/>
            <a:tailEnd len="sm" w="sm" type="none"/>
          </a:ln>
        </p:spPr>
        <p:txBody>
          <a:bodyPr anchorCtr="0" anchor="t" bIns="36700" lIns="73425" spcFirstLastPara="1" rIns="73425" wrap="square" tIns="36700">
            <a:noAutofit/>
          </a:bodyPr>
          <a:lstStyle/>
          <a:p>
            <a:pPr indent="0" lvl="0" marL="0" marR="0" rtl="0" algn="l">
              <a:spcBef>
                <a:spcPts val="0"/>
              </a:spcBef>
              <a:spcAft>
                <a:spcPts val="0"/>
              </a:spcAft>
              <a:buNone/>
            </a:pPr>
            <a:r>
              <a:t/>
            </a:r>
            <a:endParaRPr sz="1499">
              <a:solidFill>
                <a:schemeClr val="dk1"/>
              </a:solidFill>
              <a:latin typeface="Arial"/>
              <a:ea typeface="Arial"/>
              <a:cs typeface="Arial"/>
              <a:sym typeface="Arial"/>
            </a:endParaRPr>
          </a:p>
        </p:txBody>
      </p:sp>
      <p:sp>
        <p:nvSpPr>
          <p:cNvPr id="571" name="Google Shape;571;p35"/>
          <p:cNvSpPr/>
          <p:nvPr/>
        </p:nvSpPr>
        <p:spPr>
          <a:xfrm>
            <a:off x="3734023" y="1902085"/>
            <a:ext cx="624000" cy="2349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2D6CDF"/>
              </a:buClr>
              <a:buSzPts val="1071"/>
              <a:buFont typeface="Arial"/>
              <a:buNone/>
            </a:pPr>
            <a:r>
              <a:rPr b="1" lang="en" sz="1071">
                <a:solidFill>
                  <a:srgbClr val="2D6CDF"/>
                </a:solidFill>
                <a:latin typeface="Arial"/>
                <a:ea typeface="Arial"/>
                <a:cs typeface="Arial"/>
                <a:sym typeface="Arial"/>
              </a:rPr>
              <a:t>bar</a:t>
            </a:r>
            <a:endParaRPr sz="1071">
              <a:solidFill>
                <a:schemeClr val="dk1"/>
              </a:solidFill>
              <a:latin typeface="Arial"/>
              <a:ea typeface="Arial"/>
              <a:cs typeface="Arial"/>
              <a:sym typeface="Arial"/>
            </a:endParaRPr>
          </a:p>
        </p:txBody>
      </p:sp>
      <p:sp>
        <p:nvSpPr>
          <p:cNvPr id="572" name="Google Shape;572;p35"/>
          <p:cNvSpPr/>
          <p:nvPr/>
        </p:nvSpPr>
        <p:spPr>
          <a:xfrm>
            <a:off x="4697725" y="1131575"/>
            <a:ext cx="3840600" cy="1042200"/>
          </a:xfrm>
          <a:prstGeom prst="roundRect">
            <a:avLst>
              <a:gd fmla="val 6000" name="adj"/>
            </a:avLst>
          </a:prstGeom>
          <a:solidFill>
            <a:srgbClr val="FFFFFF"/>
          </a:solidFill>
          <a:ln cap="flat" cmpd="sng" w="19300">
            <a:solidFill>
              <a:srgbClr val="DDE5EF"/>
            </a:solidFill>
            <a:prstDash val="solid"/>
            <a:round/>
            <a:headEnd len="sm" w="sm" type="none"/>
            <a:tailEnd len="sm" w="sm" type="none"/>
          </a:ln>
          <a:effectLst>
            <a:outerShdw blurRad="23160" rotWithShape="0" algn="bl" dir="2700000" dist="19300">
              <a:srgbClr val="000000">
                <a:alpha val="10196"/>
              </a:srgbClr>
            </a:outerShdw>
          </a:effectLst>
        </p:spPr>
        <p:txBody>
          <a:bodyPr anchorCtr="0" anchor="t" bIns="52075" lIns="104200" spcFirstLastPara="1" rIns="104200" wrap="square" tIns="52075">
            <a:noAutofit/>
          </a:bodyPr>
          <a:lstStyle/>
          <a:p>
            <a:pPr indent="0" lvl="0" marL="0" marR="0" rtl="0" algn="l">
              <a:spcBef>
                <a:spcPts val="0"/>
              </a:spcBef>
              <a:spcAft>
                <a:spcPts val="0"/>
              </a:spcAft>
              <a:buNone/>
            </a:pPr>
            <a:r>
              <a:t/>
            </a:r>
            <a:endParaRPr sz="2128">
              <a:solidFill>
                <a:schemeClr val="dk1"/>
              </a:solidFill>
              <a:latin typeface="Arial"/>
              <a:ea typeface="Arial"/>
              <a:cs typeface="Arial"/>
              <a:sym typeface="Arial"/>
            </a:endParaRPr>
          </a:p>
        </p:txBody>
      </p:sp>
      <p:sp>
        <p:nvSpPr>
          <p:cNvPr id="573" name="Google Shape;573;p35"/>
          <p:cNvSpPr/>
          <p:nvPr/>
        </p:nvSpPr>
        <p:spPr>
          <a:xfrm>
            <a:off x="4697725" y="1131575"/>
            <a:ext cx="57000" cy="1042200"/>
          </a:xfrm>
          <a:prstGeom prst="rect">
            <a:avLst/>
          </a:prstGeom>
          <a:solidFill>
            <a:srgbClr val="2D6CDF"/>
          </a:solidFill>
          <a:ln cap="flat" cmpd="sng" w="19300">
            <a:solidFill>
              <a:srgbClr val="2D6CDF"/>
            </a:solidFill>
            <a:prstDash val="solid"/>
            <a:round/>
            <a:headEnd len="sm" w="sm" type="none"/>
            <a:tailEnd len="sm" w="sm" type="none"/>
          </a:ln>
        </p:spPr>
        <p:txBody>
          <a:bodyPr anchorCtr="0" anchor="t" bIns="52075" lIns="104200" spcFirstLastPara="1" rIns="104200" wrap="square" tIns="52075">
            <a:noAutofit/>
          </a:bodyPr>
          <a:lstStyle/>
          <a:p>
            <a:pPr indent="0" lvl="0" marL="0" marR="0" rtl="0" algn="l">
              <a:spcBef>
                <a:spcPts val="0"/>
              </a:spcBef>
              <a:spcAft>
                <a:spcPts val="0"/>
              </a:spcAft>
              <a:buNone/>
            </a:pPr>
            <a:r>
              <a:t/>
            </a:r>
            <a:endParaRPr sz="2128">
              <a:solidFill>
                <a:schemeClr val="dk1"/>
              </a:solidFill>
              <a:latin typeface="Arial"/>
              <a:ea typeface="Arial"/>
              <a:cs typeface="Arial"/>
              <a:sym typeface="Arial"/>
            </a:endParaRPr>
          </a:p>
        </p:txBody>
      </p:sp>
      <p:sp>
        <p:nvSpPr>
          <p:cNvPr id="574" name="Google Shape;574;p35"/>
          <p:cNvSpPr/>
          <p:nvPr/>
        </p:nvSpPr>
        <p:spPr>
          <a:xfrm>
            <a:off x="4875525" y="1319171"/>
            <a:ext cx="3520200" cy="29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824"/>
              <a:buFont typeface="Arial"/>
              <a:buNone/>
            </a:pPr>
            <a:r>
              <a:rPr b="1" lang="en" sz="1824">
                <a:solidFill>
                  <a:srgbClr val="122033"/>
                </a:solidFill>
                <a:highlight>
                  <a:srgbClr val="FFFF00"/>
                </a:highlight>
                <a:latin typeface="Arial"/>
                <a:ea typeface="Arial"/>
                <a:cs typeface="Arial"/>
                <a:sym typeface="Arial"/>
              </a:rPr>
              <a:t>Tokenization</a:t>
            </a:r>
            <a:endParaRPr sz="1824">
              <a:solidFill>
                <a:schemeClr val="dk1"/>
              </a:solidFill>
              <a:highlight>
                <a:srgbClr val="FFFF00"/>
              </a:highlight>
              <a:latin typeface="Arial"/>
              <a:ea typeface="Arial"/>
              <a:cs typeface="Arial"/>
              <a:sym typeface="Arial"/>
            </a:endParaRPr>
          </a:p>
        </p:txBody>
      </p:sp>
      <p:sp>
        <p:nvSpPr>
          <p:cNvPr id="575" name="Google Shape;575;p35"/>
          <p:cNvSpPr/>
          <p:nvPr/>
        </p:nvSpPr>
        <p:spPr>
          <a:xfrm>
            <a:off x="4875525" y="1736051"/>
            <a:ext cx="3520200" cy="312600"/>
          </a:xfrm>
          <a:prstGeom prst="rect">
            <a:avLst/>
          </a:prstGeom>
          <a:noFill/>
          <a:ln>
            <a:noFill/>
          </a:ln>
        </p:spPr>
        <p:txBody>
          <a:bodyPr anchorCtr="0" anchor="ctr" bIns="300" lIns="300" spcFirstLastPara="1" rIns="300" wrap="square" tIns="300">
            <a:noAutofit/>
          </a:bodyPr>
          <a:lstStyle/>
          <a:p>
            <a:pPr indent="0" lvl="0" marL="0" marR="0" rtl="0" algn="l">
              <a:spcBef>
                <a:spcPts val="0"/>
              </a:spcBef>
              <a:spcAft>
                <a:spcPts val="0"/>
              </a:spcAft>
              <a:buClr>
                <a:srgbClr val="516071"/>
              </a:buClr>
              <a:buSzPts val="1520"/>
              <a:buFont typeface="Arial"/>
              <a:buNone/>
            </a:pPr>
            <a:r>
              <a:rPr lang="en" sz="1520">
                <a:solidFill>
                  <a:srgbClr val="516071"/>
                </a:solidFill>
                <a:latin typeface="Arial"/>
                <a:ea typeface="Arial"/>
                <a:cs typeface="Arial"/>
                <a:sym typeface="Arial"/>
              </a:rPr>
              <a:t>Split text into units such as words, terms, or n-grams.</a:t>
            </a:r>
            <a:endParaRPr sz="1520">
              <a:solidFill>
                <a:schemeClr val="dk1"/>
              </a:solidFill>
              <a:latin typeface="Arial"/>
              <a:ea typeface="Arial"/>
              <a:cs typeface="Arial"/>
              <a:sym typeface="Arial"/>
            </a:endParaRPr>
          </a:p>
        </p:txBody>
      </p:sp>
      <p:sp>
        <p:nvSpPr>
          <p:cNvPr id="576" name="Google Shape;576;p35"/>
          <p:cNvSpPr/>
          <p:nvPr/>
        </p:nvSpPr>
        <p:spPr>
          <a:xfrm>
            <a:off x="534925" y="2571750"/>
            <a:ext cx="2434500" cy="1042200"/>
          </a:xfrm>
          <a:prstGeom prst="roundRect">
            <a:avLst>
              <a:gd fmla="val 545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577" name="Google Shape;577;p35"/>
          <p:cNvSpPr/>
          <p:nvPr/>
        </p:nvSpPr>
        <p:spPr>
          <a:xfrm>
            <a:off x="534925" y="2571750"/>
            <a:ext cx="54900" cy="1042200"/>
          </a:xfrm>
          <a:prstGeom prst="rect">
            <a:avLst/>
          </a:prstGeom>
          <a:solidFill>
            <a:srgbClr val="079A99"/>
          </a:solidFill>
          <a:ln cap="flat" cmpd="sng" w="12700">
            <a:solidFill>
              <a:srgbClr val="079A99"/>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578" name="Google Shape;578;p35"/>
          <p:cNvSpPr/>
          <p:nvPr/>
        </p:nvSpPr>
        <p:spPr>
          <a:xfrm>
            <a:off x="706375" y="2742292"/>
            <a:ext cx="2126100" cy="26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highlight>
                  <a:srgbClr val="FFFF00"/>
                </a:highlight>
                <a:latin typeface="Arial"/>
                <a:ea typeface="Arial"/>
                <a:cs typeface="Arial"/>
                <a:sym typeface="Arial"/>
              </a:rPr>
              <a:t>Term frequency</a:t>
            </a:r>
            <a:endParaRPr sz="1500">
              <a:solidFill>
                <a:schemeClr val="dk1"/>
              </a:solidFill>
              <a:highlight>
                <a:srgbClr val="FFFF00"/>
              </a:highlight>
              <a:latin typeface="Arial"/>
              <a:ea typeface="Arial"/>
              <a:cs typeface="Arial"/>
              <a:sym typeface="Arial"/>
            </a:endParaRPr>
          </a:p>
        </p:txBody>
      </p:sp>
      <p:sp>
        <p:nvSpPr>
          <p:cNvPr id="579" name="Google Shape;579;p35"/>
          <p:cNvSpPr/>
          <p:nvPr/>
        </p:nvSpPr>
        <p:spPr>
          <a:xfrm>
            <a:off x="706375" y="3121274"/>
            <a:ext cx="2126100" cy="378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300">
                <a:solidFill>
                  <a:srgbClr val="516071"/>
                </a:solidFill>
                <a:latin typeface="Arial"/>
                <a:ea typeface="Arial"/>
                <a:cs typeface="Arial"/>
                <a:sym typeface="Arial"/>
              </a:rPr>
              <a:t>How common a term is inside one document.</a:t>
            </a:r>
            <a:endParaRPr sz="1300">
              <a:solidFill>
                <a:schemeClr val="dk1"/>
              </a:solidFill>
              <a:latin typeface="Arial"/>
              <a:ea typeface="Arial"/>
              <a:cs typeface="Arial"/>
              <a:sym typeface="Arial"/>
            </a:endParaRPr>
          </a:p>
        </p:txBody>
      </p:sp>
      <p:sp>
        <p:nvSpPr>
          <p:cNvPr id="580" name="Google Shape;580;p35"/>
          <p:cNvSpPr/>
          <p:nvPr/>
        </p:nvSpPr>
        <p:spPr>
          <a:xfrm>
            <a:off x="3326130" y="2571750"/>
            <a:ext cx="2434500" cy="1042200"/>
          </a:xfrm>
          <a:prstGeom prst="roundRect">
            <a:avLst>
              <a:gd fmla="val 545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581" name="Google Shape;581;p35"/>
          <p:cNvSpPr/>
          <p:nvPr/>
        </p:nvSpPr>
        <p:spPr>
          <a:xfrm>
            <a:off x="3326130" y="2571750"/>
            <a:ext cx="54900" cy="1042200"/>
          </a:xfrm>
          <a:prstGeom prst="rect">
            <a:avLst/>
          </a:prstGeom>
          <a:solidFill>
            <a:srgbClr val="F59E0B"/>
          </a:solidFill>
          <a:ln cap="flat" cmpd="sng" w="12700">
            <a:solidFill>
              <a:srgbClr val="F59E0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582" name="Google Shape;582;p35"/>
          <p:cNvSpPr/>
          <p:nvPr/>
        </p:nvSpPr>
        <p:spPr>
          <a:xfrm>
            <a:off x="3497580" y="2742292"/>
            <a:ext cx="2126100" cy="26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highlight>
                  <a:srgbClr val="FFFF00"/>
                </a:highlight>
                <a:latin typeface="Arial"/>
                <a:ea typeface="Arial"/>
                <a:cs typeface="Arial"/>
                <a:sym typeface="Arial"/>
              </a:rPr>
              <a:t>Inverse document frequency</a:t>
            </a:r>
            <a:endParaRPr sz="1500">
              <a:solidFill>
                <a:schemeClr val="dk1"/>
              </a:solidFill>
              <a:highlight>
                <a:srgbClr val="FFFF00"/>
              </a:highlight>
              <a:latin typeface="Arial"/>
              <a:ea typeface="Arial"/>
              <a:cs typeface="Arial"/>
              <a:sym typeface="Arial"/>
            </a:endParaRPr>
          </a:p>
        </p:txBody>
      </p:sp>
      <p:sp>
        <p:nvSpPr>
          <p:cNvPr id="583" name="Google Shape;583;p35"/>
          <p:cNvSpPr/>
          <p:nvPr/>
        </p:nvSpPr>
        <p:spPr>
          <a:xfrm>
            <a:off x="3497580" y="3121274"/>
            <a:ext cx="2126100" cy="378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300">
                <a:solidFill>
                  <a:srgbClr val="516071"/>
                </a:solidFill>
                <a:latin typeface="Arial"/>
                <a:ea typeface="Arial"/>
                <a:cs typeface="Arial"/>
                <a:sym typeface="Arial"/>
              </a:rPr>
              <a:t>Downweights terms that appear in many documents.</a:t>
            </a:r>
            <a:endParaRPr sz="1300">
              <a:solidFill>
                <a:schemeClr val="dk1"/>
              </a:solidFill>
              <a:latin typeface="Arial"/>
              <a:ea typeface="Arial"/>
              <a:cs typeface="Arial"/>
              <a:sym typeface="Arial"/>
            </a:endParaRPr>
          </a:p>
        </p:txBody>
      </p:sp>
      <p:sp>
        <p:nvSpPr>
          <p:cNvPr id="584" name="Google Shape;584;p35"/>
          <p:cNvSpPr/>
          <p:nvPr/>
        </p:nvSpPr>
        <p:spPr>
          <a:xfrm>
            <a:off x="6117336" y="2571750"/>
            <a:ext cx="2434500" cy="1042200"/>
          </a:xfrm>
          <a:prstGeom prst="roundRect">
            <a:avLst>
              <a:gd fmla="val 5455" name="adj"/>
            </a:avLst>
          </a:prstGeom>
          <a:solidFill>
            <a:srgbClr val="FFFFFF"/>
          </a:solidFill>
          <a:ln cap="flat" cmpd="sng" w="12700">
            <a:solidFill>
              <a:srgbClr val="DDE5EF"/>
            </a:solidFill>
            <a:prstDash val="solid"/>
            <a:round/>
            <a:headEnd len="sm" w="sm" type="none"/>
            <a:tailEnd len="sm" w="sm" type="none"/>
          </a:ln>
          <a:effectLst>
            <a:outerShdw blurRad="15240" rotWithShape="0" algn="bl" dir="2700000" dist="12700">
              <a:srgbClr val="000000">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585" name="Google Shape;585;p35"/>
          <p:cNvSpPr/>
          <p:nvPr/>
        </p:nvSpPr>
        <p:spPr>
          <a:xfrm>
            <a:off x="6117336" y="2571750"/>
            <a:ext cx="54900" cy="1042200"/>
          </a:xfrm>
          <a:prstGeom prst="rect">
            <a:avLst/>
          </a:prstGeom>
          <a:solidFill>
            <a:srgbClr val="7C3AED"/>
          </a:solidFill>
          <a:ln cap="flat" cmpd="sng" w="12700">
            <a:solidFill>
              <a:srgbClr val="7C3AED"/>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700">
              <a:solidFill>
                <a:schemeClr val="dk1"/>
              </a:solidFill>
              <a:latin typeface="Arial"/>
              <a:ea typeface="Arial"/>
              <a:cs typeface="Arial"/>
              <a:sym typeface="Arial"/>
            </a:endParaRPr>
          </a:p>
        </p:txBody>
      </p:sp>
      <p:sp>
        <p:nvSpPr>
          <p:cNvPr id="586" name="Google Shape;586;p35"/>
          <p:cNvSpPr/>
          <p:nvPr/>
        </p:nvSpPr>
        <p:spPr>
          <a:xfrm>
            <a:off x="6288786" y="2742292"/>
            <a:ext cx="2126100" cy="26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033"/>
              </a:buClr>
              <a:buSzPts val="1200"/>
              <a:buFont typeface="Arial"/>
              <a:buNone/>
            </a:pPr>
            <a:r>
              <a:rPr b="1" lang="en" sz="1500">
                <a:solidFill>
                  <a:srgbClr val="122033"/>
                </a:solidFill>
                <a:highlight>
                  <a:srgbClr val="FFFF00"/>
                </a:highlight>
                <a:latin typeface="Arial"/>
                <a:ea typeface="Arial"/>
                <a:cs typeface="Arial"/>
                <a:sym typeface="Arial"/>
              </a:rPr>
              <a:t>Sentiment analysis</a:t>
            </a:r>
            <a:endParaRPr sz="1500">
              <a:solidFill>
                <a:schemeClr val="dk1"/>
              </a:solidFill>
              <a:highlight>
                <a:srgbClr val="FFFF00"/>
              </a:highlight>
              <a:latin typeface="Arial"/>
              <a:ea typeface="Arial"/>
              <a:cs typeface="Arial"/>
              <a:sym typeface="Arial"/>
            </a:endParaRPr>
          </a:p>
        </p:txBody>
      </p:sp>
      <p:sp>
        <p:nvSpPr>
          <p:cNvPr id="587" name="Google Shape;587;p35"/>
          <p:cNvSpPr/>
          <p:nvPr/>
        </p:nvSpPr>
        <p:spPr>
          <a:xfrm>
            <a:off x="6288786" y="3121274"/>
            <a:ext cx="2126100" cy="378900"/>
          </a:xfrm>
          <a:prstGeom prst="rect">
            <a:avLst/>
          </a:prstGeom>
          <a:noFill/>
          <a:ln>
            <a:noFill/>
          </a:ln>
        </p:spPr>
        <p:txBody>
          <a:bodyPr anchorCtr="0" anchor="ctr" bIns="200" lIns="200" spcFirstLastPara="1" rIns="200" wrap="square" tIns="200">
            <a:noAutofit/>
          </a:bodyPr>
          <a:lstStyle/>
          <a:p>
            <a:pPr indent="0" lvl="0" marL="0" marR="0" rtl="0" algn="l">
              <a:spcBef>
                <a:spcPts val="0"/>
              </a:spcBef>
              <a:spcAft>
                <a:spcPts val="0"/>
              </a:spcAft>
              <a:buClr>
                <a:srgbClr val="516071"/>
              </a:buClr>
              <a:buSzPts val="1000"/>
              <a:buFont typeface="Arial"/>
              <a:buNone/>
            </a:pPr>
            <a:r>
              <a:rPr lang="en" sz="1300">
                <a:solidFill>
                  <a:srgbClr val="516071"/>
                </a:solidFill>
                <a:latin typeface="Arial"/>
                <a:ea typeface="Arial"/>
                <a:cs typeface="Arial"/>
                <a:sym typeface="Arial"/>
              </a:rPr>
              <a:t>Infer emotional tone or polarity from text.</a:t>
            </a:r>
            <a:endParaRPr sz="1300">
              <a:solidFill>
                <a:schemeClr val="dk1"/>
              </a:solidFill>
              <a:latin typeface="Arial"/>
              <a:ea typeface="Arial"/>
              <a:cs typeface="Arial"/>
              <a:sym typeface="Arial"/>
            </a:endParaRPr>
          </a:p>
        </p:txBody>
      </p:sp>
      <p:sp>
        <p:nvSpPr>
          <p:cNvPr id="588" name="Google Shape;588;p35"/>
          <p:cNvSpPr/>
          <p:nvPr/>
        </p:nvSpPr>
        <p:spPr>
          <a:xfrm>
            <a:off x="685800" y="3874770"/>
            <a:ext cx="7543800"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033"/>
              </a:buClr>
              <a:buSzPts val="1400"/>
              <a:buFont typeface="Arial"/>
              <a:buNone/>
            </a:pPr>
            <a:r>
              <a:rPr b="1" lang="en" sz="1400">
                <a:solidFill>
                  <a:srgbClr val="122033"/>
                </a:solidFill>
                <a:latin typeface="Arial"/>
                <a:ea typeface="Arial"/>
                <a:cs typeface="Arial"/>
                <a:sym typeface="Arial"/>
              </a:rPr>
              <a:t>Preprocessing choices matter: tokenizer, stop words, stemming or lemmatization, and how to handle rare/common terms.</a:t>
            </a:r>
            <a:endParaRPr sz="14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3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a:t>Quiz Time</a:t>
            </a:r>
            <a:endParaRPr sz="5000"/>
          </a:p>
        </p:txBody>
      </p:sp>
      <p:sp>
        <p:nvSpPr>
          <p:cNvPr id="594" name="Google Shape;594;p36"/>
          <p:cNvSpPr txBox="1"/>
          <p:nvPr/>
        </p:nvSpPr>
        <p:spPr>
          <a:xfrm>
            <a:off x="5203325" y="3735200"/>
            <a:ext cx="3821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2"/>
                </a:solidFill>
              </a:rPr>
              <a:t>Access Code: </a:t>
            </a:r>
            <a:r>
              <a:rPr lang="en" sz="2400">
                <a:solidFill>
                  <a:schemeClr val="dk1"/>
                </a:solidFill>
                <a:highlight>
                  <a:srgbClr val="FFFFFF"/>
                </a:highlight>
              </a:rPr>
              <a:t>takequiz07</a:t>
            </a:r>
            <a:endParaRPr sz="2400">
              <a:solidFill>
                <a:schemeClr val="dk2"/>
              </a:solidFill>
            </a:endParaRPr>
          </a:p>
          <a:p>
            <a:pPr indent="0" lvl="0" marL="0" rtl="0" algn="l">
              <a:spcBef>
                <a:spcPts val="0"/>
              </a:spcBef>
              <a:spcAft>
                <a:spcPts val="0"/>
              </a:spcAft>
              <a:buNone/>
            </a:pPr>
            <a:r>
              <a:t/>
            </a:r>
            <a:endParaRPr sz="2400">
              <a:solidFill>
                <a:schemeClr val="dk2"/>
              </a:solidFill>
            </a:endParaRPr>
          </a:p>
        </p:txBody>
      </p:sp>
      <p:sp>
        <p:nvSpPr>
          <p:cNvPr id="595" name="Google Shape;595;p36"/>
          <p:cNvSpPr txBox="1"/>
          <p:nvPr/>
        </p:nvSpPr>
        <p:spPr>
          <a:xfrm>
            <a:off x="1444950" y="3181100"/>
            <a:ext cx="62541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dk2"/>
                </a:solidFill>
              </a:rPr>
              <a:t>NO Phone, NO Communication, No Notes</a:t>
            </a:r>
            <a:endParaRPr sz="24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37"/>
          <p:cNvSpPr txBox="1"/>
          <p:nvPr>
            <p:ph type="title"/>
          </p:nvPr>
        </p:nvSpPr>
        <p:spPr>
          <a:xfrm>
            <a:off x="311700" y="445025"/>
            <a:ext cx="8520600" cy="572700"/>
          </a:xfrm>
          <a:prstGeom prst="rect">
            <a:avLst/>
          </a:prstGeom>
          <a:noFill/>
          <a:ln>
            <a:noFill/>
          </a:ln>
        </p:spPr>
        <p:txBody>
          <a:bodyPr anchorCtr="0" anchor="ctr" bIns="19050" lIns="19050" spcFirstLastPara="1" rIns="19050" wrap="square" tIns="19050">
            <a:normAutofit/>
          </a:bodyPr>
          <a:lstStyle/>
          <a:p>
            <a:pPr indent="0" lvl="0" marL="0" rtl="0" algn="l">
              <a:lnSpc>
                <a:spcPct val="100000"/>
              </a:lnSpc>
              <a:spcBef>
                <a:spcPts val="0"/>
              </a:spcBef>
              <a:spcAft>
                <a:spcPts val="0"/>
              </a:spcAft>
              <a:buClr>
                <a:srgbClr val="000000"/>
              </a:buClr>
              <a:buSzPts val="4200"/>
              <a:buFont typeface="Avenir"/>
              <a:buNone/>
            </a:pPr>
            <a:r>
              <a:rPr lang="en" sz="3000">
                <a:latin typeface="Avenir"/>
                <a:ea typeface="Avenir"/>
                <a:cs typeface="Avenir"/>
                <a:sym typeface="Avenir"/>
              </a:rPr>
              <a:t>Your time to …</a:t>
            </a:r>
            <a:endParaRPr sz="3000">
              <a:latin typeface="Avenir"/>
              <a:ea typeface="Avenir"/>
              <a:cs typeface="Avenir"/>
              <a:sym typeface="Avenir"/>
            </a:endParaRPr>
          </a:p>
        </p:txBody>
      </p:sp>
      <p:sp>
        <p:nvSpPr>
          <p:cNvPr id="601" name="Google Shape;601;p37"/>
          <p:cNvSpPr txBox="1"/>
          <p:nvPr>
            <p:ph idx="1" type="body"/>
          </p:nvPr>
        </p:nvSpPr>
        <p:spPr>
          <a:xfrm>
            <a:off x="633413" y="1362075"/>
            <a:ext cx="7624800" cy="3528600"/>
          </a:xfrm>
          <a:prstGeom prst="rect">
            <a:avLst/>
          </a:prstGeom>
          <a:noFill/>
          <a:ln>
            <a:noFill/>
          </a:ln>
        </p:spPr>
        <p:txBody>
          <a:bodyPr anchorCtr="0" anchor="t" bIns="19050" lIns="19050" spcFirstLastPara="1" rIns="19050" wrap="square" tIns="19050">
            <a:normAutofit/>
          </a:bodyPr>
          <a:lstStyle/>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Work on projects</a:t>
            </a:r>
            <a:endParaRPr sz="2100">
              <a:latin typeface="Avenir"/>
              <a:ea typeface="Avenir"/>
              <a:cs typeface="Avenir"/>
              <a:sym typeface="Avenir"/>
            </a:endParaRPr>
          </a:p>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Finish Checkpoint</a:t>
            </a:r>
            <a:endParaRPr sz="2100">
              <a:latin typeface="Avenir"/>
              <a:ea typeface="Avenir"/>
              <a:cs typeface="Avenir"/>
              <a:sym typeface="Avenir"/>
            </a:endParaRPr>
          </a:p>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Finish D7 &amp; A3</a:t>
            </a:r>
            <a:endParaRPr sz="2100">
              <a:latin typeface="Avenir"/>
              <a:ea typeface="Avenir"/>
              <a:cs typeface="Avenir"/>
              <a:sym typeface="Avenir"/>
            </a:endParaRPr>
          </a:p>
          <a:p>
            <a:pPr indent="-234950" lvl="0" marL="266700" rtl="0" algn="l">
              <a:lnSpc>
                <a:spcPct val="100000"/>
              </a:lnSpc>
              <a:spcBef>
                <a:spcPts val="1500"/>
              </a:spcBef>
              <a:spcAft>
                <a:spcPts val="0"/>
              </a:spcAft>
              <a:buSzPts val="2100"/>
              <a:buFont typeface="Avenir"/>
              <a:buChar char="●"/>
            </a:pPr>
            <a:r>
              <a:rPr lang="en" sz="2100">
                <a:latin typeface="Avenir"/>
                <a:ea typeface="Avenir"/>
                <a:cs typeface="Avenir"/>
                <a:sym typeface="Avenir"/>
              </a:rPr>
              <a:t>Have fun...</a:t>
            </a:r>
            <a:endParaRPr sz="2100">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