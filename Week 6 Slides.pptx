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Play"/>
      <p:regular r:id="rId24"/>
      <p:bold r:id="rId25"/>
    </p:embeddedFont>
    <p:embeddedFont>
      <p:font typeface="Helvetica Neue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lay-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lveticaNeueLight-regular.fntdata"/><Relationship Id="rId25" Type="http://schemas.openxmlformats.org/officeDocument/2006/relationships/font" Target="fonts/Play-bold.fntdata"/><Relationship Id="rId28" Type="http://schemas.openxmlformats.org/officeDocument/2006/relationships/font" Target="fonts/HelveticaNeueLight-italic.fntdata"/><Relationship Id="rId27" Type="http://schemas.openxmlformats.org/officeDocument/2006/relationships/font" Target="fonts/HelveticaNeue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elveticaNeueLight-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069ffc553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e069ffc55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069ffc55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069ffc55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6ae9c7e94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6ae9c7e94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dd86a5112_3_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ddd86a5112_3_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Null-hypothesis significance testing starts with a null hypothesis and an alternative hypothesis.</a:t>
            </a:r>
            <a:endParaRPr/>
          </a:p>
          <a:p>
            <a:pPr indent="0" lvl="0" marL="0" rtl="0" algn="l">
              <a:lnSpc>
                <a:spcPct val="115000"/>
              </a:lnSpc>
              <a:spcBef>
                <a:spcPts val="1200"/>
              </a:spcBef>
              <a:spcAft>
                <a:spcPts val="0"/>
              </a:spcAft>
              <a:buClr>
                <a:schemeClr val="dk1"/>
              </a:buClr>
              <a:buSzPts val="1100"/>
              <a:buFont typeface="Arial"/>
              <a:buNone/>
            </a:pPr>
            <a:r>
              <a:rPr lang="en"/>
              <a:t>The null hypothesis usually represents no difference, no association, or no effect. The alternative represents the pattern we are looking for evidence against the null.</a:t>
            </a:r>
            <a:endParaRPr/>
          </a:p>
          <a:p>
            <a:pPr indent="0" lvl="0" marL="0" rtl="0" algn="l">
              <a:lnSpc>
                <a:spcPct val="115000"/>
              </a:lnSpc>
              <a:spcBef>
                <a:spcPts val="1200"/>
              </a:spcBef>
              <a:spcAft>
                <a:spcPts val="0"/>
              </a:spcAft>
              <a:buClr>
                <a:schemeClr val="dk1"/>
              </a:buClr>
              <a:buSzPts val="1100"/>
              <a:buFont typeface="Arial"/>
              <a:buNone/>
            </a:pPr>
            <a:r>
              <a:rPr lang="en"/>
              <a:t>Then we compute a test statistic. This statistic summarizes how far the observed data are from what we would expect under the null model.</a:t>
            </a:r>
            <a:endParaRPr/>
          </a:p>
          <a:p>
            <a:pPr indent="0" lvl="0" marL="0" rtl="0" algn="l">
              <a:lnSpc>
                <a:spcPct val="115000"/>
              </a:lnSpc>
              <a:spcBef>
                <a:spcPts val="1200"/>
              </a:spcBef>
              <a:spcAft>
                <a:spcPts val="0"/>
              </a:spcAft>
              <a:buClr>
                <a:schemeClr val="dk1"/>
              </a:buClr>
              <a:buSzPts val="1100"/>
              <a:buFont typeface="Arial"/>
              <a:buNone/>
            </a:pPr>
            <a:r>
              <a:rPr lang="en"/>
              <a:t>The p-value is interpreted under the assumption that the null hypothesis is true. It asks how unusual the observed result, or a more extreme result, would be if the null model generated the data.</a:t>
            </a:r>
            <a:endParaRPr/>
          </a:p>
          <a:p>
            <a:pPr indent="0" lvl="0" marL="0" rtl="0" algn="l">
              <a:lnSpc>
                <a:spcPct val="115000"/>
              </a:lnSpc>
              <a:spcBef>
                <a:spcPts val="1200"/>
              </a:spcBef>
              <a:spcAft>
                <a:spcPts val="1200"/>
              </a:spcAft>
              <a:buSzPts val="1100"/>
              <a:buNone/>
            </a:pPr>
            <a:r>
              <a:rPr lang="en"/>
              <a:t>The key point is that NHST is a conditional reasoning framework. We are not directly calculating the probability that the null hypothesis is true.</a:t>
            </a:r>
            <a:endParaRPr/>
          </a:p>
        </p:txBody>
      </p:sp>
      <p:sp>
        <p:nvSpPr>
          <p:cNvPr id="84" name="Google Shape;84;g3ddd86a5112_3_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dd86a5112_3_6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ddd86a5112_3_6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A p-value tells us about statistical evidence, but it does not tell us how large or important an effect is.</a:t>
            </a:r>
            <a:endParaRPr/>
          </a:p>
          <a:p>
            <a:pPr indent="0" lvl="0" marL="0" rtl="0" algn="l">
              <a:lnSpc>
                <a:spcPct val="115000"/>
              </a:lnSpc>
              <a:spcBef>
                <a:spcPts val="1200"/>
              </a:spcBef>
              <a:spcAft>
                <a:spcPts val="0"/>
              </a:spcAft>
              <a:buClr>
                <a:schemeClr val="dk1"/>
              </a:buClr>
              <a:buSzPts val="1100"/>
              <a:buFont typeface="Arial"/>
              <a:buNone/>
            </a:pPr>
            <a:r>
              <a:rPr lang="en"/>
              <a:t>A small p-value can happen when the effect is large, but it can also happen when the sample size is large and the effect is very small.</a:t>
            </a:r>
            <a:endParaRPr/>
          </a:p>
          <a:p>
            <a:pPr indent="0" lvl="0" marL="0" rtl="0" algn="l">
              <a:lnSpc>
                <a:spcPct val="115000"/>
              </a:lnSpc>
              <a:spcBef>
                <a:spcPts val="1200"/>
              </a:spcBef>
              <a:spcAft>
                <a:spcPts val="0"/>
              </a:spcAft>
              <a:buClr>
                <a:schemeClr val="dk1"/>
              </a:buClr>
              <a:buSzPts val="1100"/>
              <a:buFont typeface="Arial"/>
              <a:buNone/>
            </a:pPr>
            <a:r>
              <a:rPr lang="en"/>
              <a:t>That is why we also need effect size. Effect size describes the magnitude of the difference or relationship in a more interpretable way.</a:t>
            </a:r>
            <a:endParaRPr/>
          </a:p>
          <a:p>
            <a:pPr indent="0" lvl="0" marL="0" rtl="0" algn="l">
              <a:lnSpc>
                <a:spcPct val="115000"/>
              </a:lnSpc>
              <a:spcBef>
                <a:spcPts val="1200"/>
              </a:spcBef>
              <a:spcAft>
                <a:spcPts val="0"/>
              </a:spcAft>
              <a:buClr>
                <a:schemeClr val="dk1"/>
              </a:buClr>
              <a:buSzPts val="1100"/>
              <a:buFont typeface="Arial"/>
              <a:buNone/>
            </a:pPr>
            <a:r>
              <a:rPr lang="en"/>
              <a:t>We also need uncertainty, often represented by a standard error or confidence interval. This helps us understand how precise the estimate is.</a:t>
            </a:r>
            <a:endParaRPr/>
          </a:p>
          <a:p>
            <a:pPr indent="0" lvl="0" marL="0" rtl="0" algn="l">
              <a:lnSpc>
                <a:spcPct val="115000"/>
              </a:lnSpc>
              <a:spcBef>
                <a:spcPts val="1200"/>
              </a:spcBef>
              <a:spcAft>
                <a:spcPts val="1200"/>
              </a:spcAft>
              <a:buSzPts val="1100"/>
              <a:buNone/>
            </a:pPr>
            <a:r>
              <a:rPr lang="en"/>
              <a:t>When interpreting results, try to separate three things: statistical evidence, practical importance, and uncertainty.</a:t>
            </a:r>
            <a:endParaRPr/>
          </a:p>
        </p:txBody>
      </p:sp>
      <p:sp>
        <p:nvSpPr>
          <p:cNvPr id="109" name="Google Shape;109;g3ddd86a5112_3_6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dd86a5112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ddd86a5112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128" name="Google Shape;128;g3ddd86a5112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dd86a5112_3_8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ddd86a5112_3_8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For a two-group comparison, start with the structure of the data.</a:t>
            </a:r>
            <a:endParaRPr/>
          </a:p>
          <a:p>
            <a:pPr indent="0" lvl="0" marL="0" rtl="0" algn="l">
              <a:lnSpc>
                <a:spcPct val="115000"/>
              </a:lnSpc>
              <a:spcBef>
                <a:spcPts val="1200"/>
              </a:spcBef>
              <a:spcAft>
                <a:spcPts val="0"/>
              </a:spcAft>
              <a:buClr>
                <a:schemeClr val="dk1"/>
              </a:buClr>
              <a:buSzPts val="1100"/>
              <a:buFont typeface="Arial"/>
              <a:buNone/>
            </a:pPr>
            <a:r>
              <a:rPr lang="en"/>
              <a:t>Ask whether the outcome is continuous, ordinal, categorical, or rankable. Then ask whether the groups are independent or paired.</a:t>
            </a:r>
            <a:endParaRPr/>
          </a:p>
          <a:p>
            <a:pPr indent="0" lvl="0" marL="0" rtl="0" algn="l">
              <a:lnSpc>
                <a:spcPct val="115000"/>
              </a:lnSpc>
              <a:spcBef>
                <a:spcPts val="1200"/>
              </a:spcBef>
              <a:spcAft>
                <a:spcPts val="0"/>
              </a:spcAft>
              <a:buClr>
                <a:schemeClr val="dk1"/>
              </a:buClr>
              <a:buSzPts val="1100"/>
              <a:buFont typeface="Arial"/>
              <a:buNone/>
            </a:pPr>
            <a:r>
              <a:rPr lang="en"/>
              <a:t>For example, two independent groups require different reasoning than repeated measurements from the same people.</a:t>
            </a:r>
            <a:endParaRPr/>
          </a:p>
          <a:p>
            <a:pPr indent="0" lvl="0" marL="0" rtl="0" algn="l">
              <a:lnSpc>
                <a:spcPct val="115000"/>
              </a:lnSpc>
              <a:spcBef>
                <a:spcPts val="1200"/>
              </a:spcBef>
              <a:spcAft>
                <a:spcPts val="0"/>
              </a:spcAft>
              <a:buClr>
                <a:schemeClr val="dk1"/>
              </a:buClr>
              <a:buSzPts val="1100"/>
              <a:buFont typeface="Arial"/>
              <a:buNone/>
            </a:pPr>
            <a:r>
              <a:rPr lang="en"/>
              <a:t>Next, inspect the shape of the data. Are the distributions roughly symmetric? Are there strong outliers? Is one group much more variable than the other?</a:t>
            </a:r>
            <a:endParaRPr/>
          </a:p>
          <a:p>
            <a:pPr indent="0" lvl="0" marL="0" rtl="0" algn="l">
              <a:lnSpc>
                <a:spcPct val="115000"/>
              </a:lnSpc>
              <a:spcBef>
                <a:spcPts val="1200"/>
              </a:spcBef>
              <a:spcAft>
                <a:spcPts val="0"/>
              </a:spcAft>
              <a:buClr>
                <a:schemeClr val="dk1"/>
              </a:buClr>
              <a:buSzPts val="1100"/>
              <a:buFont typeface="Arial"/>
              <a:buNone/>
            </a:pPr>
            <a:r>
              <a:rPr lang="en"/>
              <a:t>The scientific target also matters. Sometimes we care about comparing means. Other times we care about rank differences, medians, or the entire distribution.</a:t>
            </a:r>
            <a:endParaRPr/>
          </a:p>
          <a:p>
            <a:pPr indent="0" lvl="0" marL="0" rtl="0" algn="l">
              <a:lnSpc>
                <a:spcPct val="115000"/>
              </a:lnSpc>
              <a:spcBef>
                <a:spcPts val="1200"/>
              </a:spcBef>
              <a:spcAft>
                <a:spcPts val="1200"/>
              </a:spcAft>
              <a:buSzPts val="1100"/>
              <a:buNone/>
            </a:pPr>
            <a:r>
              <a:rPr lang="en"/>
              <a:t>The test should follow from the data structure and the question being asked.</a:t>
            </a:r>
            <a:endParaRPr/>
          </a:p>
        </p:txBody>
      </p:sp>
      <p:sp>
        <p:nvSpPr>
          <p:cNvPr id="142" name="Google Shape;142;g3ddd86a5112_3_8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dd86a5112_3_1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ddd86a5112_3_1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A t-test is a parametric method, meaning it relies on assumptions about the data and sampling process.</a:t>
            </a:r>
            <a:endParaRPr/>
          </a:p>
          <a:p>
            <a:pPr indent="0" lvl="0" marL="0" rtl="0" algn="l">
              <a:lnSpc>
                <a:spcPct val="115000"/>
              </a:lnSpc>
              <a:spcBef>
                <a:spcPts val="1200"/>
              </a:spcBef>
              <a:spcAft>
                <a:spcPts val="0"/>
              </a:spcAft>
              <a:buClr>
                <a:schemeClr val="dk1"/>
              </a:buClr>
              <a:buSzPts val="1100"/>
              <a:buFont typeface="Arial"/>
              <a:buNone/>
            </a:pPr>
            <a:r>
              <a:rPr lang="en"/>
              <a:t>Before trusting a t-test-style comparison, check that the observations are independent. This is one of the most important assumptions.</a:t>
            </a:r>
            <a:endParaRPr/>
          </a:p>
          <a:p>
            <a:pPr indent="0" lvl="0" marL="0" rtl="0" algn="l">
              <a:lnSpc>
                <a:spcPct val="115000"/>
              </a:lnSpc>
              <a:spcBef>
                <a:spcPts val="1200"/>
              </a:spcBef>
              <a:spcAft>
                <a:spcPts val="0"/>
              </a:spcAft>
              <a:buClr>
                <a:schemeClr val="dk1"/>
              </a:buClr>
              <a:buSzPts val="1100"/>
              <a:buFont typeface="Arial"/>
              <a:buNone/>
            </a:pPr>
            <a:r>
              <a:rPr lang="en"/>
              <a:t>Also check whether the outcome is measured on a scale where means are meaningful. A t-test compares means, so the mean needs to be interpretable.</a:t>
            </a:r>
            <a:endParaRPr/>
          </a:p>
          <a:p>
            <a:pPr indent="0" lvl="0" marL="0" rtl="0" algn="l">
              <a:lnSpc>
                <a:spcPct val="115000"/>
              </a:lnSpc>
              <a:spcBef>
                <a:spcPts val="1200"/>
              </a:spcBef>
              <a:spcAft>
                <a:spcPts val="0"/>
              </a:spcAft>
              <a:buClr>
                <a:schemeClr val="dk1"/>
              </a:buClr>
              <a:buSzPts val="1100"/>
              <a:buFont typeface="Arial"/>
              <a:buNone/>
            </a:pPr>
            <a:r>
              <a:rPr lang="en"/>
              <a:t>Then check distributional shape. Mild deviations from normality may be acceptable, especially with reasonable sample sizes, but strong skew or extreme outliers can be a problem.</a:t>
            </a:r>
            <a:endParaRPr/>
          </a:p>
          <a:p>
            <a:pPr indent="0" lvl="0" marL="0" rtl="0" algn="l">
              <a:lnSpc>
                <a:spcPct val="115000"/>
              </a:lnSpc>
              <a:spcBef>
                <a:spcPts val="1200"/>
              </a:spcBef>
              <a:spcAft>
                <a:spcPts val="0"/>
              </a:spcAft>
              <a:buClr>
                <a:schemeClr val="dk1"/>
              </a:buClr>
              <a:buSzPts val="1100"/>
              <a:buFont typeface="Arial"/>
              <a:buNone/>
            </a:pPr>
            <a:r>
              <a:rPr lang="en"/>
              <a:t>Variance also matters. If the groups have very different spreads, the standard Student’s t-test may not be the best version of the test.</a:t>
            </a:r>
            <a:endParaRPr/>
          </a:p>
          <a:p>
            <a:pPr indent="0" lvl="0" marL="0" rtl="0" algn="l">
              <a:lnSpc>
                <a:spcPct val="115000"/>
              </a:lnSpc>
              <a:spcBef>
                <a:spcPts val="1200"/>
              </a:spcBef>
              <a:spcAft>
                <a:spcPts val="1200"/>
              </a:spcAft>
              <a:buSzPts val="1100"/>
              <a:buNone/>
            </a:pPr>
            <a:r>
              <a:rPr lang="en"/>
              <a:t>The broader lesson is that visual diagnostics and assumption checks should come before interpretation.</a:t>
            </a:r>
            <a:endParaRPr/>
          </a:p>
        </p:txBody>
      </p:sp>
      <p:sp>
        <p:nvSpPr>
          <p:cNvPr id="169" name="Google Shape;169;g3ddd86a5112_3_1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dd86a5112_3_1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dd86a5112_3_1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When there are more than two groups, the question changes.</a:t>
            </a:r>
            <a:endParaRPr/>
          </a:p>
          <a:p>
            <a:pPr indent="0" lvl="0" marL="0" rtl="0" algn="l">
              <a:lnSpc>
                <a:spcPct val="115000"/>
              </a:lnSpc>
              <a:spcBef>
                <a:spcPts val="1200"/>
              </a:spcBef>
              <a:spcAft>
                <a:spcPts val="0"/>
              </a:spcAft>
              <a:buClr>
                <a:schemeClr val="dk1"/>
              </a:buClr>
              <a:buSzPts val="1100"/>
              <a:buFont typeface="Arial"/>
              <a:buNone/>
            </a:pPr>
            <a:r>
              <a:rPr lang="en"/>
              <a:t>A global question asks whether there is evidence that at least one group differs from the others.</a:t>
            </a:r>
            <a:endParaRPr/>
          </a:p>
          <a:p>
            <a:pPr indent="0" lvl="0" marL="0" rtl="0" algn="l">
              <a:lnSpc>
                <a:spcPct val="115000"/>
              </a:lnSpc>
              <a:spcBef>
                <a:spcPts val="1200"/>
              </a:spcBef>
              <a:spcAft>
                <a:spcPts val="0"/>
              </a:spcAft>
              <a:buClr>
                <a:schemeClr val="dk1"/>
              </a:buClr>
              <a:buSzPts val="1100"/>
              <a:buFont typeface="Arial"/>
              <a:buNone/>
            </a:pPr>
            <a:r>
              <a:rPr lang="en"/>
              <a:t>A pairwise question asks which specific groups differ from each other.</a:t>
            </a:r>
            <a:endParaRPr/>
          </a:p>
          <a:p>
            <a:pPr indent="0" lvl="0" marL="0" rtl="0" algn="l">
              <a:lnSpc>
                <a:spcPct val="115000"/>
              </a:lnSpc>
              <a:spcBef>
                <a:spcPts val="1200"/>
              </a:spcBef>
              <a:spcAft>
                <a:spcPts val="0"/>
              </a:spcAft>
              <a:buClr>
                <a:schemeClr val="dk1"/>
              </a:buClr>
              <a:buSzPts val="1100"/>
              <a:buFont typeface="Arial"/>
              <a:buNone/>
            </a:pPr>
            <a:r>
              <a:rPr lang="en"/>
              <a:t>If we run many pairwise tests, the chance of getting at least one false positive increases. This is the multiple-comparisons problem.</a:t>
            </a:r>
            <a:endParaRPr/>
          </a:p>
          <a:p>
            <a:pPr indent="0" lvl="0" marL="0" rtl="0" algn="l">
              <a:lnSpc>
                <a:spcPct val="115000"/>
              </a:lnSpc>
              <a:spcBef>
                <a:spcPts val="1200"/>
              </a:spcBef>
              <a:spcAft>
                <a:spcPts val="0"/>
              </a:spcAft>
              <a:buClr>
                <a:schemeClr val="dk1"/>
              </a:buClr>
              <a:buSzPts val="1100"/>
              <a:buFont typeface="Arial"/>
              <a:buNone/>
            </a:pPr>
            <a:r>
              <a:rPr lang="en"/>
              <a:t>That is why multiple-group settings often require a global test, a correction strategy, or a planned post-hoc testing procedure.</a:t>
            </a:r>
            <a:endParaRPr/>
          </a:p>
          <a:p>
            <a:pPr indent="0" lvl="0" marL="0" rtl="0" algn="l">
              <a:lnSpc>
                <a:spcPct val="115000"/>
              </a:lnSpc>
              <a:spcBef>
                <a:spcPts val="1200"/>
              </a:spcBef>
              <a:spcAft>
                <a:spcPts val="1200"/>
              </a:spcAft>
              <a:buSzPts val="1100"/>
              <a:buNone/>
            </a:pPr>
            <a:r>
              <a:rPr lang="en"/>
              <a:t>The main thing to remember is that more comparisons change the error-rate story.</a:t>
            </a:r>
            <a:endParaRPr/>
          </a:p>
        </p:txBody>
      </p:sp>
      <p:sp>
        <p:nvSpPr>
          <p:cNvPr id="181" name="Google Shape;181;g3ddd86a5112_3_1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dd86a5112_3_15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ddd86a5112_3_15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Sometimes the raw data do not fit the assumptions of a parametric method very well.</a:t>
            </a:r>
            <a:endParaRPr/>
          </a:p>
          <a:p>
            <a:pPr indent="0" lvl="0" marL="0" rtl="0" algn="l">
              <a:lnSpc>
                <a:spcPct val="115000"/>
              </a:lnSpc>
              <a:spcBef>
                <a:spcPts val="1200"/>
              </a:spcBef>
              <a:spcAft>
                <a:spcPts val="0"/>
              </a:spcAft>
              <a:buClr>
                <a:schemeClr val="dk1"/>
              </a:buClr>
              <a:buSzPts val="1100"/>
              <a:buFont typeface="Arial"/>
              <a:buNone/>
            </a:pPr>
            <a:r>
              <a:rPr lang="en"/>
              <a:t>One option is transformation. A log transformation is often used when data are strongly right-skewed or when values vary across orders of magnitude.</a:t>
            </a:r>
            <a:endParaRPr/>
          </a:p>
          <a:p>
            <a:pPr indent="0" lvl="0" marL="0" rtl="0" algn="l">
              <a:lnSpc>
                <a:spcPct val="115000"/>
              </a:lnSpc>
              <a:spcBef>
                <a:spcPts val="1200"/>
              </a:spcBef>
              <a:spcAft>
                <a:spcPts val="0"/>
              </a:spcAft>
              <a:buClr>
                <a:schemeClr val="dk1"/>
              </a:buClr>
              <a:buSzPts val="1100"/>
              <a:buFont typeface="Arial"/>
              <a:buNone/>
            </a:pPr>
            <a:r>
              <a:rPr lang="en"/>
              <a:t>A transformation can make the distribution easier to model, but it also changes the interpretation. Differences on the log scale are not interpreted the same way as differences on the original scale.</a:t>
            </a:r>
            <a:endParaRPr/>
          </a:p>
          <a:p>
            <a:pPr indent="0" lvl="0" marL="0" rtl="0" algn="l">
              <a:lnSpc>
                <a:spcPct val="115000"/>
              </a:lnSpc>
              <a:spcBef>
                <a:spcPts val="1200"/>
              </a:spcBef>
              <a:spcAft>
                <a:spcPts val="0"/>
              </a:spcAft>
              <a:buClr>
                <a:schemeClr val="dk1"/>
              </a:buClr>
              <a:buSzPts val="1100"/>
              <a:buFont typeface="Arial"/>
              <a:buNone/>
            </a:pPr>
            <a:r>
              <a:rPr lang="en"/>
              <a:t>Another option is a rank-based method. Rank-based methods analyze the ordering of observations instead of their raw numerical distances.</a:t>
            </a:r>
            <a:endParaRPr/>
          </a:p>
          <a:p>
            <a:pPr indent="0" lvl="0" marL="0" rtl="0" algn="l">
              <a:lnSpc>
                <a:spcPct val="115000"/>
              </a:lnSpc>
              <a:spcBef>
                <a:spcPts val="1200"/>
              </a:spcBef>
              <a:spcAft>
                <a:spcPts val="1200"/>
              </a:spcAft>
              <a:buSzPts val="1100"/>
              <a:buNone/>
            </a:pPr>
            <a:r>
              <a:rPr lang="en"/>
              <a:t>This can make the analysis less sensitive to extreme outliers or strong skew, but it also means we are no longer making exactly the same claim as a mean-based test.</a:t>
            </a:r>
            <a:endParaRPr/>
          </a:p>
        </p:txBody>
      </p:sp>
      <p:sp>
        <p:nvSpPr>
          <p:cNvPr id="204" name="Google Shape;204;g3ddd86a5112_3_15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dd86a5112_3_1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ddd86a5112_3_1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Some questions are not just about whether two groups have different means.</a:t>
            </a:r>
            <a:endParaRPr/>
          </a:p>
          <a:p>
            <a:pPr indent="0" lvl="0" marL="0" rtl="0" algn="l">
              <a:lnSpc>
                <a:spcPct val="115000"/>
              </a:lnSpc>
              <a:spcBef>
                <a:spcPts val="1200"/>
              </a:spcBef>
              <a:spcAft>
                <a:spcPts val="0"/>
              </a:spcAft>
              <a:buClr>
                <a:schemeClr val="dk1"/>
              </a:buClr>
              <a:buSzPts val="1100"/>
              <a:buFont typeface="Arial"/>
              <a:buNone/>
            </a:pPr>
            <a:r>
              <a:rPr lang="en"/>
              <a:t>Sometimes we want to know whether two entire distributions differ.</a:t>
            </a:r>
            <a:endParaRPr/>
          </a:p>
          <a:p>
            <a:pPr indent="0" lvl="0" marL="0" rtl="0" algn="l">
              <a:lnSpc>
                <a:spcPct val="115000"/>
              </a:lnSpc>
              <a:spcBef>
                <a:spcPts val="1200"/>
              </a:spcBef>
              <a:spcAft>
                <a:spcPts val="0"/>
              </a:spcAft>
              <a:buClr>
                <a:schemeClr val="dk1"/>
              </a:buClr>
              <a:buSzPts val="1100"/>
              <a:buFont typeface="Arial"/>
              <a:buNone/>
            </a:pPr>
            <a:r>
              <a:rPr lang="en"/>
              <a:t>A cumulative distribution function, or CDF, shows the proportion of observations less than or equal to each value.</a:t>
            </a:r>
            <a:endParaRPr/>
          </a:p>
          <a:p>
            <a:pPr indent="0" lvl="0" marL="0" rtl="0" algn="l">
              <a:lnSpc>
                <a:spcPct val="115000"/>
              </a:lnSpc>
              <a:spcBef>
                <a:spcPts val="1200"/>
              </a:spcBef>
              <a:spcAft>
                <a:spcPts val="0"/>
              </a:spcAft>
              <a:buClr>
                <a:schemeClr val="dk1"/>
              </a:buClr>
              <a:buSzPts val="1100"/>
              <a:buFont typeface="Arial"/>
              <a:buNone/>
            </a:pPr>
            <a:r>
              <a:rPr lang="en"/>
              <a:t>A distribution-level test compares the shapes of empirical distributions. This can capture differences in location, spread, skew, or other distributional features.</a:t>
            </a:r>
            <a:endParaRPr/>
          </a:p>
          <a:p>
            <a:pPr indent="0" lvl="0" marL="0" rtl="0" algn="l">
              <a:lnSpc>
                <a:spcPct val="115000"/>
              </a:lnSpc>
              <a:spcBef>
                <a:spcPts val="1200"/>
              </a:spcBef>
              <a:spcAft>
                <a:spcPts val="0"/>
              </a:spcAft>
              <a:buClr>
                <a:schemeClr val="dk1"/>
              </a:buClr>
              <a:buSzPts val="1100"/>
              <a:buFont typeface="Arial"/>
              <a:buNone/>
            </a:pPr>
            <a:r>
              <a:rPr lang="en"/>
              <a:t>This is especially relevant when comparing model scores, such as predicted probabilities from two algorithms.</a:t>
            </a:r>
            <a:endParaRPr/>
          </a:p>
          <a:p>
            <a:pPr indent="0" lvl="0" marL="0" rtl="0" algn="l">
              <a:lnSpc>
                <a:spcPct val="115000"/>
              </a:lnSpc>
              <a:spcBef>
                <a:spcPts val="1200"/>
              </a:spcBef>
              <a:spcAft>
                <a:spcPts val="1200"/>
              </a:spcAft>
              <a:buSzPts val="1100"/>
              <a:buNone/>
            </a:pPr>
            <a:r>
              <a:rPr lang="en"/>
              <a:t>The key distinction is: a mean comparison asks about average behavior, while a distribution comparison asks about the overall pattern of values.</a:t>
            </a:r>
            <a:endParaRPr/>
          </a:p>
        </p:txBody>
      </p:sp>
      <p:sp>
        <p:nvSpPr>
          <p:cNvPr id="223" name="Google Shape;223;g3ddd86a5112_3_1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dd86a5112_3_19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ddd86a5112_3_19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Spatial data introduce additional complications because observations are located in space.</a:t>
            </a:r>
            <a:endParaRPr/>
          </a:p>
          <a:p>
            <a:pPr indent="0" lvl="0" marL="0" rtl="0" algn="l">
              <a:lnSpc>
                <a:spcPct val="115000"/>
              </a:lnSpc>
              <a:spcBef>
                <a:spcPts val="1200"/>
              </a:spcBef>
              <a:spcAft>
                <a:spcPts val="0"/>
              </a:spcAft>
              <a:buClr>
                <a:schemeClr val="dk1"/>
              </a:buClr>
              <a:buSzPts val="1100"/>
              <a:buFont typeface="Arial"/>
              <a:buNone/>
            </a:pPr>
            <a:r>
              <a:rPr lang="en"/>
              <a:t>One issue is clustering. Points may be tightly clustered, dispersed, or approximately random, depending on the scale of analysis.</a:t>
            </a:r>
            <a:endParaRPr/>
          </a:p>
          <a:p>
            <a:pPr indent="0" lvl="0" marL="0" rtl="0" algn="l">
              <a:lnSpc>
                <a:spcPct val="115000"/>
              </a:lnSpc>
              <a:spcBef>
                <a:spcPts val="1200"/>
              </a:spcBef>
              <a:spcAft>
                <a:spcPts val="0"/>
              </a:spcAft>
              <a:buClr>
                <a:schemeClr val="dk1"/>
              </a:buClr>
              <a:buSzPts val="1100"/>
              <a:buFont typeface="Arial"/>
              <a:buNone/>
            </a:pPr>
            <a:r>
              <a:rPr lang="en"/>
              <a:t>Another issue is the modifiable areal unit problem, or MAUP. This means that changing the geographic boundaries or aggregation units can change the apparent pattern.</a:t>
            </a:r>
            <a:endParaRPr/>
          </a:p>
          <a:p>
            <a:pPr indent="0" lvl="0" marL="0" rtl="0" algn="l">
              <a:lnSpc>
                <a:spcPct val="115000"/>
              </a:lnSpc>
              <a:spcBef>
                <a:spcPts val="1200"/>
              </a:spcBef>
              <a:spcAft>
                <a:spcPts val="0"/>
              </a:spcAft>
              <a:buClr>
                <a:schemeClr val="dk1"/>
              </a:buClr>
              <a:buSzPts val="1100"/>
              <a:buFont typeface="Arial"/>
              <a:buNone/>
            </a:pPr>
            <a:r>
              <a:rPr lang="en"/>
              <a:t>The ecological fallacy is another risk. A relationship observed at the group or regional level may not hold for individuals.</a:t>
            </a:r>
            <a:endParaRPr/>
          </a:p>
          <a:p>
            <a:pPr indent="0" lvl="0" marL="0" rtl="0" algn="l">
              <a:lnSpc>
                <a:spcPct val="115000"/>
              </a:lnSpc>
              <a:spcBef>
                <a:spcPts val="1200"/>
              </a:spcBef>
              <a:spcAft>
                <a:spcPts val="0"/>
              </a:spcAft>
              <a:buClr>
                <a:schemeClr val="dk1"/>
              </a:buClr>
              <a:buSzPts val="1100"/>
              <a:buFont typeface="Arial"/>
              <a:buNone/>
            </a:pPr>
            <a:r>
              <a:rPr lang="en"/>
              <a:t>Spatial autocorrelation is also important. Nearby observations may be more similar to each other than distant observations, which can violate independence assumptions.</a:t>
            </a:r>
            <a:endParaRPr/>
          </a:p>
          <a:p>
            <a:pPr indent="0" lvl="0" marL="0" rtl="0" algn="l">
              <a:lnSpc>
                <a:spcPct val="115000"/>
              </a:lnSpc>
              <a:spcBef>
                <a:spcPts val="1200"/>
              </a:spcBef>
              <a:spcAft>
                <a:spcPts val="1200"/>
              </a:spcAft>
              <a:buSzPts val="1100"/>
              <a:buNone/>
            </a:pPr>
            <a:r>
              <a:rPr lang="en"/>
              <a:t>So with spatial data, always ask how geography, boundaries, and dependence affect the analysis.</a:t>
            </a:r>
            <a:endParaRPr/>
          </a:p>
        </p:txBody>
      </p:sp>
      <p:sp>
        <p:nvSpPr>
          <p:cNvPr id="239" name="Google Shape;239;g3ddd86a5112_3_19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dd86a5112_3_2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ddd86a5112_3_2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Ordinary least squares regression fits a line that summarizes the relationship between a dependent variable and one or more predictors.</a:t>
            </a:r>
            <a:endParaRPr/>
          </a:p>
          <a:p>
            <a:pPr indent="0" lvl="0" marL="0" rtl="0" algn="l">
              <a:lnSpc>
                <a:spcPct val="115000"/>
              </a:lnSpc>
              <a:spcBef>
                <a:spcPts val="1200"/>
              </a:spcBef>
              <a:spcAft>
                <a:spcPts val="0"/>
              </a:spcAft>
              <a:buClr>
                <a:schemeClr val="dk1"/>
              </a:buClr>
              <a:buSzPts val="1100"/>
              <a:buFont typeface="Arial"/>
              <a:buNone/>
            </a:pPr>
            <a:r>
              <a:rPr lang="en"/>
              <a:t>In a simple linear model, the slope coefficient describes the estimated change in the outcome associated with a one-unit change in the predictor.</a:t>
            </a:r>
            <a:endParaRPr/>
          </a:p>
          <a:p>
            <a:pPr indent="0" lvl="0" marL="0" rtl="0" algn="l">
              <a:lnSpc>
                <a:spcPct val="115000"/>
              </a:lnSpc>
              <a:spcBef>
                <a:spcPts val="1200"/>
              </a:spcBef>
              <a:spcAft>
                <a:spcPts val="0"/>
              </a:spcAft>
              <a:buClr>
                <a:schemeClr val="dk1"/>
              </a:buClr>
              <a:buSzPts val="1100"/>
              <a:buFont typeface="Arial"/>
              <a:buNone/>
            </a:pPr>
            <a:r>
              <a:rPr lang="en"/>
              <a:t>The sign of the coefficient tells us the direction of the relationship. The magnitude tells us the size of the relationship in the units of the model.</a:t>
            </a:r>
            <a:endParaRPr/>
          </a:p>
          <a:p>
            <a:pPr indent="0" lvl="0" marL="0" rtl="0" algn="l">
              <a:lnSpc>
                <a:spcPct val="115000"/>
              </a:lnSpc>
              <a:spcBef>
                <a:spcPts val="1200"/>
              </a:spcBef>
              <a:spcAft>
                <a:spcPts val="0"/>
              </a:spcAft>
              <a:buClr>
                <a:schemeClr val="dk1"/>
              </a:buClr>
              <a:buSzPts val="1100"/>
              <a:buFont typeface="Arial"/>
              <a:buNone/>
            </a:pPr>
            <a:r>
              <a:rPr lang="en"/>
              <a:t>The standard error tells us how uncertain the coefficient estimate is.</a:t>
            </a:r>
            <a:endParaRPr/>
          </a:p>
          <a:p>
            <a:pPr indent="0" lvl="0" marL="0" rtl="0" algn="l">
              <a:lnSpc>
                <a:spcPct val="115000"/>
              </a:lnSpc>
              <a:spcBef>
                <a:spcPts val="1200"/>
              </a:spcBef>
              <a:spcAft>
                <a:spcPts val="0"/>
              </a:spcAft>
              <a:buClr>
                <a:schemeClr val="dk1"/>
              </a:buClr>
              <a:buSzPts val="1100"/>
              <a:buFont typeface="Arial"/>
              <a:buNone/>
            </a:pPr>
            <a:r>
              <a:rPr lang="en"/>
              <a:t>The shaded band often shown around a regression line is usually a confidence interval for the estimated mean relationship. It is not the full range of possible y-values.</a:t>
            </a:r>
            <a:endParaRPr/>
          </a:p>
          <a:p>
            <a:pPr indent="0" lvl="0" marL="0" rtl="0" algn="l">
              <a:lnSpc>
                <a:spcPct val="115000"/>
              </a:lnSpc>
              <a:spcBef>
                <a:spcPts val="1200"/>
              </a:spcBef>
              <a:spcAft>
                <a:spcPts val="1200"/>
              </a:spcAft>
              <a:buSzPts val="1100"/>
              <a:buNone/>
            </a:pPr>
            <a:r>
              <a:rPr lang="en"/>
              <a:t>The line is a model summary, not proof of causation by itself.</a:t>
            </a:r>
            <a:endParaRPr/>
          </a:p>
        </p:txBody>
      </p:sp>
      <p:sp>
        <p:nvSpPr>
          <p:cNvPr id="270" name="Google Shape;270;g3ddd86a5112_3_2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dd86a5112_3_25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3ddd86a5112_3_25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Model evaluation is not only about whether a model fits the current data well.</a:t>
            </a:r>
            <a:endParaRPr/>
          </a:p>
          <a:p>
            <a:pPr indent="0" lvl="0" marL="0" rtl="0" algn="l">
              <a:lnSpc>
                <a:spcPct val="115000"/>
              </a:lnSpc>
              <a:spcBef>
                <a:spcPts val="1200"/>
              </a:spcBef>
              <a:spcAft>
                <a:spcPts val="0"/>
              </a:spcAft>
              <a:buClr>
                <a:schemeClr val="dk1"/>
              </a:buClr>
              <a:buSzPts val="1100"/>
              <a:buFont typeface="Arial"/>
              <a:buNone/>
            </a:pPr>
            <a:r>
              <a:rPr lang="en"/>
              <a:t>R-squared measures how much variation in the outcome is explained by the fitted model. But R-squared can increase when predictors are added, even if those predictors are not truly useful.</a:t>
            </a:r>
            <a:endParaRPr/>
          </a:p>
          <a:p>
            <a:pPr indent="0" lvl="0" marL="0" rtl="0" algn="l">
              <a:lnSpc>
                <a:spcPct val="115000"/>
              </a:lnSpc>
              <a:spcBef>
                <a:spcPts val="1200"/>
              </a:spcBef>
              <a:spcAft>
                <a:spcPts val="0"/>
              </a:spcAft>
              <a:buClr>
                <a:schemeClr val="dk1"/>
              </a:buClr>
              <a:buSzPts val="1100"/>
              <a:buFont typeface="Arial"/>
              <a:buNone/>
            </a:pPr>
            <a:r>
              <a:rPr lang="en"/>
              <a:t>Adjusted R-squared accounts for the number of predictors, so it penalizes unnecessary complexity.</a:t>
            </a:r>
            <a:endParaRPr/>
          </a:p>
          <a:p>
            <a:pPr indent="0" lvl="0" marL="0" rtl="0" algn="l">
              <a:lnSpc>
                <a:spcPct val="115000"/>
              </a:lnSpc>
              <a:spcBef>
                <a:spcPts val="1200"/>
              </a:spcBef>
              <a:spcAft>
                <a:spcPts val="0"/>
              </a:spcAft>
              <a:buClr>
                <a:schemeClr val="dk1"/>
              </a:buClr>
              <a:buSzPts val="1100"/>
              <a:buFont typeface="Arial"/>
              <a:buNone/>
            </a:pPr>
            <a:r>
              <a:rPr lang="en"/>
              <a:t>BIC is another model comparison metric. It balances model fit against the number of parameters, with a stronger penalty for complexity.</a:t>
            </a:r>
            <a:endParaRPr/>
          </a:p>
          <a:p>
            <a:pPr indent="0" lvl="0" marL="0" rtl="0" algn="l">
              <a:lnSpc>
                <a:spcPct val="115000"/>
              </a:lnSpc>
              <a:spcBef>
                <a:spcPts val="1200"/>
              </a:spcBef>
              <a:spcAft>
                <a:spcPts val="0"/>
              </a:spcAft>
              <a:buClr>
                <a:schemeClr val="dk1"/>
              </a:buClr>
              <a:buSzPts val="1100"/>
              <a:buFont typeface="Arial"/>
              <a:buNone/>
            </a:pPr>
            <a:r>
              <a:rPr lang="en"/>
              <a:t>The key question is whether a new predictor improves the model enough to justify making the model more complicated.</a:t>
            </a:r>
            <a:endParaRPr/>
          </a:p>
          <a:p>
            <a:pPr indent="0" lvl="0" marL="0" rtl="0" algn="l">
              <a:lnSpc>
                <a:spcPct val="115000"/>
              </a:lnSpc>
              <a:spcBef>
                <a:spcPts val="1200"/>
              </a:spcBef>
              <a:spcAft>
                <a:spcPts val="1200"/>
              </a:spcAft>
              <a:buSzPts val="1100"/>
              <a:buNone/>
            </a:pPr>
            <a:r>
              <a:rPr lang="en"/>
              <a:t>More predictors do not automatically mean a better model.</a:t>
            </a:r>
            <a:endParaRPr/>
          </a:p>
        </p:txBody>
      </p:sp>
      <p:sp>
        <p:nvSpPr>
          <p:cNvPr id="297" name="Google Shape;297;g3ddd86a5112_3_25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dd86a5112_3_2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ddd86a5112_3_2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A regression line can look reasonable but still violate important assumptions.</a:t>
            </a:r>
            <a:endParaRPr/>
          </a:p>
          <a:p>
            <a:pPr indent="0" lvl="0" marL="0" rtl="0" algn="l">
              <a:lnSpc>
                <a:spcPct val="115000"/>
              </a:lnSpc>
              <a:spcBef>
                <a:spcPts val="1200"/>
              </a:spcBef>
              <a:spcAft>
                <a:spcPts val="0"/>
              </a:spcAft>
              <a:buClr>
                <a:schemeClr val="dk1"/>
              </a:buClr>
              <a:buSzPts val="1100"/>
              <a:buFont typeface="Arial"/>
              <a:buNone/>
            </a:pPr>
            <a:r>
              <a:rPr lang="en"/>
              <a:t>Linearity means the model form should reasonably describe the mean relationship between predictors and the outcome.</a:t>
            </a:r>
            <a:endParaRPr/>
          </a:p>
          <a:p>
            <a:pPr indent="0" lvl="0" marL="0" rtl="0" algn="l">
              <a:lnSpc>
                <a:spcPct val="115000"/>
              </a:lnSpc>
              <a:spcBef>
                <a:spcPts val="1200"/>
              </a:spcBef>
              <a:spcAft>
                <a:spcPts val="0"/>
              </a:spcAft>
              <a:buClr>
                <a:schemeClr val="dk1"/>
              </a:buClr>
              <a:buSzPts val="1100"/>
              <a:buFont typeface="Arial"/>
              <a:buNone/>
            </a:pPr>
            <a:r>
              <a:rPr lang="en"/>
              <a:t>Independence means residuals should not be correlated with each other. This can be violated in time series, repeated measures, or spatial data.</a:t>
            </a:r>
            <a:endParaRPr/>
          </a:p>
          <a:p>
            <a:pPr indent="0" lvl="0" marL="0" rtl="0" algn="l">
              <a:lnSpc>
                <a:spcPct val="115000"/>
              </a:lnSpc>
              <a:spcBef>
                <a:spcPts val="1200"/>
              </a:spcBef>
              <a:spcAft>
                <a:spcPts val="0"/>
              </a:spcAft>
              <a:buClr>
                <a:schemeClr val="dk1"/>
              </a:buClr>
              <a:buSzPts val="1100"/>
              <a:buFont typeface="Arial"/>
              <a:buNone/>
            </a:pPr>
            <a:r>
              <a:rPr lang="en"/>
              <a:t>Homoscedasticity means the residual spread should be roughly stable across fitted values. If the residual spread changes dramatically, standard errors and inference can be affected.</a:t>
            </a:r>
            <a:endParaRPr/>
          </a:p>
          <a:p>
            <a:pPr indent="0" lvl="0" marL="0" rtl="0" algn="l">
              <a:lnSpc>
                <a:spcPct val="115000"/>
              </a:lnSpc>
              <a:spcBef>
                <a:spcPts val="1200"/>
              </a:spcBef>
              <a:spcAft>
                <a:spcPts val="0"/>
              </a:spcAft>
              <a:buClr>
                <a:schemeClr val="dk1"/>
              </a:buClr>
              <a:buSzPts val="1100"/>
              <a:buFont typeface="Arial"/>
              <a:buNone/>
            </a:pPr>
            <a:r>
              <a:rPr lang="en"/>
              <a:t>Collinearity occurs when predictors contain overlapping or redundant information. This can make coefficient estimates unstable and difficult to interpret.</a:t>
            </a:r>
            <a:endParaRPr/>
          </a:p>
          <a:p>
            <a:pPr indent="0" lvl="0" marL="0" rtl="0" algn="l">
              <a:lnSpc>
                <a:spcPct val="115000"/>
              </a:lnSpc>
              <a:spcBef>
                <a:spcPts val="1200"/>
              </a:spcBef>
              <a:spcAft>
                <a:spcPts val="1200"/>
              </a:spcAft>
              <a:buSzPts val="1100"/>
              <a:buNone/>
            </a:pPr>
            <a:r>
              <a:rPr lang="en"/>
              <a:t>A high condition number can be a warning sign for collinearity or scaling issues, but it should be interpreted as a diagnostic clue rather than a final conclusion.</a:t>
            </a:r>
            <a:endParaRPr/>
          </a:p>
        </p:txBody>
      </p:sp>
      <p:sp>
        <p:nvSpPr>
          <p:cNvPr id="318" name="Google Shape;318;g3ddd86a5112_3_2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069ffc553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069ffc55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069ffc553_0_14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e069ffc553_0_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1">
    <p:spTree>
      <p:nvGrpSpPr>
        <p:cNvPr id="50" name="Shape 50"/>
        <p:cNvGrpSpPr/>
        <p:nvPr/>
      </p:nvGrpSpPr>
      <p:grpSpPr>
        <a:xfrm>
          <a:off x="0" y="0"/>
          <a:ext cx="0" cy="0"/>
          <a:chOff x="0" y="0"/>
          <a:chExt cx="0" cy="0"/>
        </a:xfrm>
      </p:grpSpPr>
      <p:sp>
        <p:nvSpPr>
          <p:cNvPr id="51" name="Google Shape;51;p13"/>
          <p:cNvSpPr txBox="1"/>
          <p:nvPr>
            <p:ph type="title"/>
          </p:nvPr>
        </p:nvSpPr>
        <p:spPr>
          <a:xfrm>
            <a:off x="666750" y="862013"/>
            <a:ext cx="7810500" cy="1743000"/>
          </a:xfrm>
          <a:prstGeom prst="rect">
            <a:avLst/>
          </a:prstGeom>
          <a:noFill/>
          <a:ln>
            <a:noFill/>
          </a:ln>
        </p:spPr>
        <p:txBody>
          <a:bodyPr anchorCtr="0" anchor="b" bIns="19050" lIns="19050" spcFirstLastPara="1" rIns="19050" wrap="square" tIns="19050">
            <a:norm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p:txBody>
      </p:sp>
      <p:sp>
        <p:nvSpPr>
          <p:cNvPr id="52" name="Google Shape;52;p13"/>
          <p:cNvSpPr txBox="1"/>
          <p:nvPr>
            <p:ph idx="1" type="body"/>
          </p:nvPr>
        </p:nvSpPr>
        <p:spPr>
          <a:xfrm>
            <a:off x="666750" y="2652713"/>
            <a:ext cx="7810500" cy="207090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2000"/>
              <a:buFont typeface="Avenir"/>
              <a:buNone/>
              <a:defRPr sz="2000"/>
            </a:lvl1pPr>
            <a:lvl2pPr indent="-228600" lvl="1" marL="914400" algn="ctr">
              <a:lnSpc>
                <a:spcPct val="100000"/>
              </a:lnSpc>
              <a:spcBef>
                <a:spcPts val="0"/>
              </a:spcBef>
              <a:spcAft>
                <a:spcPts val="0"/>
              </a:spcAft>
              <a:buClr>
                <a:srgbClr val="000000"/>
              </a:buClr>
              <a:buSzPts val="2000"/>
              <a:buFont typeface="Avenir"/>
              <a:buNone/>
              <a:defRPr sz="2000"/>
            </a:lvl2pPr>
            <a:lvl3pPr indent="-228600" lvl="2" marL="1371600" algn="ctr">
              <a:lnSpc>
                <a:spcPct val="100000"/>
              </a:lnSpc>
              <a:spcBef>
                <a:spcPts val="0"/>
              </a:spcBef>
              <a:spcAft>
                <a:spcPts val="0"/>
              </a:spcAft>
              <a:buClr>
                <a:srgbClr val="000000"/>
              </a:buClr>
              <a:buSzPts val="2000"/>
              <a:buFont typeface="Avenir"/>
              <a:buNone/>
              <a:defRPr sz="2000"/>
            </a:lvl3pPr>
            <a:lvl4pPr indent="-228600" lvl="3" marL="1828800" algn="ctr">
              <a:lnSpc>
                <a:spcPct val="100000"/>
              </a:lnSpc>
              <a:spcBef>
                <a:spcPts val="0"/>
              </a:spcBef>
              <a:spcAft>
                <a:spcPts val="0"/>
              </a:spcAft>
              <a:buClr>
                <a:srgbClr val="000000"/>
              </a:buClr>
              <a:buSzPts val="2000"/>
              <a:buFont typeface="Avenir"/>
              <a:buNone/>
              <a:defRPr sz="2000"/>
            </a:lvl4pPr>
            <a:lvl5pPr indent="-228600" lvl="4" marL="2286000" algn="ctr">
              <a:lnSpc>
                <a:spcPct val="100000"/>
              </a:lnSpc>
              <a:spcBef>
                <a:spcPts val="0"/>
              </a:spcBef>
              <a:spcAft>
                <a:spcPts val="0"/>
              </a:spcAft>
              <a:buClr>
                <a:srgbClr val="000000"/>
              </a:buClr>
              <a:buSzPts val="2000"/>
              <a:buFont typeface="Avenir"/>
              <a:buNone/>
              <a:defRPr sz="2000"/>
            </a:lvl5pPr>
            <a:lvl6pPr indent="-279400" lvl="5" marL="2743200" algn="l">
              <a:lnSpc>
                <a:spcPct val="100000"/>
              </a:lnSpc>
              <a:spcBef>
                <a:spcPts val="1500"/>
              </a:spcBef>
              <a:spcAft>
                <a:spcPts val="0"/>
              </a:spcAft>
              <a:buClr>
                <a:srgbClr val="000000"/>
              </a:buClr>
              <a:buSzPts val="800"/>
              <a:buChar char="■"/>
              <a:defRPr/>
            </a:lvl6pPr>
            <a:lvl7pPr indent="-279400" lvl="6" marL="3200400" algn="l">
              <a:lnSpc>
                <a:spcPct val="100000"/>
              </a:lnSpc>
              <a:spcBef>
                <a:spcPts val="1500"/>
              </a:spcBef>
              <a:spcAft>
                <a:spcPts val="0"/>
              </a:spcAft>
              <a:buClr>
                <a:srgbClr val="000000"/>
              </a:buClr>
              <a:buSzPts val="800"/>
              <a:buChar char="●"/>
              <a:defRPr/>
            </a:lvl7pPr>
            <a:lvl8pPr indent="-279400" lvl="7" marL="3657600" algn="l">
              <a:lnSpc>
                <a:spcPct val="100000"/>
              </a:lnSpc>
              <a:spcBef>
                <a:spcPts val="1500"/>
              </a:spcBef>
              <a:spcAft>
                <a:spcPts val="0"/>
              </a:spcAft>
              <a:buClr>
                <a:srgbClr val="000000"/>
              </a:buClr>
              <a:buSzPts val="800"/>
              <a:buChar char="○"/>
              <a:defRPr/>
            </a:lvl8pPr>
            <a:lvl9pPr indent="-279400" lvl="8" marL="4114800" algn="l">
              <a:lnSpc>
                <a:spcPct val="100000"/>
              </a:lnSpc>
              <a:spcBef>
                <a:spcPts val="1500"/>
              </a:spcBef>
              <a:spcAft>
                <a:spcPts val="0"/>
              </a:spcAft>
              <a:buClr>
                <a:srgbClr val="000000"/>
              </a:buClr>
              <a:buSzPts val="800"/>
              <a:buChar char="■"/>
              <a:defRPr/>
            </a:lvl9pPr>
          </a:lstStyle>
          <a:p/>
        </p:txBody>
      </p:sp>
      <p:sp>
        <p:nvSpPr>
          <p:cNvPr id="53" name="Google Shape;53;p13"/>
          <p:cNvSpPr txBox="1"/>
          <p:nvPr>
            <p:ph idx="12" type="sldNum"/>
          </p:nvPr>
        </p:nvSpPr>
        <p:spPr>
          <a:xfrm>
            <a:off x="4484637" y="4905375"/>
            <a:ext cx="170100" cy="177000"/>
          </a:xfrm>
          <a:prstGeom prst="rect">
            <a:avLst/>
          </a:prstGeom>
          <a:noFill/>
          <a:ln>
            <a:noFill/>
          </a:ln>
        </p:spPr>
        <p:txBody>
          <a:bodyPr anchorCtr="0" anchor="t" bIns="19050" lIns="19050" spcFirstLastPara="1" rIns="19050" wrap="square" tIns="19050">
            <a:spAutoFit/>
          </a:bodyPr>
          <a:lstStyle>
            <a:lvl1pPr indent="0" lvl="0"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7"/>
          <p:cNvSpPr txBox="1"/>
          <p:nvPr>
            <p:ph type="title"/>
          </p:nvPr>
        </p:nvSpPr>
        <p:spPr>
          <a:xfrm>
            <a:off x="666750" y="862013"/>
            <a:ext cx="5341800" cy="1743000"/>
          </a:xfrm>
          <a:prstGeom prst="rect">
            <a:avLst/>
          </a:prstGeom>
          <a:noFill/>
          <a:ln>
            <a:noFill/>
          </a:ln>
        </p:spPr>
        <p:txBody>
          <a:bodyPr anchorCtr="0" anchor="b" bIns="19050" lIns="19050" spcFirstLastPara="1" rIns="19050" wrap="square" tIns="19050">
            <a:normAutofit/>
          </a:bodyPr>
          <a:lstStyle/>
          <a:p>
            <a:pPr indent="0" lvl="0" marL="0" marR="0" rtl="0" algn="l">
              <a:lnSpc>
                <a:spcPct val="100000"/>
              </a:lnSpc>
              <a:spcBef>
                <a:spcPts val="0"/>
              </a:spcBef>
              <a:spcAft>
                <a:spcPts val="0"/>
              </a:spcAft>
              <a:buClr>
                <a:srgbClr val="000000"/>
              </a:buClr>
              <a:buSzPts val="4200"/>
              <a:buFont typeface="Avenir"/>
              <a:buNone/>
            </a:pPr>
            <a:r>
              <a:rPr lang="en">
                <a:latin typeface="Avenir"/>
                <a:ea typeface="Avenir"/>
                <a:cs typeface="Avenir"/>
                <a:sym typeface="Avenir"/>
              </a:rPr>
              <a:t>Week 6</a:t>
            </a:r>
            <a:endParaRPr>
              <a:latin typeface="Avenir"/>
              <a:ea typeface="Avenir"/>
              <a:cs typeface="Avenir"/>
              <a:sym typeface="Avenir"/>
            </a:endParaRPr>
          </a:p>
        </p:txBody>
      </p:sp>
      <p:sp>
        <p:nvSpPr>
          <p:cNvPr id="62" name="Google Shape;62;p17"/>
          <p:cNvSpPr txBox="1"/>
          <p:nvPr>
            <p:ph idx="1" type="body"/>
          </p:nvPr>
        </p:nvSpPr>
        <p:spPr>
          <a:xfrm>
            <a:off x="666750" y="3228234"/>
            <a:ext cx="3041100" cy="1671000"/>
          </a:xfrm>
          <a:prstGeom prst="rect">
            <a:avLst/>
          </a:prstGeom>
          <a:noFill/>
          <a:ln>
            <a:noFill/>
          </a:ln>
        </p:spPr>
        <p:txBody>
          <a:bodyPr anchorCtr="0" anchor="t" bIns="19050" lIns="19050" spcFirstLastPara="1" rIns="19050" wrap="square" tIns="19050">
            <a:normAutofit/>
          </a:bodyPr>
          <a:lstStyle/>
          <a:p>
            <a:pPr indent="0" lvl="0" marL="0" rtl="0" algn="ctr">
              <a:spcBef>
                <a:spcPts val="0"/>
              </a:spcBef>
              <a:spcAft>
                <a:spcPts val="0"/>
              </a:spcAft>
              <a:buClr>
                <a:schemeClr val="dk1"/>
              </a:buClr>
              <a:buSzPts val="2000"/>
              <a:buFont typeface="Avenir"/>
              <a:buNone/>
            </a:pPr>
            <a:r>
              <a:rPr lang="en" sz="2000">
                <a:solidFill>
                  <a:schemeClr val="dk1"/>
                </a:solidFill>
                <a:latin typeface="Avenir"/>
                <a:ea typeface="Avenir"/>
                <a:cs typeface="Avenir"/>
                <a:sym typeface="Avenir"/>
              </a:rPr>
              <a:t>COGS 108 </a:t>
            </a:r>
            <a:r>
              <a:rPr lang="en" sz="2000">
                <a:solidFill>
                  <a:schemeClr val="dk1"/>
                </a:solidFill>
                <a:latin typeface="Avenir"/>
                <a:ea typeface="Avenir"/>
                <a:cs typeface="Avenir"/>
                <a:sym typeface="Avenir"/>
              </a:rPr>
              <a:t>SP</a:t>
            </a:r>
            <a:r>
              <a:rPr lang="en" sz="2000">
                <a:solidFill>
                  <a:schemeClr val="dk1"/>
                </a:solidFill>
                <a:latin typeface="Avenir"/>
                <a:ea typeface="Avenir"/>
                <a:cs typeface="Avenir"/>
                <a:sym typeface="Avenir"/>
              </a:rPr>
              <a:t> 2026</a:t>
            </a:r>
            <a:endParaRPr sz="2000">
              <a:latin typeface="Avenir"/>
              <a:ea typeface="Avenir"/>
              <a:cs typeface="Avenir"/>
              <a:sym typeface="Avenir"/>
            </a:endParaRPr>
          </a:p>
          <a:p>
            <a:pPr indent="0" lvl="0" marL="0" marR="0" rtl="0" algn="l">
              <a:lnSpc>
                <a:spcPct val="100000"/>
              </a:lnSpc>
              <a:spcBef>
                <a:spcPts val="0"/>
              </a:spcBef>
              <a:spcAft>
                <a:spcPts val="0"/>
              </a:spcAft>
              <a:buClr>
                <a:srgbClr val="000000"/>
              </a:buClr>
              <a:buSzPts val="2000"/>
              <a:buFont typeface="Avenir"/>
              <a:buNone/>
            </a:pPr>
            <a:r>
              <a:t/>
            </a:r>
            <a:endParaRPr>
              <a:latin typeface="Avenir"/>
              <a:ea typeface="Avenir"/>
              <a:cs typeface="Avenir"/>
              <a:sym typeface="Avenir"/>
            </a:endParaRPr>
          </a:p>
        </p:txBody>
      </p:sp>
      <p:cxnSp>
        <p:nvCxnSpPr>
          <p:cNvPr id="63" name="Google Shape;63;p17"/>
          <p:cNvCxnSpPr/>
          <p:nvPr/>
        </p:nvCxnSpPr>
        <p:spPr>
          <a:xfrm>
            <a:off x="667290" y="2809875"/>
            <a:ext cx="7809300" cy="0"/>
          </a:xfrm>
          <a:prstGeom prst="straightConnector1">
            <a:avLst/>
          </a:prstGeom>
          <a:noFill/>
          <a:ln cap="flat" cmpd="sng" w="25400">
            <a:solidFill>
              <a:srgbClr val="000000"/>
            </a:solidFill>
            <a:prstDash val="solid"/>
            <a:miter lim="400000"/>
            <a:headEnd len="sm" w="sm" type="none"/>
            <a:tailEnd len="sm" w="sm" type="none"/>
          </a:ln>
        </p:spPr>
      </p:cxnSp>
      <p:sp>
        <p:nvSpPr>
          <p:cNvPr id="64" name="Google Shape;64;p17"/>
          <p:cNvSpPr txBox="1"/>
          <p:nvPr/>
        </p:nvSpPr>
        <p:spPr>
          <a:xfrm>
            <a:off x="6017239" y="294615"/>
            <a:ext cx="2468700" cy="22860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000000"/>
              </a:buClr>
              <a:buSzPts val="2000"/>
              <a:buFont typeface="Avenir"/>
              <a:buNone/>
            </a:pPr>
            <a:r>
              <a:t/>
            </a:r>
            <a:endParaRPr b="1" i="0" sz="2000" u="none" cap="none" strike="noStrike">
              <a:solidFill>
                <a:srgbClr val="000000"/>
              </a:solidFill>
              <a:latin typeface="Avenir"/>
              <a:ea typeface="Avenir"/>
              <a:cs typeface="Avenir"/>
              <a:sym typeface="Avenir"/>
            </a:endParaRPr>
          </a:p>
        </p:txBody>
      </p:sp>
      <p:sp>
        <p:nvSpPr>
          <p:cNvPr id="65" name="Google Shape;65;p17"/>
          <p:cNvSpPr txBox="1"/>
          <p:nvPr/>
        </p:nvSpPr>
        <p:spPr>
          <a:xfrm>
            <a:off x="92850" y="4716425"/>
            <a:ext cx="53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*By: Jason Chen &amp; Jessica Cheng, Spring 2026</a:t>
            </a:r>
            <a:endParaRPr sz="12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8"/>
          <p:cNvSpPr txBox="1"/>
          <p:nvPr/>
        </p:nvSpPr>
        <p:spPr>
          <a:xfrm>
            <a:off x="633413" y="133350"/>
            <a:ext cx="7877100" cy="857400"/>
          </a:xfrm>
          <a:prstGeom prst="rect">
            <a:avLst/>
          </a:prstGeom>
          <a:noFill/>
          <a:ln>
            <a:noFill/>
          </a:ln>
        </p:spPr>
        <p:txBody>
          <a:bodyPr anchorCtr="0" anchor="ctr" bIns="19050" lIns="19050" spcFirstLastPara="1" rIns="19050" wrap="square" tIns="19050">
            <a:normAutofit/>
          </a:bodyPr>
          <a:lstStyle/>
          <a:p>
            <a:pPr indent="0" lvl="0" marL="0" rtl="0" algn="l">
              <a:spcBef>
                <a:spcPts val="0"/>
              </a:spcBef>
              <a:spcAft>
                <a:spcPts val="0"/>
              </a:spcAft>
              <a:buNone/>
            </a:pPr>
            <a:r>
              <a:rPr b="1" lang="en" sz="3000">
                <a:latin typeface="Avenir"/>
                <a:ea typeface="Avenir"/>
                <a:cs typeface="Avenir"/>
                <a:sym typeface="Avenir"/>
              </a:rPr>
              <a:t>Due</a:t>
            </a:r>
            <a:r>
              <a:rPr b="1" lang="en" sz="3000">
                <a:latin typeface="Avenir"/>
                <a:ea typeface="Avenir"/>
                <a:cs typeface="Avenir"/>
                <a:sym typeface="Avenir"/>
              </a:rPr>
              <a:t> dates</a:t>
            </a:r>
            <a:endParaRPr b="1" sz="3000">
              <a:latin typeface="Avenir"/>
              <a:ea typeface="Avenir"/>
              <a:cs typeface="Avenir"/>
              <a:sym typeface="Avenir"/>
            </a:endParaRPr>
          </a:p>
        </p:txBody>
      </p:sp>
      <p:sp>
        <p:nvSpPr>
          <p:cNvPr id="71" name="Google Shape;71;p18"/>
          <p:cNvSpPr txBox="1"/>
          <p:nvPr/>
        </p:nvSpPr>
        <p:spPr>
          <a:xfrm>
            <a:off x="633413" y="1162050"/>
            <a:ext cx="7877100" cy="3486300"/>
          </a:xfrm>
          <a:prstGeom prst="rect">
            <a:avLst/>
          </a:prstGeom>
          <a:noFill/>
          <a:ln>
            <a:noFill/>
          </a:ln>
        </p:spPr>
        <p:txBody>
          <a:bodyPr anchorCtr="0" anchor="t" bIns="19050" lIns="19050" spcFirstLastPara="1" rIns="19050" wrap="square" tIns="19050">
            <a:normAutofit/>
          </a:bodyPr>
          <a:lstStyle/>
          <a:p>
            <a:pPr indent="-234950" lvl="0" marL="266700" rtl="0" algn="l">
              <a:spcBef>
                <a:spcPts val="0"/>
              </a:spcBef>
              <a:spcAft>
                <a:spcPts val="0"/>
              </a:spcAft>
              <a:buSzPts val="2100"/>
              <a:buFont typeface="Avenir"/>
              <a:buChar char="•"/>
            </a:pPr>
            <a:r>
              <a:rPr lang="en" sz="2100">
                <a:solidFill>
                  <a:schemeClr val="dk1"/>
                </a:solidFill>
                <a:latin typeface="Avenir"/>
                <a:ea typeface="Avenir"/>
                <a:cs typeface="Avenir"/>
                <a:sym typeface="Avenir"/>
              </a:rPr>
              <a:t>A2</a:t>
            </a:r>
            <a:r>
              <a:rPr lang="en" sz="2100">
                <a:solidFill>
                  <a:schemeClr val="dk1"/>
                </a:solidFill>
                <a:latin typeface="Avenir"/>
                <a:ea typeface="Avenir"/>
                <a:cs typeface="Avenir"/>
                <a:sym typeface="Avenir"/>
              </a:rPr>
              <a:t>: Wednesday (05/06)</a:t>
            </a:r>
            <a:endParaRPr sz="2100">
              <a:solidFill>
                <a:schemeClr val="dk1"/>
              </a:solidFill>
              <a:latin typeface="Avenir"/>
              <a:ea typeface="Avenir"/>
              <a:cs typeface="Avenir"/>
              <a:sym typeface="Avenir"/>
            </a:endParaRPr>
          </a:p>
          <a:p>
            <a:pPr indent="-234950" lvl="0" marL="266700" rtl="0" algn="l">
              <a:spcBef>
                <a:spcPts val="0"/>
              </a:spcBef>
              <a:spcAft>
                <a:spcPts val="0"/>
              </a:spcAft>
              <a:buClr>
                <a:schemeClr val="dk1"/>
              </a:buClr>
              <a:buSzPts val="2100"/>
              <a:buFont typeface="Avenir"/>
              <a:buChar char="•"/>
            </a:pPr>
            <a:r>
              <a:rPr lang="en" sz="2100">
                <a:solidFill>
                  <a:schemeClr val="dk1"/>
                </a:solidFill>
                <a:latin typeface="Avenir"/>
                <a:ea typeface="Avenir"/>
                <a:cs typeface="Avenir"/>
                <a:sym typeface="Avenir"/>
              </a:rPr>
              <a:t>D5: Friday (05/08)</a:t>
            </a:r>
            <a:endParaRPr sz="2100">
              <a:latin typeface="Avenir"/>
              <a:ea typeface="Avenir"/>
              <a:cs typeface="Avenir"/>
              <a:sym typeface="Aveni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b="1" lang="en" sz="3000">
                <a:latin typeface="Avenir"/>
                <a:ea typeface="Avenir"/>
                <a:cs typeface="Avenir"/>
                <a:sym typeface="Avenir"/>
              </a:rPr>
              <a:t>Project Proposal</a:t>
            </a:r>
            <a:endParaRPr b="1" sz="3000">
              <a:latin typeface="Avenir"/>
              <a:ea typeface="Avenir"/>
              <a:cs typeface="Avenir"/>
              <a:sym typeface="Avenir"/>
            </a:endParaRPr>
          </a:p>
        </p:txBody>
      </p:sp>
      <p:sp>
        <p:nvSpPr>
          <p:cNvPr id="77" name="Google Shape;7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34950" lvl="0" marL="266700" marR="0" rtl="0" algn="l">
              <a:lnSpc>
                <a:spcPct val="100000"/>
              </a:lnSpc>
              <a:spcBef>
                <a:spcPts val="0"/>
              </a:spcBef>
              <a:spcAft>
                <a:spcPts val="0"/>
              </a:spcAft>
              <a:buClr>
                <a:srgbClr val="000000"/>
              </a:buClr>
              <a:buSzPts val="2100"/>
              <a:buFont typeface="Avenir"/>
              <a:buChar char="•"/>
            </a:pPr>
            <a:r>
              <a:rPr lang="en" sz="2100">
                <a:solidFill>
                  <a:schemeClr val="dk1"/>
                </a:solidFill>
                <a:latin typeface="Avenir"/>
                <a:ea typeface="Avenir"/>
                <a:cs typeface="Avenir"/>
                <a:sym typeface="Avenir"/>
              </a:rPr>
              <a:t>Feedback will be out by the end of today</a:t>
            </a:r>
            <a:endParaRPr sz="2100">
              <a:solidFill>
                <a:schemeClr val="dk1"/>
              </a:solidFill>
              <a:latin typeface="Avenir"/>
              <a:ea typeface="Avenir"/>
              <a:cs typeface="Avenir"/>
              <a:sym typeface="Avenir"/>
            </a:endParaRPr>
          </a:p>
          <a:p>
            <a:pPr indent="-234950" lvl="0" marL="266700" marR="0" rtl="0" algn="l">
              <a:lnSpc>
                <a:spcPct val="100000"/>
              </a:lnSpc>
              <a:spcBef>
                <a:spcPts val="0"/>
              </a:spcBef>
              <a:spcAft>
                <a:spcPts val="0"/>
              </a:spcAft>
              <a:buClr>
                <a:srgbClr val="000000"/>
              </a:buClr>
              <a:buSzPts val="2100"/>
              <a:buFont typeface="Avenir"/>
              <a:buChar char="•"/>
            </a:pPr>
            <a:r>
              <a:rPr lang="en" sz="2100">
                <a:solidFill>
                  <a:schemeClr val="dk1"/>
                </a:solidFill>
                <a:latin typeface="Avenir"/>
                <a:ea typeface="Avenir"/>
                <a:cs typeface="Avenir"/>
                <a:sym typeface="Avenir"/>
              </a:rPr>
              <a:t>Make revisions in next checkpoint</a:t>
            </a:r>
            <a:endParaRPr sz="2100">
              <a:solidFill>
                <a:schemeClr val="dk1"/>
              </a:solidFill>
              <a:latin typeface="Avenir"/>
              <a:ea typeface="Avenir"/>
              <a:cs typeface="Avenir"/>
              <a:sym typeface="Avenir"/>
            </a:endParaRPr>
          </a:p>
          <a:p>
            <a:pPr indent="-234950" lvl="0" marL="266700" marR="0" rtl="0" algn="l">
              <a:lnSpc>
                <a:spcPct val="100000"/>
              </a:lnSpc>
              <a:spcBef>
                <a:spcPts val="0"/>
              </a:spcBef>
              <a:spcAft>
                <a:spcPts val="0"/>
              </a:spcAft>
              <a:buClr>
                <a:srgbClr val="000000"/>
              </a:buClr>
              <a:buSzPts val="2100"/>
              <a:buFont typeface="Avenir"/>
              <a:buChar char="•"/>
            </a:pPr>
            <a:r>
              <a:rPr lang="en" sz="2100">
                <a:solidFill>
                  <a:schemeClr val="dk1"/>
                </a:solidFill>
                <a:latin typeface="Avenir"/>
                <a:ea typeface="Avenir"/>
                <a:cs typeface="Avenir"/>
                <a:sym typeface="Avenir"/>
              </a:rPr>
              <a:t>You can find your feedback in your </a:t>
            </a:r>
            <a:r>
              <a:rPr b="1" lang="en" sz="2100" u="sng">
                <a:solidFill>
                  <a:schemeClr val="dk1"/>
                </a:solidFill>
                <a:latin typeface="Avenir"/>
                <a:ea typeface="Avenir"/>
                <a:cs typeface="Avenir"/>
                <a:sym typeface="Avenir"/>
              </a:rPr>
              <a:t>group GitHub repository</a:t>
            </a:r>
            <a:r>
              <a:rPr lang="en" sz="2100">
                <a:solidFill>
                  <a:schemeClr val="dk1"/>
                </a:solidFill>
                <a:latin typeface="Avenir"/>
                <a:ea typeface="Avenir"/>
                <a:cs typeface="Avenir"/>
                <a:sym typeface="Avenir"/>
              </a:rPr>
              <a:t> under </a:t>
            </a:r>
            <a:r>
              <a:rPr b="1" lang="en" sz="2100" u="sng">
                <a:solidFill>
                  <a:schemeClr val="dk1"/>
                </a:solidFill>
                <a:latin typeface="Avenir"/>
                <a:ea typeface="Avenir"/>
                <a:cs typeface="Avenir"/>
                <a:sym typeface="Avenir"/>
              </a:rPr>
              <a:t>Issues</a:t>
            </a:r>
            <a:r>
              <a:rPr lang="en" sz="2100" u="sng">
                <a:solidFill>
                  <a:schemeClr val="dk1"/>
                </a:solidFill>
                <a:latin typeface="Avenir"/>
                <a:ea typeface="Avenir"/>
                <a:cs typeface="Avenir"/>
                <a:sym typeface="Avenir"/>
              </a:rPr>
              <a:t>,</a:t>
            </a:r>
            <a:r>
              <a:rPr lang="en" sz="2100">
                <a:solidFill>
                  <a:schemeClr val="dk1"/>
                </a:solidFill>
                <a:latin typeface="Avenir"/>
                <a:ea typeface="Avenir"/>
                <a:cs typeface="Avenir"/>
                <a:sym typeface="Avenir"/>
              </a:rPr>
              <a:t> in an issue titled </a:t>
            </a:r>
            <a:r>
              <a:rPr b="1" lang="en" sz="2100" u="sng">
                <a:solidFill>
                  <a:schemeClr val="dk1"/>
                </a:solidFill>
                <a:latin typeface="Avenir"/>
                <a:ea typeface="Avenir"/>
                <a:cs typeface="Avenir"/>
                <a:sym typeface="Avenir"/>
              </a:rPr>
              <a:t>“Project Proposal Feedback.”</a:t>
            </a:r>
            <a:endParaRPr b="1" sz="2100" u="sng">
              <a:solidFill>
                <a:schemeClr val="dk1"/>
              </a:solidFill>
              <a:latin typeface="Avenir"/>
              <a:ea typeface="Avenir"/>
              <a:cs typeface="Avenir"/>
              <a:sym typeface="Avenir"/>
            </a:endParaRPr>
          </a:p>
          <a:p>
            <a:pPr indent="0" lvl="0" marL="0" marR="0" rtl="0" algn="l">
              <a:lnSpc>
                <a:spcPct val="100000"/>
              </a:lnSpc>
              <a:spcBef>
                <a:spcPts val="0"/>
              </a:spcBef>
              <a:spcAft>
                <a:spcPts val="0"/>
              </a:spcAft>
              <a:buNone/>
            </a:pPr>
            <a:r>
              <a:t/>
            </a:r>
            <a:endParaRPr i="1" sz="1600" u="sng">
              <a:solidFill>
                <a:schemeClr val="dk1"/>
              </a:solidFill>
            </a:endParaRPr>
          </a:p>
          <a:p>
            <a:pPr indent="0" lvl="0" marL="0" rtl="0" algn="l">
              <a:spcBef>
                <a:spcPts val="0"/>
              </a:spcBef>
              <a:spcAft>
                <a:spcPts val="1200"/>
              </a:spcAft>
              <a:buNone/>
            </a:pPr>
            <a:r>
              <a:t/>
            </a:r>
            <a:endParaRPr sz="2100">
              <a:solidFill>
                <a:schemeClr val="dk1"/>
              </a:solidFill>
              <a:latin typeface="Avenir"/>
              <a:ea typeface="Avenir"/>
              <a:cs typeface="Avenir"/>
              <a:sym typeface="Avenir"/>
            </a:endParaRPr>
          </a:p>
        </p:txBody>
      </p:sp>
      <p:pic>
        <p:nvPicPr>
          <p:cNvPr id="78" name="Google Shape;78;p19" title="Screenshot 2026-05-06 at 10.43.39.png"/>
          <p:cNvPicPr preferRelativeResize="0"/>
          <p:nvPr/>
        </p:nvPicPr>
        <p:blipFill>
          <a:blip r:embed="rId3">
            <a:alphaModFix/>
          </a:blip>
          <a:stretch>
            <a:fillRect/>
          </a:stretch>
        </p:blipFill>
        <p:spPr>
          <a:xfrm>
            <a:off x="1239838" y="2571752"/>
            <a:ext cx="6664325" cy="2359201"/>
          </a:xfrm>
          <a:prstGeom prst="rect">
            <a:avLst/>
          </a:prstGeom>
          <a:noFill/>
          <a:ln>
            <a:noFill/>
          </a:ln>
        </p:spPr>
      </p:pic>
      <p:sp>
        <p:nvSpPr>
          <p:cNvPr id="79" name="Google Shape;79;p19"/>
          <p:cNvSpPr/>
          <p:nvPr/>
        </p:nvSpPr>
        <p:spPr>
          <a:xfrm>
            <a:off x="1854050" y="4562500"/>
            <a:ext cx="6006600" cy="368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9"/>
          <p:cNvSpPr/>
          <p:nvPr/>
        </p:nvSpPr>
        <p:spPr>
          <a:xfrm>
            <a:off x="1673225" y="2801050"/>
            <a:ext cx="565200" cy="274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20"/>
          <p:cNvSpPr/>
          <p:nvPr/>
        </p:nvSpPr>
        <p:spPr>
          <a:xfrm>
            <a:off x="0" y="0"/>
            <a:ext cx="9143771" cy="96012"/>
          </a:xfrm>
          <a:prstGeom prst="rect">
            <a:avLst/>
          </a:prstGeom>
          <a:solidFill>
            <a:srgbClr val="2563EB"/>
          </a:solidFill>
          <a:ln cap="flat" cmpd="sng" w="12700">
            <a:solidFill>
              <a:srgbClr val="2563E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7" name="Google Shape;87;p20"/>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Null-hypothesis significance testing</a:t>
            </a:r>
            <a:endParaRPr b="0" i="0" sz="2300" u="none" cap="none" strike="noStrike">
              <a:solidFill>
                <a:schemeClr val="dk1"/>
              </a:solidFill>
              <a:latin typeface="Arial"/>
              <a:ea typeface="Arial"/>
              <a:cs typeface="Arial"/>
              <a:sym typeface="Arial"/>
            </a:endParaRPr>
          </a:p>
        </p:txBody>
      </p:sp>
      <p:sp>
        <p:nvSpPr>
          <p:cNvPr id="88" name="Google Shape;88;p20"/>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Focus on the logic chain, not just the final p-value.</a:t>
            </a:r>
            <a:endParaRPr b="0" i="0" sz="1000" u="none" cap="none" strike="noStrike">
              <a:solidFill>
                <a:schemeClr val="dk1"/>
              </a:solidFill>
              <a:latin typeface="Arial"/>
              <a:ea typeface="Arial"/>
              <a:cs typeface="Arial"/>
              <a:sym typeface="Arial"/>
            </a:endParaRPr>
          </a:p>
        </p:txBody>
      </p:sp>
      <p:sp>
        <p:nvSpPr>
          <p:cNvPr id="89" name="Google Shape;89;p20"/>
          <p:cNvSpPr/>
          <p:nvPr/>
        </p:nvSpPr>
        <p:spPr>
          <a:xfrm>
            <a:off x="651510" y="1371600"/>
            <a:ext cx="1062990" cy="480060"/>
          </a:xfrm>
          <a:prstGeom prst="rect">
            <a:avLst/>
          </a:prstGeom>
          <a:solidFill>
            <a:srgbClr val="F3F4F6"/>
          </a:solidFill>
          <a:ln cap="flat" cmpd="sng" w="9525">
            <a:solidFill>
              <a:srgbClr val="D1D5DB">
                <a:alpha val="65098"/>
              </a:srgbClr>
            </a:solidFill>
            <a:prstDash val="solid"/>
            <a:round/>
            <a:headEnd len="sm" w="sm" type="none"/>
            <a:tailEnd len="sm" w="sm" type="none"/>
          </a:ln>
        </p:spPr>
        <p:txBody>
          <a:bodyPr anchorCtr="0" anchor="ctr" bIns="475" lIns="475" spcFirstLastPara="1" rIns="475" wrap="square" tIns="475">
            <a:noAutofit/>
          </a:bodyPr>
          <a:lstStyle/>
          <a:p>
            <a:pPr indent="0" lvl="0" marL="0" marR="0" rtl="0" algn="ctr">
              <a:spcBef>
                <a:spcPts val="0"/>
              </a:spcBef>
              <a:spcAft>
                <a:spcPts val="0"/>
              </a:spcAft>
              <a:buClr>
                <a:srgbClr val="2563EB"/>
              </a:buClr>
              <a:buSzPts val="1800"/>
              <a:buFont typeface="Arial"/>
              <a:buNone/>
            </a:pPr>
            <a:r>
              <a:rPr b="1" i="0" lang="en" sz="1800" u="none" cap="none" strike="noStrike">
                <a:solidFill>
                  <a:srgbClr val="2563EB"/>
                </a:solidFill>
                <a:latin typeface="Arial"/>
                <a:ea typeface="Arial"/>
                <a:cs typeface="Arial"/>
                <a:sym typeface="Arial"/>
              </a:rPr>
              <a:t>H₀ / H₁</a:t>
            </a:r>
            <a:endParaRPr b="0" i="0" sz="1800" u="none" cap="none" strike="noStrike">
              <a:solidFill>
                <a:schemeClr val="dk1"/>
              </a:solidFill>
              <a:latin typeface="Arial"/>
              <a:ea typeface="Arial"/>
              <a:cs typeface="Arial"/>
              <a:sym typeface="Arial"/>
            </a:endParaRPr>
          </a:p>
        </p:txBody>
      </p:sp>
      <p:sp>
        <p:nvSpPr>
          <p:cNvPr id="90" name="Google Shape;90;p20"/>
          <p:cNvSpPr/>
          <p:nvPr/>
        </p:nvSpPr>
        <p:spPr>
          <a:xfrm>
            <a:off x="480060" y="2002536"/>
            <a:ext cx="14058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Define the comparison</a:t>
            </a:r>
            <a:endParaRPr b="0" i="0" sz="1000" u="none" cap="none" strike="noStrike">
              <a:solidFill>
                <a:schemeClr val="dk1"/>
              </a:solidFill>
              <a:latin typeface="Arial"/>
              <a:ea typeface="Arial"/>
              <a:cs typeface="Arial"/>
              <a:sym typeface="Arial"/>
            </a:endParaRPr>
          </a:p>
        </p:txBody>
      </p:sp>
      <p:sp>
        <p:nvSpPr>
          <p:cNvPr id="91" name="Google Shape;91;p20"/>
          <p:cNvSpPr/>
          <p:nvPr/>
        </p:nvSpPr>
        <p:spPr>
          <a:xfrm>
            <a:off x="2297430" y="1371600"/>
            <a:ext cx="1062990" cy="480060"/>
          </a:xfrm>
          <a:prstGeom prst="rect">
            <a:avLst/>
          </a:prstGeom>
          <a:solidFill>
            <a:srgbClr val="F3F4F6"/>
          </a:solidFill>
          <a:ln cap="flat" cmpd="sng" w="9525">
            <a:solidFill>
              <a:srgbClr val="D1D5DB">
                <a:alpha val="65098"/>
              </a:srgbClr>
            </a:solidFill>
            <a:prstDash val="solid"/>
            <a:round/>
            <a:headEnd len="sm" w="sm" type="none"/>
            <a:tailEnd len="sm" w="sm" type="none"/>
          </a:ln>
        </p:spPr>
        <p:txBody>
          <a:bodyPr anchorCtr="0" anchor="ctr" bIns="475" lIns="475" spcFirstLastPara="1" rIns="475" wrap="square" tIns="475">
            <a:noAutofit/>
          </a:bodyPr>
          <a:lstStyle/>
          <a:p>
            <a:pPr indent="0" lvl="0" marL="0" marR="0" rtl="0" algn="ctr">
              <a:spcBef>
                <a:spcPts val="0"/>
              </a:spcBef>
              <a:spcAft>
                <a:spcPts val="0"/>
              </a:spcAft>
              <a:buClr>
                <a:srgbClr val="0F766E"/>
              </a:buClr>
              <a:buSzPts val="1800"/>
              <a:buFont typeface="Arial"/>
              <a:buNone/>
            </a:pPr>
            <a:r>
              <a:rPr b="1" i="0" lang="en" sz="1800" u="none" cap="none" strike="noStrike">
                <a:solidFill>
                  <a:srgbClr val="0F766E"/>
                </a:solidFill>
                <a:latin typeface="Arial"/>
                <a:ea typeface="Arial"/>
                <a:cs typeface="Arial"/>
                <a:sym typeface="Arial"/>
              </a:rPr>
              <a:t>Statistic</a:t>
            </a:r>
            <a:endParaRPr b="0" i="0" sz="1800" u="none" cap="none" strike="noStrike">
              <a:solidFill>
                <a:schemeClr val="dk1"/>
              </a:solidFill>
              <a:latin typeface="Arial"/>
              <a:ea typeface="Arial"/>
              <a:cs typeface="Arial"/>
              <a:sym typeface="Arial"/>
            </a:endParaRPr>
          </a:p>
        </p:txBody>
      </p:sp>
      <p:sp>
        <p:nvSpPr>
          <p:cNvPr id="92" name="Google Shape;92;p20"/>
          <p:cNvSpPr/>
          <p:nvPr/>
        </p:nvSpPr>
        <p:spPr>
          <a:xfrm>
            <a:off x="2125980" y="2002536"/>
            <a:ext cx="14058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Summarize evidence</a:t>
            </a:r>
            <a:endParaRPr b="0" i="0" sz="1000" u="none" cap="none" strike="noStrike">
              <a:solidFill>
                <a:schemeClr val="dk1"/>
              </a:solidFill>
              <a:latin typeface="Arial"/>
              <a:ea typeface="Arial"/>
              <a:cs typeface="Arial"/>
              <a:sym typeface="Arial"/>
            </a:endParaRPr>
          </a:p>
        </p:txBody>
      </p:sp>
      <p:sp>
        <p:nvSpPr>
          <p:cNvPr id="93" name="Google Shape;93;p20"/>
          <p:cNvSpPr/>
          <p:nvPr/>
        </p:nvSpPr>
        <p:spPr>
          <a:xfrm>
            <a:off x="3943350" y="1371600"/>
            <a:ext cx="1062990" cy="480060"/>
          </a:xfrm>
          <a:prstGeom prst="rect">
            <a:avLst/>
          </a:prstGeom>
          <a:solidFill>
            <a:srgbClr val="F3F4F6"/>
          </a:solidFill>
          <a:ln cap="flat" cmpd="sng" w="9525">
            <a:solidFill>
              <a:srgbClr val="D1D5DB">
                <a:alpha val="65098"/>
              </a:srgbClr>
            </a:solidFill>
            <a:prstDash val="solid"/>
            <a:round/>
            <a:headEnd len="sm" w="sm" type="none"/>
            <a:tailEnd len="sm" w="sm" type="none"/>
          </a:ln>
        </p:spPr>
        <p:txBody>
          <a:bodyPr anchorCtr="0" anchor="ctr" bIns="475" lIns="475" spcFirstLastPara="1" rIns="475" wrap="square" tIns="475">
            <a:noAutofit/>
          </a:bodyPr>
          <a:lstStyle/>
          <a:p>
            <a:pPr indent="0" lvl="0" marL="0" marR="0" rtl="0" algn="ctr">
              <a:spcBef>
                <a:spcPts val="0"/>
              </a:spcBef>
              <a:spcAft>
                <a:spcPts val="0"/>
              </a:spcAft>
              <a:buClr>
                <a:srgbClr val="7C3AED"/>
              </a:buClr>
              <a:buSzPts val="1800"/>
              <a:buFont typeface="Arial"/>
              <a:buNone/>
            </a:pPr>
            <a:r>
              <a:rPr b="1" i="0" lang="en" sz="1800" u="none" cap="none" strike="noStrike">
                <a:solidFill>
                  <a:srgbClr val="7C3AED"/>
                </a:solidFill>
                <a:latin typeface="Arial"/>
                <a:ea typeface="Arial"/>
                <a:cs typeface="Arial"/>
                <a:sym typeface="Arial"/>
              </a:rPr>
              <a:t>Null model</a:t>
            </a:r>
            <a:endParaRPr b="0" i="0" sz="1800" u="none" cap="none" strike="noStrike">
              <a:solidFill>
                <a:schemeClr val="dk1"/>
              </a:solidFill>
              <a:latin typeface="Arial"/>
              <a:ea typeface="Arial"/>
              <a:cs typeface="Arial"/>
              <a:sym typeface="Arial"/>
            </a:endParaRPr>
          </a:p>
        </p:txBody>
      </p:sp>
      <p:sp>
        <p:nvSpPr>
          <p:cNvPr id="94" name="Google Shape;94;p20"/>
          <p:cNvSpPr/>
          <p:nvPr/>
        </p:nvSpPr>
        <p:spPr>
          <a:xfrm>
            <a:off x="3771900" y="2002536"/>
            <a:ext cx="14058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What would happen by chance?</a:t>
            </a:r>
            <a:endParaRPr b="0" i="0" sz="1000" u="none" cap="none" strike="noStrike">
              <a:solidFill>
                <a:schemeClr val="dk1"/>
              </a:solidFill>
              <a:latin typeface="Arial"/>
              <a:ea typeface="Arial"/>
              <a:cs typeface="Arial"/>
              <a:sym typeface="Arial"/>
            </a:endParaRPr>
          </a:p>
        </p:txBody>
      </p:sp>
      <p:sp>
        <p:nvSpPr>
          <p:cNvPr id="95" name="Google Shape;95;p20"/>
          <p:cNvSpPr/>
          <p:nvPr/>
        </p:nvSpPr>
        <p:spPr>
          <a:xfrm>
            <a:off x="5589270" y="1371600"/>
            <a:ext cx="1062990" cy="480060"/>
          </a:xfrm>
          <a:prstGeom prst="rect">
            <a:avLst/>
          </a:prstGeom>
          <a:solidFill>
            <a:srgbClr val="F3F4F6"/>
          </a:solidFill>
          <a:ln cap="flat" cmpd="sng" w="9525">
            <a:solidFill>
              <a:srgbClr val="D1D5DB">
                <a:alpha val="65098"/>
              </a:srgbClr>
            </a:solidFill>
            <a:prstDash val="solid"/>
            <a:round/>
            <a:headEnd len="sm" w="sm" type="none"/>
            <a:tailEnd len="sm" w="sm" type="none"/>
          </a:ln>
        </p:spPr>
        <p:txBody>
          <a:bodyPr anchorCtr="0" anchor="ctr" bIns="475" lIns="475" spcFirstLastPara="1" rIns="475" wrap="square" tIns="475">
            <a:noAutofit/>
          </a:bodyPr>
          <a:lstStyle/>
          <a:p>
            <a:pPr indent="0" lvl="0" marL="0" marR="0" rtl="0" algn="ctr">
              <a:spcBef>
                <a:spcPts val="0"/>
              </a:spcBef>
              <a:spcAft>
                <a:spcPts val="0"/>
              </a:spcAft>
              <a:buClr>
                <a:srgbClr val="F59E0B"/>
              </a:buClr>
              <a:buSzPts val="1800"/>
              <a:buFont typeface="Arial"/>
              <a:buNone/>
            </a:pPr>
            <a:r>
              <a:rPr b="1" i="0" lang="en" sz="1800" u="none" cap="none" strike="noStrike">
                <a:solidFill>
                  <a:srgbClr val="F59E0B"/>
                </a:solidFill>
                <a:latin typeface="Arial"/>
                <a:ea typeface="Arial"/>
                <a:cs typeface="Arial"/>
                <a:sym typeface="Arial"/>
              </a:rPr>
              <a:t>p-value</a:t>
            </a:r>
            <a:endParaRPr b="0" i="0" sz="1800" u="none" cap="none" strike="noStrike">
              <a:solidFill>
                <a:schemeClr val="dk1"/>
              </a:solidFill>
              <a:latin typeface="Arial"/>
              <a:ea typeface="Arial"/>
              <a:cs typeface="Arial"/>
              <a:sym typeface="Arial"/>
            </a:endParaRPr>
          </a:p>
        </p:txBody>
      </p:sp>
      <p:sp>
        <p:nvSpPr>
          <p:cNvPr id="96" name="Google Shape;96;p20"/>
          <p:cNvSpPr/>
          <p:nvPr/>
        </p:nvSpPr>
        <p:spPr>
          <a:xfrm>
            <a:off x="5417820" y="2002536"/>
            <a:ext cx="14058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Tail-area evidence</a:t>
            </a:r>
            <a:endParaRPr b="0" i="0" sz="1000" u="none" cap="none" strike="noStrike">
              <a:solidFill>
                <a:schemeClr val="dk1"/>
              </a:solidFill>
              <a:latin typeface="Arial"/>
              <a:ea typeface="Arial"/>
              <a:cs typeface="Arial"/>
              <a:sym typeface="Arial"/>
            </a:endParaRPr>
          </a:p>
        </p:txBody>
      </p:sp>
      <p:sp>
        <p:nvSpPr>
          <p:cNvPr id="97" name="Google Shape;97;p20"/>
          <p:cNvSpPr/>
          <p:nvPr/>
        </p:nvSpPr>
        <p:spPr>
          <a:xfrm>
            <a:off x="7235190" y="1371600"/>
            <a:ext cx="1062990" cy="480060"/>
          </a:xfrm>
          <a:prstGeom prst="rect">
            <a:avLst/>
          </a:prstGeom>
          <a:solidFill>
            <a:srgbClr val="F3F4F6"/>
          </a:solidFill>
          <a:ln cap="flat" cmpd="sng" w="9525">
            <a:solidFill>
              <a:srgbClr val="D1D5DB">
                <a:alpha val="65098"/>
              </a:srgbClr>
            </a:solidFill>
            <a:prstDash val="solid"/>
            <a:round/>
            <a:headEnd len="sm" w="sm" type="none"/>
            <a:tailEnd len="sm" w="sm" type="none"/>
          </a:ln>
        </p:spPr>
        <p:txBody>
          <a:bodyPr anchorCtr="0" anchor="ctr" bIns="475" lIns="475" spcFirstLastPara="1" rIns="475" wrap="square" tIns="475">
            <a:noAutofit/>
          </a:bodyPr>
          <a:lstStyle/>
          <a:p>
            <a:pPr indent="0" lvl="0" marL="0" marR="0" rtl="0" algn="ctr">
              <a:spcBef>
                <a:spcPts val="0"/>
              </a:spcBef>
              <a:spcAft>
                <a:spcPts val="0"/>
              </a:spcAft>
              <a:buClr>
                <a:srgbClr val="E11D48"/>
              </a:buClr>
              <a:buSzPts val="1800"/>
              <a:buFont typeface="Arial"/>
              <a:buNone/>
            </a:pPr>
            <a:r>
              <a:rPr b="1" i="0" lang="en" sz="1800" u="none" cap="none" strike="noStrike">
                <a:solidFill>
                  <a:srgbClr val="E11D48"/>
                </a:solidFill>
                <a:latin typeface="Arial"/>
                <a:ea typeface="Arial"/>
                <a:cs typeface="Arial"/>
                <a:sym typeface="Arial"/>
              </a:rPr>
              <a:t>Decision</a:t>
            </a:r>
            <a:endParaRPr b="0" i="0" sz="1800" u="none" cap="none" strike="noStrike">
              <a:solidFill>
                <a:schemeClr val="dk1"/>
              </a:solidFill>
              <a:latin typeface="Arial"/>
              <a:ea typeface="Arial"/>
              <a:cs typeface="Arial"/>
              <a:sym typeface="Arial"/>
            </a:endParaRPr>
          </a:p>
        </p:txBody>
      </p:sp>
      <p:sp>
        <p:nvSpPr>
          <p:cNvPr id="98" name="Google Shape;98;p20"/>
          <p:cNvSpPr/>
          <p:nvPr/>
        </p:nvSpPr>
        <p:spPr>
          <a:xfrm>
            <a:off x="7063740" y="2002536"/>
            <a:ext cx="14058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Report + interpret</a:t>
            </a:r>
            <a:endParaRPr b="0" i="0" sz="1000" u="none" cap="none" strike="noStrike">
              <a:solidFill>
                <a:schemeClr val="dk1"/>
              </a:solidFill>
              <a:latin typeface="Arial"/>
              <a:ea typeface="Arial"/>
              <a:cs typeface="Arial"/>
              <a:sym typeface="Arial"/>
            </a:endParaRPr>
          </a:p>
        </p:txBody>
      </p:sp>
      <p:cxnSp>
        <p:nvCxnSpPr>
          <p:cNvPr id="99" name="Google Shape;99;p20"/>
          <p:cNvCxnSpPr/>
          <p:nvPr/>
        </p:nvCxnSpPr>
        <p:spPr>
          <a:xfrm>
            <a:off x="1769364" y="1611630"/>
            <a:ext cx="377190" cy="0"/>
          </a:xfrm>
          <a:prstGeom prst="straightConnector1">
            <a:avLst/>
          </a:prstGeom>
          <a:noFill/>
          <a:ln cap="flat" cmpd="sng" w="15225">
            <a:solidFill>
              <a:srgbClr val="6B7280"/>
            </a:solidFill>
            <a:prstDash val="solid"/>
            <a:round/>
            <a:headEnd len="sm" w="sm" type="none"/>
            <a:tailEnd len="med" w="med" type="triangle"/>
          </a:ln>
        </p:spPr>
      </p:cxnSp>
      <p:cxnSp>
        <p:nvCxnSpPr>
          <p:cNvPr id="100" name="Google Shape;100;p20"/>
          <p:cNvCxnSpPr/>
          <p:nvPr/>
        </p:nvCxnSpPr>
        <p:spPr>
          <a:xfrm>
            <a:off x="3415284" y="1611630"/>
            <a:ext cx="377190" cy="0"/>
          </a:xfrm>
          <a:prstGeom prst="straightConnector1">
            <a:avLst/>
          </a:prstGeom>
          <a:noFill/>
          <a:ln cap="flat" cmpd="sng" w="15225">
            <a:solidFill>
              <a:srgbClr val="6B7280"/>
            </a:solidFill>
            <a:prstDash val="solid"/>
            <a:round/>
            <a:headEnd len="sm" w="sm" type="none"/>
            <a:tailEnd len="med" w="med" type="triangle"/>
          </a:ln>
        </p:spPr>
      </p:cxnSp>
      <p:cxnSp>
        <p:nvCxnSpPr>
          <p:cNvPr id="101" name="Google Shape;101;p20"/>
          <p:cNvCxnSpPr/>
          <p:nvPr/>
        </p:nvCxnSpPr>
        <p:spPr>
          <a:xfrm>
            <a:off x="5061204" y="1611630"/>
            <a:ext cx="377190" cy="0"/>
          </a:xfrm>
          <a:prstGeom prst="straightConnector1">
            <a:avLst/>
          </a:prstGeom>
          <a:noFill/>
          <a:ln cap="flat" cmpd="sng" w="15225">
            <a:solidFill>
              <a:srgbClr val="6B7280"/>
            </a:solidFill>
            <a:prstDash val="solid"/>
            <a:round/>
            <a:headEnd len="sm" w="sm" type="none"/>
            <a:tailEnd len="med" w="med" type="triangle"/>
          </a:ln>
        </p:spPr>
      </p:cxnSp>
      <p:cxnSp>
        <p:nvCxnSpPr>
          <p:cNvPr id="102" name="Google Shape;102;p20"/>
          <p:cNvCxnSpPr/>
          <p:nvPr/>
        </p:nvCxnSpPr>
        <p:spPr>
          <a:xfrm>
            <a:off x="6707124" y="1611630"/>
            <a:ext cx="377190" cy="0"/>
          </a:xfrm>
          <a:prstGeom prst="straightConnector1">
            <a:avLst/>
          </a:prstGeom>
          <a:noFill/>
          <a:ln cap="flat" cmpd="sng" w="15225">
            <a:solidFill>
              <a:srgbClr val="6B7280"/>
            </a:solidFill>
            <a:prstDash val="solid"/>
            <a:round/>
            <a:headEnd len="sm" w="sm" type="none"/>
            <a:tailEnd len="med" w="med" type="triangle"/>
          </a:ln>
        </p:spPr>
      </p:cxnSp>
      <p:sp>
        <p:nvSpPr>
          <p:cNvPr id="103" name="Google Shape;103;p20"/>
          <p:cNvSpPr/>
          <p:nvPr/>
        </p:nvSpPr>
        <p:spPr>
          <a:xfrm>
            <a:off x="685800" y="3072384"/>
            <a:ext cx="61800" cy="788700"/>
          </a:xfrm>
          <a:prstGeom prst="rect">
            <a:avLst/>
          </a:prstGeom>
          <a:solidFill>
            <a:srgbClr val="0F766E"/>
          </a:solidFill>
          <a:ln cap="flat" cmpd="sng" w="12700">
            <a:solidFill>
              <a:srgbClr val="0F766E">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20"/>
          <p:cNvSpPr/>
          <p:nvPr/>
        </p:nvSpPr>
        <p:spPr>
          <a:xfrm>
            <a:off x="857244" y="3072384"/>
            <a:ext cx="1062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800"/>
              <a:buFont typeface="Arial"/>
              <a:buNone/>
            </a:pPr>
            <a:r>
              <a:rPr b="1" lang="en" sz="1700">
                <a:solidFill>
                  <a:srgbClr val="0F766E"/>
                </a:solidFill>
              </a:rPr>
              <a:t>Reminder</a:t>
            </a:r>
            <a:endParaRPr b="0" i="0" sz="1700" u="none" cap="none" strike="noStrike">
              <a:solidFill>
                <a:schemeClr val="dk1"/>
              </a:solidFill>
              <a:latin typeface="Arial"/>
              <a:ea typeface="Arial"/>
              <a:cs typeface="Arial"/>
              <a:sym typeface="Arial"/>
            </a:endParaRPr>
          </a:p>
        </p:txBody>
      </p:sp>
      <p:sp>
        <p:nvSpPr>
          <p:cNvPr id="105" name="Google Shape;105;p20"/>
          <p:cNvSpPr/>
          <p:nvPr/>
        </p:nvSpPr>
        <p:spPr>
          <a:xfrm>
            <a:off x="857250" y="3332988"/>
            <a:ext cx="73725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Arial"/>
              <a:buNone/>
            </a:pPr>
            <a:r>
              <a:rPr b="0" i="0" lang="en" sz="1500" u="none" cap="none" strike="noStrike">
                <a:solidFill>
                  <a:srgbClr val="374151"/>
                </a:solidFill>
                <a:latin typeface="Arial"/>
                <a:ea typeface="Arial"/>
                <a:cs typeface="Arial"/>
                <a:sym typeface="Arial"/>
              </a:rPr>
              <a:t>For any scenario, try to state the null hypothesis, what statistic would be computed, what “more extreme” means, and what conclusion would be justified.</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21"/>
          <p:cNvSpPr/>
          <p:nvPr/>
        </p:nvSpPr>
        <p:spPr>
          <a:xfrm>
            <a:off x="0" y="0"/>
            <a:ext cx="9143771" cy="96012"/>
          </a:xfrm>
          <a:prstGeom prst="rect">
            <a:avLst/>
          </a:prstGeom>
          <a:solidFill>
            <a:srgbClr val="2563EB"/>
          </a:solidFill>
          <a:ln cap="flat" cmpd="sng" w="12700">
            <a:solidFill>
              <a:srgbClr val="2563E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21"/>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p-values, α, and practical importance</a:t>
            </a:r>
            <a:endParaRPr b="0" i="0" sz="2300" u="none" cap="none" strike="noStrike">
              <a:solidFill>
                <a:schemeClr val="dk1"/>
              </a:solidFill>
              <a:latin typeface="Arial"/>
              <a:ea typeface="Arial"/>
              <a:cs typeface="Arial"/>
              <a:sym typeface="Arial"/>
            </a:endParaRPr>
          </a:p>
        </p:txBody>
      </p:sp>
      <p:sp>
        <p:nvSpPr>
          <p:cNvPr id="113" name="Google Shape;113;p21"/>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Significance and importance answer different questions.</a:t>
            </a:r>
            <a:endParaRPr b="0" i="0" sz="1000" u="none" cap="none" strike="noStrike">
              <a:solidFill>
                <a:schemeClr val="dk1"/>
              </a:solidFill>
              <a:latin typeface="Arial"/>
              <a:ea typeface="Arial"/>
              <a:cs typeface="Arial"/>
              <a:sym typeface="Arial"/>
            </a:endParaRPr>
          </a:p>
        </p:txBody>
      </p:sp>
      <p:sp>
        <p:nvSpPr>
          <p:cNvPr id="114" name="Google Shape;114;p21"/>
          <p:cNvSpPr/>
          <p:nvPr/>
        </p:nvSpPr>
        <p:spPr>
          <a:xfrm>
            <a:off x="617220" y="1062990"/>
            <a:ext cx="3909060" cy="562356"/>
          </a:xfrm>
          <a:prstGeom prst="rect">
            <a:avLst/>
          </a:prstGeom>
          <a:solidFill>
            <a:srgbClr val="F3F4F6"/>
          </a:solidFill>
          <a:ln cap="flat" cmpd="sng" w="9525">
            <a:solidFill>
              <a:srgbClr val="D1D5DB">
                <a:alpha val="70196"/>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2563EB"/>
              </a:buClr>
              <a:buSzPts val="2300"/>
              <a:buFont typeface="Play"/>
              <a:buNone/>
            </a:pPr>
            <a:r>
              <a:rPr b="1" i="0" lang="en" sz="2300" u="none" cap="none" strike="noStrike">
                <a:solidFill>
                  <a:srgbClr val="2563EB"/>
                </a:solidFill>
                <a:latin typeface="Play"/>
                <a:ea typeface="Play"/>
                <a:cs typeface="Play"/>
                <a:sym typeface="Play"/>
              </a:rPr>
              <a:t>statistical evidence ≠ effect magnitude</a:t>
            </a:r>
            <a:endParaRPr b="0" i="0" sz="2300" u="none" cap="none" strike="noStrike">
              <a:solidFill>
                <a:schemeClr val="dk1"/>
              </a:solidFill>
              <a:latin typeface="Arial"/>
              <a:ea typeface="Arial"/>
              <a:cs typeface="Arial"/>
              <a:sym typeface="Arial"/>
            </a:endParaRPr>
          </a:p>
        </p:txBody>
      </p:sp>
      <p:sp>
        <p:nvSpPr>
          <p:cNvPr id="115" name="Google Shape;115;p21"/>
          <p:cNvSpPr/>
          <p:nvPr/>
        </p:nvSpPr>
        <p:spPr>
          <a:xfrm>
            <a:off x="4697730" y="1062990"/>
            <a:ext cx="3806190" cy="562356"/>
          </a:xfrm>
          <a:prstGeom prst="rect">
            <a:avLst/>
          </a:prstGeom>
          <a:solidFill>
            <a:srgbClr val="F3F4F6"/>
          </a:solidFill>
          <a:ln cap="flat" cmpd="sng" w="9525">
            <a:solidFill>
              <a:srgbClr val="D1D5DB">
                <a:alpha val="70196"/>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0F766E"/>
              </a:buClr>
              <a:buSzPts val="2300"/>
              <a:buFont typeface="Play"/>
              <a:buNone/>
            </a:pPr>
            <a:r>
              <a:rPr b="1" i="0" lang="en" sz="2300" u="none" cap="none" strike="noStrike">
                <a:solidFill>
                  <a:srgbClr val="0F766E"/>
                </a:solidFill>
                <a:latin typeface="Play"/>
                <a:ea typeface="Play"/>
                <a:cs typeface="Play"/>
                <a:sym typeface="Play"/>
              </a:rPr>
              <a:t>effect size + uncertainty = interpretation</a:t>
            </a:r>
            <a:endParaRPr b="0" i="0" sz="2300" u="none" cap="none" strike="noStrike">
              <a:solidFill>
                <a:schemeClr val="dk1"/>
              </a:solidFill>
              <a:latin typeface="Arial"/>
              <a:ea typeface="Arial"/>
              <a:cs typeface="Arial"/>
              <a:sym typeface="Arial"/>
            </a:endParaRPr>
          </a:p>
        </p:txBody>
      </p:sp>
      <p:sp>
        <p:nvSpPr>
          <p:cNvPr id="116" name="Google Shape;116;p21"/>
          <p:cNvSpPr/>
          <p:nvPr/>
        </p:nvSpPr>
        <p:spPr>
          <a:xfrm>
            <a:off x="723515" y="1978525"/>
            <a:ext cx="2229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i="0" lang="en" sz="1800" u="none" cap="none" strike="noStrike">
                <a:solidFill>
                  <a:srgbClr val="2563EB"/>
                </a:solidFill>
                <a:latin typeface="Arial"/>
                <a:ea typeface="Arial"/>
                <a:cs typeface="Arial"/>
                <a:sym typeface="Arial"/>
              </a:rPr>
              <a:t>p-value thinking</a:t>
            </a:r>
            <a:endParaRPr b="0" i="0" sz="1800" u="none" cap="none" strike="noStrike">
              <a:solidFill>
                <a:schemeClr val="dk1"/>
              </a:solidFill>
              <a:latin typeface="Arial"/>
              <a:ea typeface="Arial"/>
              <a:cs typeface="Arial"/>
              <a:sym typeface="Arial"/>
            </a:endParaRPr>
          </a:p>
        </p:txBody>
      </p:sp>
      <p:sp>
        <p:nvSpPr>
          <p:cNvPr id="117" name="Google Shape;117;p21"/>
          <p:cNvSpPr/>
          <p:nvPr/>
        </p:nvSpPr>
        <p:spPr>
          <a:xfrm>
            <a:off x="720100" y="2386573"/>
            <a:ext cx="2229000" cy="131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700" u="none" cap="none" strike="noStrike">
                <a:solidFill>
                  <a:srgbClr val="374151"/>
                </a:solidFill>
                <a:latin typeface="Arial"/>
                <a:ea typeface="Arial"/>
                <a:cs typeface="Arial"/>
                <a:sym typeface="Arial"/>
              </a:rPr>
              <a:t>Ask: “How surprising would this statistic be if the null model were true?” Keep the conditioning clear.</a:t>
            </a:r>
            <a:endParaRPr b="0" i="0" sz="1700" u="none" cap="none" strike="noStrike">
              <a:solidFill>
                <a:schemeClr val="dk1"/>
              </a:solidFill>
              <a:latin typeface="Arial"/>
              <a:ea typeface="Arial"/>
              <a:cs typeface="Arial"/>
              <a:sym typeface="Arial"/>
            </a:endParaRPr>
          </a:p>
        </p:txBody>
      </p:sp>
      <p:sp>
        <p:nvSpPr>
          <p:cNvPr id="118" name="Google Shape;118;p21"/>
          <p:cNvSpPr/>
          <p:nvPr/>
        </p:nvSpPr>
        <p:spPr>
          <a:xfrm>
            <a:off x="3466715" y="1978525"/>
            <a:ext cx="2229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i="0" lang="en" sz="1800" u="none" cap="none" strike="noStrike">
                <a:solidFill>
                  <a:srgbClr val="0F766E"/>
                </a:solidFill>
                <a:latin typeface="Arial"/>
                <a:ea typeface="Arial"/>
                <a:cs typeface="Arial"/>
                <a:sym typeface="Arial"/>
              </a:rPr>
              <a:t>Effect-size thinking</a:t>
            </a:r>
            <a:endParaRPr b="0" i="0" sz="1800" u="none" cap="none" strike="noStrike">
              <a:solidFill>
                <a:schemeClr val="dk1"/>
              </a:solidFill>
              <a:latin typeface="Arial"/>
              <a:ea typeface="Arial"/>
              <a:cs typeface="Arial"/>
              <a:sym typeface="Arial"/>
            </a:endParaRPr>
          </a:p>
        </p:txBody>
      </p:sp>
      <p:sp>
        <p:nvSpPr>
          <p:cNvPr id="119" name="Google Shape;119;p21"/>
          <p:cNvSpPr/>
          <p:nvPr/>
        </p:nvSpPr>
        <p:spPr>
          <a:xfrm>
            <a:off x="3463290" y="2386584"/>
            <a:ext cx="222900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700" u="none" cap="none" strike="noStrike">
                <a:solidFill>
                  <a:srgbClr val="374151"/>
                </a:solidFill>
                <a:latin typeface="Arial"/>
                <a:ea typeface="Arial"/>
                <a:cs typeface="Arial"/>
                <a:sym typeface="Arial"/>
              </a:rPr>
              <a:t>Ask: “How large is the estimated difference or relationship in the units of the problem?”</a:t>
            </a:r>
            <a:endParaRPr b="0" i="0" sz="1700" u="none" cap="none" strike="noStrike">
              <a:solidFill>
                <a:schemeClr val="dk1"/>
              </a:solidFill>
              <a:latin typeface="Arial"/>
              <a:ea typeface="Arial"/>
              <a:cs typeface="Arial"/>
              <a:sym typeface="Arial"/>
            </a:endParaRPr>
          </a:p>
        </p:txBody>
      </p:sp>
      <p:sp>
        <p:nvSpPr>
          <p:cNvPr id="120" name="Google Shape;120;p21"/>
          <p:cNvSpPr/>
          <p:nvPr/>
        </p:nvSpPr>
        <p:spPr>
          <a:xfrm>
            <a:off x="6038476" y="1978525"/>
            <a:ext cx="24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800" u="none" cap="none" strike="noStrike">
                <a:solidFill>
                  <a:srgbClr val="7C3AED"/>
                </a:solidFill>
                <a:latin typeface="Arial"/>
                <a:ea typeface="Arial"/>
                <a:cs typeface="Arial"/>
                <a:sym typeface="Arial"/>
              </a:rPr>
              <a:t>Uncertainty thinking</a:t>
            </a:r>
            <a:endParaRPr b="0" i="0" sz="1800" u="none" cap="none" strike="noStrike">
              <a:solidFill>
                <a:schemeClr val="dk1"/>
              </a:solidFill>
              <a:latin typeface="Arial"/>
              <a:ea typeface="Arial"/>
              <a:cs typeface="Arial"/>
              <a:sym typeface="Arial"/>
            </a:endParaRPr>
          </a:p>
        </p:txBody>
      </p:sp>
      <p:sp>
        <p:nvSpPr>
          <p:cNvPr id="121" name="Google Shape;121;p21"/>
          <p:cNvSpPr/>
          <p:nvPr/>
        </p:nvSpPr>
        <p:spPr>
          <a:xfrm>
            <a:off x="6035050" y="2386572"/>
            <a:ext cx="2194500" cy="131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700" u="none" cap="none" strike="noStrike">
                <a:solidFill>
                  <a:srgbClr val="374151"/>
                </a:solidFill>
                <a:latin typeface="Arial"/>
                <a:ea typeface="Arial"/>
                <a:cs typeface="Arial"/>
                <a:sym typeface="Arial"/>
              </a:rPr>
              <a:t>Ask: “How much sampling variability is around the estimate?” Use intervals and standard errors as context.</a:t>
            </a:r>
            <a:endParaRPr b="0" i="0" sz="1700" u="none" cap="none" strike="noStrike">
              <a:solidFill>
                <a:schemeClr val="dk1"/>
              </a:solidFill>
              <a:latin typeface="Arial"/>
              <a:ea typeface="Arial"/>
              <a:cs typeface="Arial"/>
              <a:sym typeface="Arial"/>
            </a:endParaRPr>
          </a:p>
        </p:txBody>
      </p:sp>
      <p:sp>
        <p:nvSpPr>
          <p:cNvPr id="122" name="Google Shape;122;p21"/>
          <p:cNvSpPr/>
          <p:nvPr/>
        </p:nvSpPr>
        <p:spPr>
          <a:xfrm>
            <a:off x="685800" y="3986101"/>
            <a:ext cx="61800" cy="548700"/>
          </a:xfrm>
          <a:prstGeom prst="rect">
            <a:avLst/>
          </a:prstGeom>
          <a:solidFill>
            <a:srgbClr val="F59E0B"/>
          </a:solidFill>
          <a:ln cap="flat" cmpd="sng" w="12700">
            <a:solidFill>
              <a:srgbClr val="F59E0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21"/>
          <p:cNvSpPr/>
          <p:nvPr/>
        </p:nvSpPr>
        <p:spPr>
          <a:xfrm>
            <a:off x="857244" y="3986101"/>
            <a:ext cx="1062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800"/>
              <a:buFont typeface="Arial"/>
              <a:buNone/>
            </a:pPr>
            <a:r>
              <a:rPr b="1" lang="en" sz="1600">
                <a:solidFill>
                  <a:srgbClr val="F59E0B"/>
                </a:solidFill>
              </a:rPr>
              <a:t>Reminder</a:t>
            </a:r>
            <a:endParaRPr b="0" i="0" sz="1600" u="none" cap="none" strike="noStrike">
              <a:solidFill>
                <a:schemeClr val="dk1"/>
              </a:solidFill>
              <a:latin typeface="Arial"/>
              <a:ea typeface="Arial"/>
              <a:cs typeface="Arial"/>
              <a:sym typeface="Arial"/>
            </a:endParaRPr>
          </a:p>
        </p:txBody>
      </p:sp>
      <p:sp>
        <p:nvSpPr>
          <p:cNvPr id="124" name="Google Shape;124;p21"/>
          <p:cNvSpPr/>
          <p:nvPr/>
        </p:nvSpPr>
        <p:spPr>
          <a:xfrm>
            <a:off x="857250" y="4212431"/>
            <a:ext cx="7269600" cy="46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500" u="none" cap="none" strike="noStrike">
                <a:solidFill>
                  <a:srgbClr val="374151"/>
                </a:solidFill>
                <a:latin typeface="Arial"/>
                <a:ea typeface="Arial"/>
                <a:cs typeface="Arial"/>
                <a:sym typeface="Arial"/>
              </a:rPr>
              <a:t>Practice explaining a result using all three lenses without making causal claims that the design cannot support.</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2"/>
          <p:cNvSpPr/>
          <p:nvPr/>
        </p:nvSpPr>
        <p:spPr>
          <a:xfrm>
            <a:off x="0" y="0"/>
            <a:ext cx="9143700" cy="96000"/>
          </a:xfrm>
          <a:prstGeom prst="rect">
            <a:avLst/>
          </a:prstGeom>
          <a:solidFill>
            <a:srgbClr val="2563EB"/>
          </a:solidFill>
          <a:ln cap="flat" cmpd="sng" w="12700">
            <a:solidFill>
              <a:srgbClr val="2563E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1" name="Google Shape;131;p22"/>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p-values, α, and practical importance</a:t>
            </a:r>
            <a:endParaRPr b="0" i="0" sz="2300" u="none" cap="none" strike="noStrike">
              <a:solidFill>
                <a:schemeClr val="dk1"/>
              </a:solidFill>
              <a:latin typeface="Arial"/>
              <a:ea typeface="Arial"/>
              <a:cs typeface="Arial"/>
              <a:sym typeface="Arial"/>
            </a:endParaRPr>
          </a:p>
        </p:txBody>
      </p:sp>
      <p:sp>
        <p:nvSpPr>
          <p:cNvPr id="132" name="Google Shape;132;p22"/>
          <p:cNvSpPr/>
          <p:nvPr/>
        </p:nvSpPr>
        <p:spPr>
          <a:xfrm>
            <a:off x="466344" y="713232"/>
            <a:ext cx="80238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Significance and importance answer different questions.</a:t>
            </a:r>
            <a:endParaRPr b="0" i="0" sz="1000" u="none" cap="none" strike="noStrike">
              <a:solidFill>
                <a:schemeClr val="dk1"/>
              </a:solidFill>
              <a:latin typeface="Arial"/>
              <a:ea typeface="Arial"/>
              <a:cs typeface="Arial"/>
              <a:sym typeface="Arial"/>
            </a:endParaRPr>
          </a:p>
        </p:txBody>
      </p:sp>
      <p:sp>
        <p:nvSpPr>
          <p:cNvPr id="133" name="Google Shape;133;p22"/>
          <p:cNvSpPr/>
          <p:nvPr/>
        </p:nvSpPr>
        <p:spPr>
          <a:xfrm>
            <a:off x="599827" y="1372850"/>
            <a:ext cx="2752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lang="en" sz="2200">
                <a:solidFill>
                  <a:srgbClr val="2563EB"/>
                </a:solidFill>
              </a:rPr>
              <a:t>Confidence Interval</a:t>
            </a:r>
            <a:endParaRPr b="0" i="0" sz="2200" u="none" cap="none" strike="noStrike">
              <a:solidFill>
                <a:schemeClr val="dk1"/>
              </a:solidFill>
              <a:latin typeface="Arial"/>
              <a:ea typeface="Arial"/>
              <a:cs typeface="Arial"/>
              <a:sym typeface="Arial"/>
            </a:endParaRPr>
          </a:p>
        </p:txBody>
      </p:sp>
      <p:sp>
        <p:nvSpPr>
          <p:cNvPr id="134" name="Google Shape;134;p22"/>
          <p:cNvSpPr/>
          <p:nvPr/>
        </p:nvSpPr>
        <p:spPr>
          <a:xfrm>
            <a:off x="596400" y="1780900"/>
            <a:ext cx="2657100" cy="264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100"/>
              <a:buFont typeface="Arial"/>
              <a:buNone/>
            </a:pPr>
            <a:r>
              <a:rPr lang="en" sz="2100">
                <a:solidFill>
                  <a:srgbClr val="374151"/>
                </a:solidFill>
              </a:rPr>
              <a:t>CI = 1-α</a:t>
            </a:r>
            <a:endParaRPr sz="2100">
              <a:solidFill>
                <a:srgbClr val="374151"/>
              </a:solidFill>
            </a:endParaRPr>
          </a:p>
          <a:p>
            <a:pPr indent="0" lvl="0" marL="0" marR="0" rtl="0" algn="l">
              <a:spcBef>
                <a:spcPts val="0"/>
              </a:spcBef>
              <a:spcAft>
                <a:spcPts val="0"/>
              </a:spcAft>
              <a:buClr>
                <a:srgbClr val="374151"/>
              </a:buClr>
              <a:buSzPts val="1100"/>
              <a:buFont typeface="Arial"/>
              <a:buNone/>
            </a:pPr>
            <a:r>
              <a:rPr lang="en" sz="2100">
                <a:solidFill>
                  <a:srgbClr val="374151"/>
                </a:solidFill>
              </a:rPr>
              <a:t>The percentage of times that a computed interval is expected to contain the true population parameter if sampling is repeated</a:t>
            </a:r>
            <a:endParaRPr sz="2100">
              <a:solidFill>
                <a:srgbClr val="374151"/>
              </a:solidFill>
            </a:endParaRPr>
          </a:p>
          <a:p>
            <a:pPr indent="0" lvl="0" marL="0" marR="0" rtl="0" algn="l">
              <a:spcBef>
                <a:spcPts val="0"/>
              </a:spcBef>
              <a:spcAft>
                <a:spcPts val="0"/>
              </a:spcAft>
              <a:buClr>
                <a:srgbClr val="374151"/>
              </a:buClr>
              <a:buSzPts val="1100"/>
              <a:buFont typeface="Arial"/>
              <a:buNone/>
            </a:pPr>
            <a:r>
              <a:t/>
            </a:r>
            <a:endParaRPr sz="2100">
              <a:solidFill>
                <a:srgbClr val="374151"/>
              </a:solidFill>
            </a:endParaRPr>
          </a:p>
        </p:txBody>
      </p:sp>
      <p:sp>
        <p:nvSpPr>
          <p:cNvPr id="135" name="Google Shape;135;p22"/>
          <p:cNvSpPr/>
          <p:nvPr/>
        </p:nvSpPr>
        <p:spPr>
          <a:xfrm>
            <a:off x="3466790" y="1372850"/>
            <a:ext cx="2229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lang="en" sz="2200">
                <a:solidFill>
                  <a:srgbClr val="0F766E"/>
                </a:solidFill>
              </a:rPr>
              <a:t>α</a:t>
            </a:r>
            <a:endParaRPr b="0" i="0" sz="2200" u="none" cap="none" strike="noStrike">
              <a:solidFill>
                <a:schemeClr val="dk1"/>
              </a:solidFill>
              <a:latin typeface="Arial"/>
              <a:ea typeface="Arial"/>
              <a:cs typeface="Arial"/>
              <a:sym typeface="Arial"/>
            </a:endParaRPr>
          </a:p>
        </p:txBody>
      </p:sp>
      <p:sp>
        <p:nvSpPr>
          <p:cNvPr id="136" name="Google Shape;136;p22"/>
          <p:cNvSpPr/>
          <p:nvPr/>
        </p:nvSpPr>
        <p:spPr>
          <a:xfrm>
            <a:off x="3463375" y="1780900"/>
            <a:ext cx="2152800"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100"/>
              <a:buFont typeface="Arial"/>
              <a:buNone/>
            </a:pPr>
            <a:r>
              <a:rPr lang="en" sz="2100">
                <a:solidFill>
                  <a:srgbClr val="374151"/>
                </a:solidFill>
              </a:rPr>
              <a:t>The probability of being wrong for a confidence level</a:t>
            </a:r>
            <a:endParaRPr b="0" i="0" sz="2100" u="none" cap="none" strike="noStrike">
              <a:solidFill>
                <a:schemeClr val="dk1"/>
              </a:solidFill>
              <a:latin typeface="Arial"/>
              <a:ea typeface="Arial"/>
              <a:cs typeface="Arial"/>
              <a:sym typeface="Arial"/>
            </a:endParaRPr>
          </a:p>
        </p:txBody>
      </p:sp>
      <p:sp>
        <p:nvSpPr>
          <p:cNvPr id="137" name="Google Shape;137;p22"/>
          <p:cNvSpPr/>
          <p:nvPr/>
        </p:nvSpPr>
        <p:spPr>
          <a:xfrm>
            <a:off x="5829626" y="1372850"/>
            <a:ext cx="24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lang="en" sz="2200">
                <a:solidFill>
                  <a:srgbClr val="7C3AED"/>
                </a:solidFill>
              </a:rPr>
              <a:t>Interpretation</a:t>
            </a:r>
            <a:endParaRPr b="0" i="0" sz="2200" u="none" cap="none" strike="noStrike">
              <a:solidFill>
                <a:schemeClr val="dk1"/>
              </a:solidFill>
              <a:latin typeface="Arial"/>
              <a:ea typeface="Arial"/>
              <a:cs typeface="Arial"/>
              <a:sym typeface="Arial"/>
            </a:endParaRPr>
          </a:p>
        </p:txBody>
      </p:sp>
      <p:sp>
        <p:nvSpPr>
          <p:cNvPr id="138" name="Google Shape;138;p22"/>
          <p:cNvSpPr/>
          <p:nvPr/>
        </p:nvSpPr>
        <p:spPr>
          <a:xfrm>
            <a:off x="5829625" y="1780900"/>
            <a:ext cx="2657100" cy="310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100"/>
              <a:buFont typeface="Arial"/>
              <a:buNone/>
            </a:pPr>
            <a:r>
              <a:rPr lang="en" sz="2100">
                <a:solidFill>
                  <a:srgbClr val="374151"/>
                </a:solidFill>
              </a:rPr>
              <a:t>A 95% confidence interval implies that if we take 100 samples and compute 100 intervals, we expect roughly 95 of them to contain the true population mean</a:t>
            </a:r>
            <a:endParaRPr b="0" i="0" sz="21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3"/>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23"/>
          <p:cNvSpPr/>
          <p:nvPr/>
        </p:nvSpPr>
        <p:spPr>
          <a:xfrm>
            <a:off x="0" y="0"/>
            <a:ext cx="9143771" cy="96012"/>
          </a:xfrm>
          <a:prstGeom prst="rect">
            <a:avLst/>
          </a:prstGeom>
          <a:solidFill>
            <a:srgbClr val="7C3AED"/>
          </a:solidFill>
          <a:ln cap="flat" cmpd="sng" w="12700">
            <a:solidFill>
              <a:srgbClr val="7C3AED">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23"/>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Choosing a two-group comparison</a:t>
            </a:r>
            <a:endParaRPr b="0" i="0" sz="2300" u="none" cap="none" strike="noStrike">
              <a:solidFill>
                <a:schemeClr val="dk1"/>
              </a:solidFill>
              <a:latin typeface="Arial"/>
              <a:ea typeface="Arial"/>
              <a:cs typeface="Arial"/>
              <a:sym typeface="Arial"/>
            </a:endParaRPr>
          </a:p>
        </p:txBody>
      </p:sp>
      <p:sp>
        <p:nvSpPr>
          <p:cNvPr id="147" name="Google Shape;147;p23"/>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Start from the data structure before naming a test.</a:t>
            </a:r>
            <a:endParaRPr b="0" i="0" sz="1000" u="none" cap="none" strike="noStrike">
              <a:solidFill>
                <a:schemeClr val="dk1"/>
              </a:solidFill>
              <a:latin typeface="Arial"/>
              <a:ea typeface="Arial"/>
              <a:cs typeface="Arial"/>
              <a:sym typeface="Arial"/>
            </a:endParaRPr>
          </a:p>
        </p:txBody>
      </p:sp>
      <p:sp>
        <p:nvSpPr>
          <p:cNvPr id="148" name="Google Shape;148;p23"/>
          <p:cNvSpPr/>
          <p:nvPr/>
        </p:nvSpPr>
        <p:spPr>
          <a:xfrm>
            <a:off x="685800" y="1131570"/>
            <a:ext cx="18859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Outcome type</a:t>
            </a:r>
            <a:endParaRPr b="0" i="0" sz="1200" u="none" cap="none" strike="noStrike">
              <a:solidFill>
                <a:schemeClr val="dk1"/>
              </a:solidFill>
              <a:latin typeface="Arial"/>
              <a:ea typeface="Arial"/>
              <a:cs typeface="Arial"/>
              <a:sym typeface="Arial"/>
            </a:endParaRPr>
          </a:p>
        </p:txBody>
      </p:sp>
      <p:sp>
        <p:nvSpPr>
          <p:cNvPr id="149" name="Google Shape;149;p23"/>
          <p:cNvSpPr/>
          <p:nvPr/>
        </p:nvSpPr>
        <p:spPr>
          <a:xfrm>
            <a:off x="2743200" y="1131570"/>
            <a:ext cx="53492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continuous • ordinal/rankable • categorical</a:t>
            </a:r>
            <a:endParaRPr b="0" i="0" sz="1200" u="none" cap="none" strike="noStrike">
              <a:solidFill>
                <a:schemeClr val="dk1"/>
              </a:solidFill>
              <a:latin typeface="Arial"/>
              <a:ea typeface="Arial"/>
              <a:cs typeface="Arial"/>
              <a:sym typeface="Arial"/>
            </a:endParaRPr>
          </a:p>
        </p:txBody>
      </p:sp>
      <p:cxnSp>
        <p:nvCxnSpPr>
          <p:cNvPr id="150" name="Google Shape;150;p23"/>
          <p:cNvCxnSpPr/>
          <p:nvPr/>
        </p:nvCxnSpPr>
        <p:spPr>
          <a:xfrm>
            <a:off x="685800" y="1488186"/>
            <a:ext cx="7406640" cy="0"/>
          </a:xfrm>
          <a:prstGeom prst="straightConnector1">
            <a:avLst/>
          </a:prstGeom>
          <a:noFill/>
          <a:ln cap="flat" cmpd="sng" w="9525">
            <a:solidFill>
              <a:srgbClr val="D1D5DB">
                <a:alpha val="85098"/>
              </a:srgbClr>
            </a:solidFill>
            <a:prstDash val="solid"/>
            <a:round/>
            <a:headEnd len="sm" w="sm" type="none"/>
            <a:tailEnd len="sm" w="sm" type="none"/>
          </a:ln>
        </p:spPr>
      </p:cxnSp>
      <p:sp>
        <p:nvSpPr>
          <p:cNvPr id="151" name="Google Shape;151;p23"/>
          <p:cNvSpPr/>
          <p:nvPr/>
        </p:nvSpPr>
        <p:spPr>
          <a:xfrm>
            <a:off x="685800" y="1693926"/>
            <a:ext cx="18859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Group relationship</a:t>
            </a:r>
            <a:endParaRPr b="0" i="0" sz="1200" u="none" cap="none" strike="noStrike">
              <a:solidFill>
                <a:schemeClr val="dk1"/>
              </a:solidFill>
              <a:latin typeface="Arial"/>
              <a:ea typeface="Arial"/>
              <a:cs typeface="Arial"/>
              <a:sym typeface="Arial"/>
            </a:endParaRPr>
          </a:p>
        </p:txBody>
      </p:sp>
      <p:sp>
        <p:nvSpPr>
          <p:cNvPr id="152" name="Google Shape;152;p23"/>
          <p:cNvSpPr/>
          <p:nvPr/>
        </p:nvSpPr>
        <p:spPr>
          <a:xfrm>
            <a:off x="2743200" y="1693926"/>
            <a:ext cx="53492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independent samples • repeated/paired samples</a:t>
            </a:r>
            <a:endParaRPr b="0" i="0" sz="1200" u="none" cap="none" strike="noStrike">
              <a:solidFill>
                <a:schemeClr val="dk1"/>
              </a:solidFill>
              <a:latin typeface="Arial"/>
              <a:ea typeface="Arial"/>
              <a:cs typeface="Arial"/>
              <a:sym typeface="Arial"/>
            </a:endParaRPr>
          </a:p>
        </p:txBody>
      </p:sp>
      <p:cxnSp>
        <p:nvCxnSpPr>
          <p:cNvPr id="153" name="Google Shape;153;p23"/>
          <p:cNvCxnSpPr/>
          <p:nvPr/>
        </p:nvCxnSpPr>
        <p:spPr>
          <a:xfrm>
            <a:off x="685800" y="2050542"/>
            <a:ext cx="7406640" cy="0"/>
          </a:xfrm>
          <a:prstGeom prst="straightConnector1">
            <a:avLst/>
          </a:prstGeom>
          <a:noFill/>
          <a:ln cap="flat" cmpd="sng" w="9525">
            <a:solidFill>
              <a:srgbClr val="D1D5DB">
                <a:alpha val="85098"/>
              </a:srgbClr>
            </a:solidFill>
            <a:prstDash val="solid"/>
            <a:round/>
            <a:headEnd len="sm" w="sm" type="none"/>
            <a:tailEnd len="sm" w="sm" type="none"/>
          </a:ln>
        </p:spPr>
      </p:cxnSp>
      <p:sp>
        <p:nvSpPr>
          <p:cNvPr id="154" name="Google Shape;154;p23"/>
          <p:cNvSpPr/>
          <p:nvPr/>
        </p:nvSpPr>
        <p:spPr>
          <a:xfrm>
            <a:off x="685800" y="2256282"/>
            <a:ext cx="18859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Distribution shape</a:t>
            </a:r>
            <a:endParaRPr b="0" i="0" sz="1200" u="none" cap="none" strike="noStrike">
              <a:solidFill>
                <a:schemeClr val="dk1"/>
              </a:solidFill>
              <a:latin typeface="Arial"/>
              <a:ea typeface="Arial"/>
              <a:cs typeface="Arial"/>
              <a:sym typeface="Arial"/>
            </a:endParaRPr>
          </a:p>
        </p:txBody>
      </p:sp>
      <p:sp>
        <p:nvSpPr>
          <p:cNvPr id="155" name="Google Shape;155;p23"/>
          <p:cNvSpPr/>
          <p:nvPr/>
        </p:nvSpPr>
        <p:spPr>
          <a:xfrm>
            <a:off x="2743200" y="2256282"/>
            <a:ext cx="53492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roughly symmetric • skewed • outlier-heavy</a:t>
            </a:r>
            <a:endParaRPr b="0" i="0" sz="1200" u="none" cap="none" strike="noStrike">
              <a:solidFill>
                <a:schemeClr val="dk1"/>
              </a:solidFill>
              <a:latin typeface="Arial"/>
              <a:ea typeface="Arial"/>
              <a:cs typeface="Arial"/>
              <a:sym typeface="Arial"/>
            </a:endParaRPr>
          </a:p>
        </p:txBody>
      </p:sp>
      <p:cxnSp>
        <p:nvCxnSpPr>
          <p:cNvPr id="156" name="Google Shape;156;p23"/>
          <p:cNvCxnSpPr/>
          <p:nvPr/>
        </p:nvCxnSpPr>
        <p:spPr>
          <a:xfrm>
            <a:off x="685800" y="2612898"/>
            <a:ext cx="7406640" cy="0"/>
          </a:xfrm>
          <a:prstGeom prst="straightConnector1">
            <a:avLst/>
          </a:prstGeom>
          <a:noFill/>
          <a:ln cap="flat" cmpd="sng" w="9525">
            <a:solidFill>
              <a:srgbClr val="D1D5DB">
                <a:alpha val="85098"/>
              </a:srgbClr>
            </a:solidFill>
            <a:prstDash val="solid"/>
            <a:round/>
            <a:headEnd len="sm" w="sm" type="none"/>
            <a:tailEnd len="sm" w="sm" type="none"/>
          </a:ln>
        </p:spPr>
      </p:cxnSp>
      <p:sp>
        <p:nvSpPr>
          <p:cNvPr id="157" name="Google Shape;157;p23"/>
          <p:cNvSpPr/>
          <p:nvPr/>
        </p:nvSpPr>
        <p:spPr>
          <a:xfrm>
            <a:off x="685800" y="2818638"/>
            <a:ext cx="18859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Variance pattern</a:t>
            </a:r>
            <a:endParaRPr b="0" i="0" sz="1200" u="none" cap="none" strike="noStrike">
              <a:solidFill>
                <a:schemeClr val="dk1"/>
              </a:solidFill>
              <a:latin typeface="Arial"/>
              <a:ea typeface="Arial"/>
              <a:cs typeface="Arial"/>
              <a:sym typeface="Arial"/>
            </a:endParaRPr>
          </a:p>
        </p:txBody>
      </p:sp>
      <p:sp>
        <p:nvSpPr>
          <p:cNvPr id="158" name="Google Shape;158;p23"/>
          <p:cNvSpPr/>
          <p:nvPr/>
        </p:nvSpPr>
        <p:spPr>
          <a:xfrm>
            <a:off x="2743200" y="2818638"/>
            <a:ext cx="53492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similar spread • very different spread</a:t>
            </a:r>
            <a:endParaRPr b="0" i="0" sz="1200" u="none" cap="none" strike="noStrike">
              <a:solidFill>
                <a:schemeClr val="dk1"/>
              </a:solidFill>
              <a:latin typeface="Arial"/>
              <a:ea typeface="Arial"/>
              <a:cs typeface="Arial"/>
              <a:sym typeface="Arial"/>
            </a:endParaRPr>
          </a:p>
        </p:txBody>
      </p:sp>
      <p:cxnSp>
        <p:nvCxnSpPr>
          <p:cNvPr id="159" name="Google Shape;159;p23"/>
          <p:cNvCxnSpPr/>
          <p:nvPr/>
        </p:nvCxnSpPr>
        <p:spPr>
          <a:xfrm>
            <a:off x="685800" y="3175254"/>
            <a:ext cx="7406640" cy="0"/>
          </a:xfrm>
          <a:prstGeom prst="straightConnector1">
            <a:avLst/>
          </a:prstGeom>
          <a:noFill/>
          <a:ln cap="flat" cmpd="sng" w="9525">
            <a:solidFill>
              <a:srgbClr val="D1D5DB">
                <a:alpha val="85098"/>
              </a:srgbClr>
            </a:solidFill>
            <a:prstDash val="solid"/>
            <a:round/>
            <a:headEnd len="sm" w="sm" type="none"/>
            <a:tailEnd len="sm" w="sm" type="none"/>
          </a:ln>
        </p:spPr>
      </p:cxnSp>
      <p:sp>
        <p:nvSpPr>
          <p:cNvPr id="160" name="Google Shape;160;p23"/>
          <p:cNvSpPr/>
          <p:nvPr/>
        </p:nvSpPr>
        <p:spPr>
          <a:xfrm>
            <a:off x="685800" y="3380994"/>
            <a:ext cx="18859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Scientific target</a:t>
            </a:r>
            <a:endParaRPr b="0" i="0" sz="1200" u="none" cap="none" strike="noStrike">
              <a:solidFill>
                <a:schemeClr val="dk1"/>
              </a:solidFill>
              <a:latin typeface="Arial"/>
              <a:ea typeface="Arial"/>
              <a:cs typeface="Arial"/>
              <a:sym typeface="Arial"/>
            </a:endParaRPr>
          </a:p>
        </p:txBody>
      </p:sp>
      <p:sp>
        <p:nvSpPr>
          <p:cNvPr id="161" name="Google Shape;161;p23"/>
          <p:cNvSpPr/>
          <p:nvPr/>
        </p:nvSpPr>
        <p:spPr>
          <a:xfrm>
            <a:off x="2743200" y="3380994"/>
            <a:ext cx="53492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mean difference • rank/location shift • full distribution</a:t>
            </a:r>
            <a:endParaRPr b="0" i="0" sz="1200" u="none" cap="none" strike="noStrike">
              <a:solidFill>
                <a:schemeClr val="dk1"/>
              </a:solidFill>
              <a:latin typeface="Arial"/>
              <a:ea typeface="Arial"/>
              <a:cs typeface="Arial"/>
              <a:sym typeface="Arial"/>
            </a:endParaRPr>
          </a:p>
        </p:txBody>
      </p:sp>
      <p:cxnSp>
        <p:nvCxnSpPr>
          <p:cNvPr id="162" name="Google Shape;162;p23"/>
          <p:cNvCxnSpPr/>
          <p:nvPr/>
        </p:nvCxnSpPr>
        <p:spPr>
          <a:xfrm>
            <a:off x="685800" y="3737610"/>
            <a:ext cx="7406640" cy="0"/>
          </a:xfrm>
          <a:prstGeom prst="straightConnector1">
            <a:avLst/>
          </a:prstGeom>
          <a:noFill/>
          <a:ln cap="flat" cmpd="sng" w="9525">
            <a:solidFill>
              <a:srgbClr val="D1D5DB">
                <a:alpha val="85098"/>
              </a:srgbClr>
            </a:solidFill>
            <a:prstDash val="solid"/>
            <a:round/>
            <a:headEnd len="sm" w="sm" type="none"/>
            <a:tailEnd len="sm" w="sm" type="none"/>
          </a:ln>
        </p:spPr>
      </p:cxnSp>
      <p:sp>
        <p:nvSpPr>
          <p:cNvPr id="163" name="Google Shape;163;p23"/>
          <p:cNvSpPr/>
          <p:nvPr/>
        </p:nvSpPr>
        <p:spPr>
          <a:xfrm>
            <a:off x="685800" y="4114800"/>
            <a:ext cx="61722" cy="342900"/>
          </a:xfrm>
          <a:prstGeom prst="rect">
            <a:avLst/>
          </a:prstGeom>
          <a:solidFill>
            <a:srgbClr val="E11D48"/>
          </a:solidFill>
          <a:ln cap="flat" cmpd="sng" w="12700">
            <a:solidFill>
              <a:srgbClr val="E11D48">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23"/>
          <p:cNvSpPr/>
          <p:nvPr/>
        </p:nvSpPr>
        <p:spPr>
          <a:xfrm>
            <a:off x="809244" y="4114800"/>
            <a:ext cx="106299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800"/>
              <a:buFont typeface="Arial"/>
              <a:buNone/>
            </a:pPr>
            <a:r>
              <a:rPr b="1" lang="en" sz="800">
                <a:solidFill>
                  <a:srgbClr val="E11D48"/>
                </a:solidFill>
              </a:rPr>
              <a:t>Reminder</a:t>
            </a:r>
            <a:endParaRPr b="0" i="0" sz="800" u="none" cap="none" strike="noStrike">
              <a:solidFill>
                <a:schemeClr val="dk1"/>
              </a:solidFill>
              <a:latin typeface="Arial"/>
              <a:ea typeface="Arial"/>
              <a:cs typeface="Arial"/>
              <a:sym typeface="Arial"/>
            </a:endParaRPr>
          </a:p>
        </p:txBody>
      </p:sp>
      <p:sp>
        <p:nvSpPr>
          <p:cNvPr id="165" name="Google Shape;165;p23"/>
          <p:cNvSpPr/>
          <p:nvPr/>
        </p:nvSpPr>
        <p:spPr>
          <a:xfrm>
            <a:off x="1954530" y="4238244"/>
            <a:ext cx="606933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In review, practice choosing the family of methods first; only then decide the exact test and interpretation.</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4"/>
          <p:cNvSpPr/>
          <p:nvPr/>
        </p:nvSpPr>
        <p:spPr>
          <a:xfrm>
            <a:off x="0" y="0"/>
            <a:ext cx="9143771" cy="96012"/>
          </a:xfrm>
          <a:prstGeom prst="rect">
            <a:avLst/>
          </a:prstGeom>
          <a:solidFill>
            <a:srgbClr val="2563EB"/>
          </a:solidFill>
          <a:ln cap="flat" cmpd="sng" w="12700">
            <a:solidFill>
              <a:srgbClr val="2563E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24"/>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t-test assumption audit</a:t>
            </a:r>
            <a:endParaRPr b="0" i="0" sz="2300" u="none" cap="none" strike="noStrike">
              <a:solidFill>
                <a:schemeClr val="dk1"/>
              </a:solidFill>
              <a:latin typeface="Arial"/>
              <a:ea typeface="Arial"/>
              <a:cs typeface="Arial"/>
              <a:sym typeface="Arial"/>
            </a:endParaRPr>
          </a:p>
        </p:txBody>
      </p:sp>
      <p:sp>
        <p:nvSpPr>
          <p:cNvPr id="173" name="Google Shape;173;p24"/>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Parametric tests can be powerful, but only when the setup is plausible.</a:t>
            </a:r>
            <a:endParaRPr b="0" i="0" sz="1000" u="none" cap="none" strike="noStrike">
              <a:solidFill>
                <a:schemeClr val="dk1"/>
              </a:solidFill>
              <a:latin typeface="Arial"/>
              <a:ea typeface="Arial"/>
              <a:cs typeface="Arial"/>
              <a:sym typeface="Arial"/>
            </a:endParaRPr>
          </a:p>
        </p:txBody>
      </p:sp>
      <p:sp>
        <p:nvSpPr>
          <p:cNvPr id="174" name="Google Shape;174;p24"/>
          <p:cNvSpPr/>
          <p:nvPr/>
        </p:nvSpPr>
        <p:spPr>
          <a:xfrm>
            <a:off x="651510" y="1097280"/>
            <a:ext cx="44577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Arial"/>
              <a:buNone/>
            </a:pPr>
            <a:r>
              <a:rPr b="1" i="0" lang="en" sz="1600" u="none" cap="none" strike="noStrike">
                <a:solidFill>
                  <a:srgbClr val="111827"/>
                </a:solidFill>
                <a:latin typeface="Arial"/>
                <a:ea typeface="Arial"/>
                <a:cs typeface="Arial"/>
                <a:sym typeface="Arial"/>
              </a:rPr>
              <a:t>Before trusting a t-style comparison, inspect:</a:t>
            </a:r>
            <a:endParaRPr b="0" i="0" sz="1600" u="none" cap="none" strike="noStrike">
              <a:solidFill>
                <a:schemeClr val="dk1"/>
              </a:solidFill>
              <a:latin typeface="Arial"/>
              <a:ea typeface="Arial"/>
              <a:cs typeface="Arial"/>
              <a:sym typeface="Arial"/>
            </a:endParaRPr>
          </a:p>
        </p:txBody>
      </p:sp>
      <p:sp>
        <p:nvSpPr>
          <p:cNvPr id="175" name="Google Shape;175;p24"/>
          <p:cNvSpPr/>
          <p:nvPr/>
        </p:nvSpPr>
        <p:spPr>
          <a:xfrm>
            <a:off x="720100" y="1543050"/>
            <a:ext cx="4594800" cy="307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Arial"/>
              <a:buNone/>
            </a:pPr>
            <a:r>
              <a:rPr b="0" i="0" lang="en" sz="1800" u="none" cap="none" strike="noStrike">
                <a:solidFill>
                  <a:srgbClr val="374151"/>
                </a:solidFill>
                <a:latin typeface="Arial"/>
                <a:ea typeface="Arial"/>
                <a:cs typeface="Arial"/>
                <a:sym typeface="Arial"/>
              </a:rPr>
              <a:t>• Are observations independent within and across groups?</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74151"/>
              </a:buClr>
              <a:buSzPts val="1300"/>
              <a:buFont typeface="Arial"/>
              <a:buNone/>
            </a:pPr>
            <a:r>
              <a:rPr b="0" i="0" lang="en" sz="1800" u="none" cap="none" strike="noStrike">
                <a:solidFill>
                  <a:srgbClr val="374151"/>
                </a:solidFill>
                <a:latin typeface="Arial"/>
                <a:ea typeface="Arial"/>
                <a:cs typeface="Arial"/>
                <a:sym typeface="Arial"/>
              </a:rPr>
              <a:t>• Is the outcome measured on a scale where means are meaningful?</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74151"/>
              </a:buClr>
              <a:buSzPts val="1300"/>
              <a:buFont typeface="Arial"/>
              <a:buNone/>
            </a:pPr>
            <a:r>
              <a:rPr b="0" i="0" lang="en" sz="1800" u="none" cap="none" strike="noStrike">
                <a:solidFill>
                  <a:srgbClr val="374151"/>
                </a:solidFill>
                <a:latin typeface="Arial"/>
                <a:ea typeface="Arial"/>
                <a:cs typeface="Arial"/>
                <a:sym typeface="Arial"/>
              </a:rPr>
              <a:t>• Are the distributions approximately compatible with the model?</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74151"/>
              </a:buClr>
              <a:buSzPts val="1300"/>
              <a:buFont typeface="Arial"/>
              <a:buNone/>
            </a:pPr>
            <a:r>
              <a:rPr b="0" i="0" lang="en" sz="1800" u="none" cap="none" strike="noStrike">
                <a:solidFill>
                  <a:srgbClr val="374151"/>
                </a:solidFill>
                <a:latin typeface="Arial"/>
                <a:ea typeface="Arial"/>
                <a:cs typeface="Arial"/>
                <a:sym typeface="Arial"/>
              </a:rPr>
              <a:t>• Are extreme outliers or strong skew likely to dominate the mean?</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374151"/>
              </a:buClr>
              <a:buSzPts val="1300"/>
              <a:buFont typeface="Arial"/>
              <a:buNone/>
            </a:pPr>
            <a:r>
              <a:rPr b="0" i="0" lang="en" sz="1800" u="none" cap="none" strike="noStrike">
                <a:solidFill>
                  <a:srgbClr val="374151"/>
                </a:solidFill>
                <a:latin typeface="Arial"/>
                <a:ea typeface="Arial"/>
                <a:cs typeface="Arial"/>
                <a:sym typeface="Arial"/>
              </a:rPr>
              <a:t>• Is the spread of the groups similar enough for the chosen variant?</a:t>
            </a:r>
            <a:endParaRPr b="0" i="0" sz="1800" u="none" cap="none" strike="noStrike">
              <a:solidFill>
                <a:schemeClr val="dk1"/>
              </a:solidFill>
              <a:latin typeface="Arial"/>
              <a:ea typeface="Arial"/>
              <a:cs typeface="Arial"/>
              <a:sym typeface="Arial"/>
            </a:endParaRPr>
          </a:p>
        </p:txBody>
      </p:sp>
      <p:sp>
        <p:nvSpPr>
          <p:cNvPr id="176" name="Google Shape;176;p24"/>
          <p:cNvSpPr/>
          <p:nvPr/>
        </p:nvSpPr>
        <p:spPr>
          <a:xfrm>
            <a:off x="5486400" y="2297430"/>
            <a:ext cx="2708910" cy="630936"/>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11827"/>
              </a:buClr>
              <a:buSzPts val="1400"/>
              <a:buFont typeface="Arial"/>
              <a:buNone/>
            </a:pPr>
            <a:r>
              <a:rPr b="1" i="0" lang="en" sz="1400" u="none" cap="none" strike="noStrike">
                <a:solidFill>
                  <a:srgbClr val="111827"/>
                </a:solidFill>
                <a:latin typeface="Arial"/>
                <a:ea typeface="Arial"/>
                <a:cs typeface="Arial"/>
                <a:sym typeface="Arial"/>
              </a:rPr>
              <a:t>Compare centers only after checking the shape of the data.</a:t>
            </a:r>
            <a:endParaRPr b="0" i="0" sz="1400" u="none" cap="none" strike="noStrike">
              <a:solidFill>
                <a:schemeClr val="dk1"/>
              </a:solidFill>
              <a:latin typeface="Arial"/>
              <a:ea typeface="Arial"/>
              <a:cs typeface="Arial"/>
              <a:sym typeface="Arial"/>
            </a:endParaRPr>
          </a:p>
        </p:txBody>
      </p:sp>
      <p:sp>
        <p:nvSpPr>
          <p:cNvPr id="177" name="Google Shape;177;p24"/>
          <p:cNvSpPr/>
          <p:nvPr/>
        </p:nvSpPr>
        <p:spPr>
          <a:xfrm>
            <a:off x="5589270" y="3120390"/>
            <a:ext cx="2537460" cy="44577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Use visual diagnostics as part of the reasoning, not as decoration.</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5"/>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25"/>
          <p:cNvSpPr/>
          <p:nvPr/>
        </p:nvSpPr>
        <p:spPr>
          <a:xfrm>
            <a:off x="0" y="0"/>
            <a:ext cx="9143771" cy="96012"/>
          </a:xfrm>
          <a:prstGeom prst="rect">
            <a:avLst/>
          </a:prstGeom>
          <a:solidFill>
            <a:srgbClr val="F59E0B"/>
          </a:solidFill>
          <a:ln cap="flat" cmpd="sng" w="12700">
            <a:solidFill>
              <a:srgbClr val="F59E0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25"/>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More than two groups and multiple testing</a:t>
            </a:r>
            <a:endParaRPr b="0" i="0" sz="2300" u="none" cap="none" strike="noStrike">
              <a:solidFill>
                <a:schemeClr val="dk1"/>
              </a:solidFill>
              <a:latin typeface="Arial"/>
              <a:ea typeface="Arial"/>
              <a:cs typeface="Arial"/>
              <a:sym typeface="Arial"/>
            </a:endParaRPr>
          </a:p>
        </p:txBody>
      </p:sp>
      <p:sp>
        <p:nvSpPr>
          <p:cNvPr id="186" name="Google Shape;186;p25"/>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Repeated pairwise tests change the error-rate story.</a:t>
            </a:r>
            <a:endParaRPr b="0" i="0" sz="1000" u="none" cap="none" strike="noStrike">
              <a:solidFill>
                <a:schemeClr val="dk1"/>
              </a:solidFill>
              <a:latin typeface="Arial"/>
              <a:ea typeface="Arial"/>
              <a:cs typeface="Arial"/>
              <a:sym typeface="Arial"/>
            </a:endParaRPr>
          </a:p>
        </p:txBody>
      </p:sp>
      <p:sp>
        <p:nvSpPr>
          <p:cNvPr id="187" name="Google Shape;187;p25"/>
          <p:cNvSpPr/>
          <p:nvPr/>
        </p:nvSpPr>
        <p:spPr>
          <a:xfrm>
            <a:off x="651510" y="1062990"/>
            <a:ext cx="37719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When there are several groups, ask:</a:t>
            </a:r>
            <a:endParaRPr b="0" i="0" sz="1500" u="none" cap="none" strike="noStrike">
              <a:solidFill>
                <a:schemeClr val="dk1"/>
              </a:solidFill>
              <a:latin typeface="Arial"/>
              <a:ea typeface="Arial"/>
              <a:cs typeface="Arial"/>
              <a:sym typeface="Arial"/>
            </a:endParaRPr>
          </a:p>
        </p:txBody>
      </p:sp>
      <p:sp>
        <p:nvSpPr>
          <p:cNvPr id="188" name="Google Shape;188;p25"/>
          <p:cNvSpPr/>
          <p:nvPr/>
        </p:nvSpPr>
        <p:spPr>
          <a:xfrm>
            <a:off x="720090" y="1543050"/>
            <a:ext cx="1645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Global question</a:t>
            </a:r>
            <a:endParaRPr b="0" i="0" sz="1200" u="none" cap="none" strike="noStrike">
              <a:solidFill>
                <a:schemeClr val="dk1"/>
              </a:solidFill>
              <a:latin typeface="Arial"/>
              <a:ea typeface="Arial"/>
              <a:cs typeface="Arial"/>
              <a:sym typeface="Arial"/>
            </a:endParaRPr>
          </a:p>
        </p:txBody>
      </p:sp>
      <p:sp>
        <p:nvSpPr>
          <p:cNvPr id="189" name="Google Shape;189;p25"/>
          <p:cNvSpPr/>
          <p:nvPr/>
        </p:nvSpPr>
        <p:spPr>
          <a:xfrm>
            <a:off x="2503170" y="1543050"/>
            <a:ext cx="380619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Is there evidence of any group-level difference?</a:t>
            </a:r>
            <a:endParaRPr b="0" i="0" sz="1200" u="none" cap="none" strike="noStrike">
              <a:solidFill>
                <a:schemeClr val="dk1"/>
              </a:solidFill>
              <a:latin typeface="Arial"/>
              <a:ea typeface="Arial"/>
              <a:cs typeface="Arial"/>
              <a:sym typeface="Arial"/>
            </a:endParaRPr>
          </a:p>
        </p:txBody>
      </p:sp>
      <p:sp>
        <p:nvSpPr>
          <p:cNvPr id="190" name="Google Shape;190;p25"/>
          <p:cNvSpPr/>
          <p:nvPr/>
        </p:nvSpPr>
        <p:spPr>
          <a:xfrm>
            <a:off x="720090" y="2091690"/>
            <a:ext cx="1645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Pairwise question</a:t>
            </a:r>
            <a:endParaRPr b="0" i="0" sz="1200" u="none" cap="none" strike="noStrike">
              <a:solidFill>
                <a:schemeClr val="dk1"/>
              </a:solidFill>
              <a:latin typeface="Arial"/>
              <a:ea typeface="Arial"/>
              <a:cs typeface="Arial"/>
              <a:sym typeface="Arial"/>
            </a:endParaRPr>
          </a:p>
        </p:txBody>
      </p:sp>
      <p:sp>
        <p:nvSpPr>
          <p:cNvPr id="191" name="Google Shape;191;p25"/>
          <p:cNvSpPr/>
          <p:nvPr/>
        </p:nvSpPr>
        <p:spPr>
          <a:xfrm>
            <a:off x="2503170" y="2091690"/>
            <a:ext cx="380619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Which specific groups differ from each other?</a:t>
            </a:r>
            <a:endParaRPr b="0" i="0" sz="1200" u="none" cap="none" strike="noStrike">
              <a:solidFill>
                <a:schemeClr val="dk1"/>
              </a:solidFill>
              <a:latin typeface="Arial"/>
              <a:ea typeface="Arial"/>
              <a:cs typeface="Arial"/>
              <a:sym typeface="Arial"/>
            </a:endParaRPr>
          </a:p>
        </p:txBody>
      </p:sp>
      <p:sp>
        <p:nvSpPr>
          <p:cNvPr id="192" name="Google Shape;192;p25"/>
          <p:cNvSpPr/>
          <p:nvPr/>
        </p:nvSpPr>
        <p:spPr>
          <a:xfrm>
            <a:off x="720090" y="2640330"/>
            <a:ext cx="1645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Error-rate question</a:t>
            </a:r>
            <a:endParaRPr b="0" i="0" sz="1200" u="none" cap="none" strike="noStrike">
              <a:solidFill>
                <a:schemeClr val="dk1"/>
              </a:solidFill>
              <a:latin typeface="Arial"/>
              <a:ea typeface="Arial"/>
              <a:cs typeface="Arial"/>
              <a:sym typeface="Arial"/>
            </a:endParaRPr>
          </a:p>
        </p:txBody>
      </p:sp>
      <p:sp>
        <p:nvSpPr>
          <p:cNvPr id="193" name="Google Shape;193;p25"/>
          <p:cNvSpPr/>
          <p:nvPr/>
        </p:nvSpPr>
        <p:spPr>
          <a:xfrm>
            <a:off x="2503170" y="2640330"/>
            <a:ext cx="380619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How many comparisons are being made?</a:t>
            </a:r>
            <a:endParaRPr b="0" i="0" sz="1200" u="none" cap="none" strike="noStrike">
              <a:solidFill>
                <a:schemeClr val="dk1"/>
              </a:solidFill>
              <a:latin typeface="Arial"/>
              <a:ea typeface="Arial"/>
              <a:cs typeface="Arial"/>
              <a:sym typeface="Arial"/>
            </a:endParaRPr>
          </a:p>
        </p:txBody>
      </p:sp>
      <p:sp>
        <p:nvSpPr>
          <p:cNvPr id="194" name="Google Shape;194;p25"/>
          <p:cNvSpPr/>
          <p:nvPr/>
        </p:nvSpPr>
        <p:spPr>
          <a:xfrm>
            <a:off x="720090" y="3188970"/>
            <a:ext cx="1645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Follow-up question</a:t>
            </a:r>
            <a:endParaRPr b="0" i="0" sz="1200" u="none" cap="none" strike="noStrike">
              <a:solidFill>
                <a:schemeClr val="dk1"/>
              </a:solidFill>
              <a:latin typeface="Arial"/>
              <a:ea typeface="Arial"/>
              <a:cs typeface="Arial"/>
              <a:sym typeface="Arial"/>
            </a:endParaRPr>
          </a:p>
        </p:txBody>
      </p:sp>
      <p:sp>
        <p:nvSpPr>
          <p:cNvPr id="195" name="Google Shape;195;p25"/>
          <p:cNvSpPr/>
          <p:nvPr/>
        </p:nvSpPr>
        <p:spPr>
          <a:xfrm>
            <a:off x="2503170" y="3188970"/>
            <a:ext cx="380619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What correction or post-hoc plan is appropriate?</a:t>
            </a:r>
            <a:endParaRPr b="0" i="0" sz="1200" u="none" cap="none" strike="noStrike">
              <a:solidFill>
                <a:schemeClr val="dk1"/>
              </a:solidFill>
              <a:latin typeface="Arial"/>
              <a:ea typeface="Arial"/>
              <a:cs typeface="Arial"/>
              <a:sym typeface="Arial"/>
            </a:endParaRPr>
          </a:p>
        </p:txBody>
      </p:sp>
      <p:sp>
        <p:nvSpPr>
          <p:cNvPr id="196" name="Google Shape;196;p25"/>
          <p:cNvSpPr/>
          <p:nvPr/>
        </p:nvSpPr>
        <p:spPr>
          <a:xfrm>
            <a:off x="7132320" y="1179576"/>
            <a:ext cx="822960" cy="5143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3300"/>
              <a:buFont typeface="Play"/>
              <a:buNone/>
            </a:pPr>
            <a:r>
              <a:rPr b="1" i="0" lang="en" sz="3300" u="none" cap="none" strike="noStrike">
                <a:solidFill>
                  <a:srgbClr val="F59E0B"/>
                </a:solidFill>
                <a:latin typeface="Play"/>
                <a:ea typeface="Play"/>
                <a:cs typeface="Play"/>
                <a:sym typeface="Play"/>
              </a:rPr>
              <a:t>α</a:t>
            </a:r>
            <a:endParaRPr b="0" i="0" sz="3300" u="none" cap="none" strike="noStrike">
              <a:solidFill>
                <a:schemeClr val="dk1"/>
              </a:solidFill>
              <a:latin typeface="Arial"/>
              <a:ea typeface="Arial"/>
              <a:cs typeface="Arial"/>
              <a:sym typeface="Arial"/>
            </a:endParaRPr>
          </a:p>
        </p:txBody>
      </p:sp>
      <p:sp>
        <p:nvSpPr>
          <p:cNvPr id="197" name="Google Shape;197;p25"/>
          <p:cNvSpPr/>
          <p:nvPr/>
        </p:nvSpPr>
        <p:spPr>
          <a:xfrm>
            <a:off x="6755130" y="1769364"/>
            <a:ext cx="164592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Arial"/>
              <a:buNone/>
            </a:pPr>
            <a:r>
              <a:rPr b="1" i="0" lang="en" sz="1300" u="none" cap="none" strike="noStrike">
                <a:solidFill>
                  <a:srgbClr val="374151"/>
                </a:solidFill>
                <a:latin typeface="Arial"/>
                <a:ea typeface="Arial"/>
                <a:cs typeface="Arial"/>
                <a:sym typeface="Arial"/>
              </a:rPr>
              <a:t>× comparisons</a:t>
            </a:r>
            <a:endParaRPr b="0" i="0" sz="1300" u="none" cap="none" strike="noStrike">
              <a:solidFill>
                <a:schemeClr val="dk1"/>
              </a:solidFill>
              <a:latin typeface="Arial"/>
              <a:ea typeface="Arial"/>
              <a:cs typeface="Arial"/>
              <a:sym typeface="Arial"/>
            </a:endParaRPr>
          </a:p>
        </p:txBody>
      </p:sp>
      <p:sp>
        <p:nvSpPr>
          <p:cNvPr id="198" name="Google Shape;198;p25"/>
          <p:cNvSpPr/>
          <p:nvPr/>
        </p:nvSpPr>
        <p:spPr>
          <a:xfrm>
            <a:off x="6480810" y="2228850"/>
            <a:ext cx="222885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controls false positives</a:t>
            </a:r>
            <a:endParaRPr b="0" i="0" sz="1200" u="none" cap="none" strike="noStrike">
              <a:solidFill>
                <a:schemeClr val="dk1"/>
              </a:solidFill>
              <a:latin typeface="Arial"/>
              <a:ea typeface="Arial"/>
              <a:cs typeface="Arial"/>
              <a:sym typeface="Arial"/>
            </a:endParaRPr>
          </a:p>
        </p:txBody>
      </p:sp>
      <p:cxnSp>
        <p:nvCxnSpPr>
          <p:cNvPr id="199" name="Google Shape;199;p25"/>
          <p:cNvCxnSpPr/>
          <p:nvPr/>
        </p:nvCxnSpPr>
        <p:spPr>
          <a:xfrm>
            <a:off x="7029450" y="2777490"/>
            <a:ext cx="822960" cy="0"/>
          </a:xfrm>
          <a:prstGeom prst="straightConnector1">
            <a:avLst/>
          </a:prstGeom>
          <a:noFill/>
          <a:ln cap="flat" cmpd="sng" w="15225">
            <a:solidFill>
              <a:srgbClr val="6B7280"/>
            </a:solidFill>
            <a:prstDash val="solid"/>
            <a:round/>
            <a:headEnd len="sm" w="sm" type="none"/>
            <a:tailEnd len="med" w="med" type="triangle"/>
          </a:ln>
        </p:spPr>
      </p:cxnSp>
      <p:sp>
        <p:nvSpPr>
          <p:cNvPr id="200" name="Google Shape;200;p25"/>
          <p:cNvSpPr/>
          <p:nvPr/>
        </p:nvSpPr>
        <p:spPr>
          <a:xfrm>
            <a:off x="6686550" y="3003804"/>
            <a:ext cx="1851660"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Arial"/>
              <a:buNone/>
            </a:pPr>
            <a:r>
              <a:rPr b="1" i="0" lang="en" sz="1200" u="none" cap="none" strike="noStrike">
                <a:solidFill>
                  <a:srgbClr val="111827"/>
                </a:solidFill>
                <a:latin typeface="Arial"/>
                <a:ea typeface="Arial"/>
                <a:cs typeface="Arial"/>
                <a:sym typeface="Arial"/>
              </a:rPr>
              <a:t>planned workflow</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26"/>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6"/>
          <p:cNvSpPr/>
          <p:nvPr/>
        </p:nvSpPr>
        <p:spPr>
          <a:xfrm>
            <a:off x="0" y="0"/>
            <a:ext cx="9143771" cy="96012"/>
          </a:xfrm>
          <a:prstGeom prst="rect">
            <a:avLst/>
          </a:prstGeom>
          <a:solidFill>
            <a:srgbClr val="7C3AED"/>
          </a:solidFill>
          <a:ln cap="flat" cmpd="sng" w="12700">
            <a:solidFill>
              <a:srgbClr val="7C3AED">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6"/>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Transformations and rank-based inference</a:t>
            </a:r>
            <a:endParaRPr b="0" i="0" sz="2300" u="none" cap="none" strike="noStrike">
              <a:solidFill>
                <a:schemeClr val="dk1"/>
              </a:solidFill>
              <a:latin typeface="Arial"/>
              <a:ea typeface="Arial"/>
              <a:cs typeface="Arial"/>
              <a:sym typeface="Arial"/>
            </a:endParaRPr>
          </a:p>
        </p:txBody>
      </p:sp>
      <p:sp>
        <p:nvSpPr>
          <p:cNvPr id="209" name="Google Shape;209;p26"/>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When model assumptions are strained, change the representation or the method.</a:t>
            </a:r>
            <a:endParaRPr b="0" i="0" sz="1000" u="none" cap="none" strike="noStrike">
              <a:solidFill>
                <a:schemeClr val="dk1"/>
              </a:solidFill>
              <a:latin typeface="Arial"/>
              <a:ea typeface="Arial"/>
              <a:cs typeface="Arial"/>
              <a:sym typeface="Arial"/>
            </a:endParaRPr>
          </a:p>
        </p:txBody>
      </p:sp>
      <p:sp>
        <p:nvSpPr>
          <p:cNvPr id="210" name="Google Shape;210;p26"/>
          <p:cNvSpPr/>
          <p:nvPr/>
        </p:nvSpPr>
        <p:spPr>
          <a:xfrm>
            <a:off x="651510" y="106299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Two review moves</a:t>
            </a:r>
            <a:endParaRPr b="0" i="0" sz="1500" u="none" cap="none" strike="noStrike">
              <a:solidFill>
                <a:schemeClr val="dk1"/>
              </a:solidFill>
              <a:latin typeface="Arial"/>
              <a:ea typeface="Arial"/>
              <a:cs typeface="Arial"/>
              <a:sym typeface="Arial"/>
            </a:endParaRPr>
          </a:p>
        </p:txBody>
      </p:sp>
      <p:sp>
        <p:nvSpPr>
          <p:cNvPr id="211" name="Google Shape;211;p26"/>
          <p:cNvSpPr/>
          <p:nvPr/>
        </p:nvSpPr>
        <p:spPr>
          <a:xfrm>
            <a:off x="822960" y="1543050"/>
            <a:ext cx="1440180" cy="493776"/>
          </a:xfrm>
          <a:prstGeom prst="rect">
            <a:avLst/>
          </a:prstGeom>
          <a:solidFill>
            <a:srgbClr val="CCFBF1"/>
          </a:solidFill>
          <a:ln cap="flat" cmpd="sng" w="9525">
            <a:solidFill>
              <a:srgbClr val="0F766E">
                <a:alpha val="40000"/>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0F766E"/>
              </a:buClr>
              <a:buSzPts val="2300"/>
              <a:buFont typeface="Play"/>
              <a:buNone/>
            </a:pPr>
            <a:r>
              <a:rPr b="1" i="0" lang="en" sz="2300" u="none" cap="none" strike="noStrike">
                <a:solidFill>
                  <a:srgbClr val="0F766E"/>
                </a:solidFill>
                <a:latin typeface="Play"/>
                <a:ea typeface="Play"/>
                <a:cs typeface="Play"/>
                <a:sym typeface="Play"/>
              </a:rPr>
              <a:t>log(y)</a:t>
            </a:r>
            <a:endParaRPr b="0" i="0" sz="2300" u="none" cap="none" strike="noStrike">
              <a:solidFill>
                <a:schemeClr val="dk1"/>
              </a:solidFill>
              <a:latin typeface="Arial"/>
              <a:ea typeface="Arial"/>
              <a:cs typeface="Arial"/>
              <a:sym typeface="Arial"/>
            </a:endParaRPr>
          </a:p>
        </p:txBody>
      </p:sp>
      <p:sp>
        <p:nvSpPr>
          <p:cNvPr id="212" name="Google Shape;212;p26"/>
          <p:cNvSpPr/>
          <p:nvPr/>
        </p:nvSpPr>
        <p:spPr>
          <a:xfrm>
            <a:off x="822960" y="2777490"/>
            <a:ext cx="1440180" cy="493776"/>
          </a:xfrm>
          <a:prstGeom prst="rect">
            <a:avLst/>
          </a:prstGeom>
          <a:solidFill>
            <a:srgbClr val="EDE9FE"/>
          </a:solidFill>
          <a:ln cap="flat" cmpd="sng" w="9525">
            <a:solidFill>
              <a:srgbClr val="7C3AED">
                <a:alpha val="40000"/>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7C3AED"/>
              </a:buClr>
              <a:buSzPts val="2300"/>
              <a:buFont typeface="Play"/>
              <a:buNone/>
            </a:pPr>
            <a:r>
              <a:rPr b="1" i="0" lang="en" sz="2300" u="none" cap="none" strike="noStrike">
                <a:solidFill>
                  <a:srgbClr val="7C3AED"/>
                </a:solidFill>
                <a:latin typeface="Play"/>
                <a:ea typeface="Play"/>
                <a:cs typeface="Play"/>
                <a:sym typeface="Play"/>
              </a:rPr>
              <a:t>rank(y)</a:t>
            </a:r>
            <a:endParaRPr b="0" i="0" sz="2300" u="none" cap="none" strike="noStrike">
              <a:solidFill>
                <a:schemeClr val="dk1"/>
              </a:solidFill>
              <a:latin typeface="Arial"/>
              <a:ea typeface="Arial"/>
              <a:cs typeface="Arial"/>
              <a:sym typeface="Arial"/>
            </a:endParaRPr>
          </a:p>
        </p:txBody>
      </p:sp>
      <p:sp>
        <p:nvSpPr>
          <p:cNvPr id="213" name="Google Shape;213;p26"/>
          <p:cNvSpPr/>
          <p:nvPr/>
        </p:nvSpPr>
        <p:spPr>
          <a:xfrm>
            <a:off x="2674620" y="1440180"/>
            <a:ext cx="50063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i="0" lang="en" sz="1200" u="none" cap="none" strike="noStrike">
                <a:solidFill>
                  <a:srgbClr val="0F766E"/>
                </a:solidFill>
                <a:latin typeface="Arial"/>
                <a:ea typeface="Arial"/>
                <a:cs typeface="Arial"/>
                <a:sym typeface="Arial"/>
              </a:rPr>
              <a:t>Transformation logic</a:t>
            </a:r>
            <a:endParaRPr b="0" i="0" sz="1200" u="none" cap="none" strike="noStrike">
              <a:solidFill>
                <a:schemeClr val="dk1"/>
              </a:solidFill>
              <a:latin typeface="Arial"/>
              <a:ea typeface="Arial"/>
              <a:cs typeface="Arial"/>
              <a:sym typeface="Arial"/>
            </a:endParaRPr>
          </a:p>
        </p:txBody>
      </p:sp>
      <p:sp>
        <p:nvSpPr>
          <p:cNvPr id="214" name="Google Shape;214;p26"/>
          <p:cNvSpPr/>
          <p:nvPr/>
        </p:nvSpPr>
        <p:spPr>
          <a:xfrm>
            <a:off x="2674620" y="1769364"/>
            <a:ext cx="500634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500" u="none" cap="none" strike="noStrike">
                <a:solidFill>
                  <a:srgbClr val="374151"/>
                </a:solidFill>
                <a:latin typeface="Arial"/>
                <a:ea typeface="Arial"/>
                <a:cs typeface="Arial"/>
                <a:sym typeface="Arial"/>
              </a:rPr>
              <a:t>A transformation can make a skewed variable easier to model and can change how differences are interpreted.</a:t>
            </a:r>
            <a:endParaRPr b="0" i="0" sz="1500" u="none" cap="none" strike="noStrike">
              <a:solidFill>
                <a:schemeClr val="dk1"/>
              </a:solidFill>
              <a:latin typeface="Arial"/>
              <a:ea typeface="Arial"/>
              <a:cs typeface="Arial"/>
              <a:sym typeface="Arial"/>
            </a:endParaRPr>
          </a:p>
        </p:txBody>
      </p:sp>
      <p:sp>
        <p:nvSpPr>
          <p:cNvPr id="215" name="Google Shape;215;p26"/>
          <p:cNvSpPr/>
          <p:nvPr/>
        </p:nvSpPr>
        <p:spPr>
          <a:xfrm>
            <a:off x="2674620" y="2674620"/>
            <a:ext cx="500634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Rank-based logic</a:t>
            </a:r>
            <a:endParaRPr b="0" i="0" sz="1200" u="none" cap="none" strike="noStrike">
              <a:solidFill>
                <a:schemeClr val="dk1"/>
              </a:solidFill>
              <a:latin typeface="Arial"/>
              <a:ea typeface="Arial"/>
              <a:cs typeface="Arial"/>
              <a:sym typeface="Arial"/>
            </a:endParaRPr>
          </a:p>
        </p:txBody>
      </p:sp>
      <p:sp>
        <p:nvSpPr>
          <p:cNvPr id="216" name="Google Shape;216;p26"/>
          <p:cNvSpPr/>
          <p:nvPr/>
        </p:nvSpPr>
        <p:spPr>
          <a:xfrm>
            <a:off x="2674620" y="3003804"/>
            <a:ext cx="500634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500" u="none" cap="none" strike="noStrike">
                <a:solidFill>
                  <a:srgbClr val="374151"/>
                </a:solidFill>
                <a:latin typeface="Arial"/>
                <a:ea typeface="Arial"/>
                <a:cs typeface="Arial"/>
                <a:sym typeface="Arial"/>
              </a:rPr>
              <a:t>Rank methods reduce reliance on Normal-model assumptions by analyzing ordering information rather than raw magnitudes.</a:t>
            </a:r>
            <a:endParaRPr b="0" i="0" sz="1500" u="none" cap="none" strike="noStrike">
              <a:solidFill>
                <a:schemeClr val="dk1"/>
              </a:solidFill>
              <a:latin typeface="Arial"/>
              <a:ea typeface="Arial"/>
              <a:cs typeface="Arial"/>
              <a:sym typeface="Arial"/>
            </a:endParaRPr>
          </a:p>
        </p:txBody>
      </p:sp>
      <p:sp>
        <p:nvSpPr>
          <p:cNvPr id="217" name="Google Shape;217;p26"/>
          <p:cNvSpPr/>
          <p:nvPr/>
        </p:nvSpPr>
        <p:spPr>
          <a:xfrm>
            <a:off x="685800" y="4011930"/>
            <a:ext cx="61722" cy="377190"/>
          </a:xfrm>
          <a:prstGeom prst="rect">
            <a:avLst/>
          </a:prstGeom>
          <a:solidFill>
            <a:srgbClr val="E11D48"/>
          </a:solidFill>
          <a:ln cap="flat" cmpd="sng" w="12700">
            <a:solidFill>
              <a:srgbClr val="E11D48">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26"/>
          <p:cNvSpPr/>
          <p:nvPr/>
        </p:nvSpPr>
        <p:spPr>
          <a:xfrm>
            <a:off x="809244" y="4011930"/>
            <a:ext cx="106299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800"/>
              <a:buFont typeface="Arial"/>
              <a:buNone/>
            </a:pPr>
            <a:r>
              <a:rPr b="1" lang="en">
                <a:solidFill>
                  <a:srgbClr val="E11D48"/>
                </a:solidFill>
              </a:rPr>
              <a:t>Reminder</a:t>
            </a:r>
            <a:endParaRPr b="0" i="0" u="none" cap="none" strike="noStrike">
              <a:solidFill>
                <a:schemeClr val="dk1"/>
              </a:solidFill>
              <a:latin typeface="Arial"/>
              <a:ea typeface="Arial"/>
              <a:cs typeface="Arial"/>
              <a:sym typeface="Arial"/>
            </a:endParaRPr>
          </a:p>
        </p:txBody>
      </p:sp>
      <p:sp>
        <p:nvSpPr>
          <p:cNvPr id="219" name="Google Shape;219;p26"/>
          <p:cNvSpPr/>
          <p:nvPr/>
        </p:nvSpPr>
        <p:spPr>
          <a:xfrm>
            <a:off x="1885950" y="4149090"/>
            <a:ext cx="617220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500" u="none" cap="none" strike="noStrike">
                <a:solidFill>
                  <a:srgbClr val="374151"/>
                </a:solidFill>
                <a:latin typeface="Arial"/>
                <a:ea typeface="Arial"/>
                <a:cs typeface="Arial"/>
                <a:sym typeface="Arial"/>
              </a:rPr>
              <a:t>Practice saying what information is preserved and what information is changed when you transform or rank the data.</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27"/>
          <p:cNvSpPr/>
          <p:nvPr/>
        </p:nvSpPr>
        <p:spPr>
          <a:xfrm>
            <a:off x="0" y="0"/>
            <a:ext cx="9143771" cy="96012"/>
          </a:xfrm>
          <a:prstGeom prst="rect">
            <a:avLst/>
          </a:prstGeom>
          <a:solidFill>
            <a:srgbClr val="2563EB"/>
          </a:solidFill>
          <a:ln cap="flat" cmpd="sng" w="12700">
            <a:solidFill>
              <a:srgbClr val="2563E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27"/>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Distribution-level comparisons</a:t>
            </a:r>
            <a:endParaRPr b="0" i="0" sz="2300" u="none" cap="none" strike="noStrike">
              <a:solidFill>
                <a:schemeClr val="dk1"/>
              </a:solidFill>
              <a:latin typeface="Arial"/>
              <a:ea typeface="Arial"/>
              <a:cs typeface="Arial"/>
              <a:sym typeface="Arial"/>
            </a:endParaRPr>
          </a:p>
        </p:txBody>
      </p:sp>
      <p:sp>
        <p:nvSpPr>
          <p:cNvPr id="227" name="Google Shape;227;p27"/>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Some questions are about the whole distribution, not only the mean.</a:t>
            </a:r>
            <a:endParaRPr b="0" i="0" sz="1000" u="none" cap="none" strike="noStrike">
              <a:solidFill>
                <a:schemeClr val="dk1"/>
              </a:solidFill>
              <a:latin typeface="Arial"/>
              <a:ea typeface="Arial"/>
              <a:cs typeface="Arial"/>
              <a:sym typeface="Arial"/>
            </a:endParaRPr>
          </a:p>
        </p:txBody>
      </p:sp>
      <p:sp>
        <p:nvSpPr>
          <p:cNvPr id="228" name="Google Shape;228;p27"/>
          <p:cNvSpPr/>
          <p:nvPr/>
        </p:nvSpPr>
        <p:spPr>
          <a:xfrm>
            <a:off x="4834890" y="1200150"/>
            <a:ext cx="318897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i="0" lang="en" sz="1200" u="none" cap="none" strike="noStrike">
                <a:solidFill>
                  <a:srgbClr val="2563EB"/>
                </a:solidFill>
                <a:latin typeface="Arial"/>
                <a:ea typeface="Arial"/>
                <a:cs typeface="Arial"/>
                <a:sym typeface="Arial"/>
              </a:rPr>
              <a:t>KS-test reasoning</a:t>
            </a:r>
            <a:endParaRPr b="0" i="0" sz="1200" u="none" cap="none" strike="noStrike">
              <a:solidFill>
                <a:schemeClr val="dk1"/>
              </a:solidFill>
              <a:latin typeface="Arial"/>
              <a:ea typeface="Arial"/>
              <a:cs typeface="Arial"/>
              <a:sym typeface="Arial"/>
            </a:endParaRPr>
          </a:p>
        </p:txBody>
      </p:sp>
      <p:sp>
        <p:nvSpPr>
          <p:cNvPr id="229" name="Google Shape;229;p27"/>
          <p:cNvSpPr/>
          <p:nvPr/>
        </p:nvSpPr>
        <p:spPr>
          <a:xfrm>
            <a:off x="4834890" y="1529334"/>
            <a:ext cx="3188970" cy="7886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500" u="none" cap="none" strike="noStrike">
                <a:solidFill>
                  <a:srgbClr val="374151"/>
                </a:solidFill>
                <a:latin typeface="Arial"/>
                <a:ea typeface="Arial"/>
                <a:cs typeface="Arial"/>
                <a:sym typeface="Arial"/>
              </a:rPr>
              <a:t>A distribution-comparison test asks whether two empirical CDFs look compatible with the same underlying distribution.</a:t>
            </a:r>
            <a:endParaRPr b="0" i="0" sz="1500" u="none" cap="none" strike="noStrike">
              <a:solidFill>
                <a:schemeClr val="dk1"/>
              </a:solidFill>
              <a:latin typeface="Arial"/>
              <a:ea typeface="Arial"/>
              <a:cs typeface="Arial"/>
              <a:sym typeface="Arial"/>
            </a:endParaRPr>
          </a:p>
        </p:txBody>
      </p:sp>
      <p:sp>
        <p:nvSpPr>
          <p:cNvPr id="230" name="Google Shape;230;p27"/>
          <p:cNvSpPr/>
          <p:nvPr/>
        </p:nvSpPr>
        <p:spPr>
          <a:xfrm>
            <a:off x="4834890" y="2571750"/>
            <a:ext cx="318897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Arial"/>
              <a:buNone/>
            </a:pPr>
            <a:r>
              <a:rPr b="1" i="0" lang="en" sz="1200" u="none" cap="none" strike="noStrike">
                <a:solidFill>
                  <a:srgbClr val="E11D48"/>
                </a:solidFill>
                <a:latin typeface="Arial"/>
                <a:ea typeface="Arial"/>
                <a:cs typeface="Arial"/>
                <a:sym typeface="Arial"/>
              </a:rPr>
              <a:t>Score-model context</a:t>
            </a:r>
            <a:endParaRPr b="0" i="0" sz="1200" u="none" cap="none" strike="noStrike">
              <a:solidFill>
                <a:schemeClr val="dk1"/>
              </a:solidFill>
              <a:latin typeface="Arial"/>
              <a:ea typeface="Arial"/>
              <a:cs typeface="Arial"/>
              <a:sym typeface="Arial"/>
            </a:endParaRPr>
          </a:p>
        </p:txBody>
      </p:sp>
      <p:sp>
        <p:nvSpPr>
          <p:cNvPr id="231" name="Google Shape;231;p27"/>
          <p:cNvSpPr/>
          <p:nvPr/>
        </p:nvSpPr>
        <p:spPr>
          <a:xfrm>
            <a:off x="4834890" y="2900934"/>
            <a:ext cx="318897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500" u="none" cap="none" strike="noStrike">
                <a:solidFill>
                  <a:srgbClr val="374151"/>
                </a:solidFill>
                <a:latin typeface="Arial"/>
                <a:ea typeface="Arial"/>
                <a:cs typeface="Arial"/>
                <a:sym typeface="Arial"/>
              </a:rPr>
              <a:t>For model probability scores, ask whether the two models produce similar score distributions across users.</a:t>
            </a:r>
            <a:endParaRPr b="0" i="0" sz="1500" u="none" cap="none" strike="noStrike">
              <a:solidFill>
                <a:schemeClr val="dk1"/>
              </a:solidFill>
              <a:latin typeface="Arial"/>
              <a:ea typeface="Arial"/>
              <a:cs typeface="Arial"/>
              <a:sym typeface="Arial"/>
            </a:endParaRPr>
          </a:p>
        </p:txBody>
      </p:sp>
      <p:sp>
        <p:nvSpPr>
          <p:cNvPr id="232" name="Google Shape;232;p27"/>
          <p:cNvSpPr/>
          <p:nvPr/>
        </p:nvSpPr>
        <p:spPr>
          <a:xfrm>
            <a:off x="4834890" y="3943350"/>
            <a:ext cx="61722" cy="377190"/>
          </a:xfrm>
          <a:prstGeom prst="rect">
            <a:avLst/>
          </a:prstGeom>
          <a:solidFill>
            <a:srgbClr val="0F766E"/>
          </a:solidFill>
          <a:ln cap="flat" cmpd="sng" w="12700">
            <a:solidFill>
              <a:srgbClr val="0F766E">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3" name="Google Shape;233;p27"/>
          <p:cNvSpPr/>
          <p:nvPr/>
        </p:nvSpPr>
        <p:spPr>
          <a:xfrm>
            <a:off x="4958334" y="3943350"/>
            <a:ext cx="106299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800"/>
              <a:buFont typeface="Arial"/>
              <a:buNone/>
            </a:pPr>
            <a:r>
              <a:rPr b="1" lang="en" sz="800">
                <a:solidFill>
                  <a:srgbClr val="0F766E"/>
                </a:solidFill>
              </a:rPr>
              <a:t>Reminder</a:t>
            </a:r>
            <a:endParaRPr b="0" i="0" sz="800" u="none" cap="none" strike="noStrike">
              <a:solidFill>
                <a:schemeClr val="dk1"/>
              </a:solidFill>
              <a:latin typeface="Arial"/>
              <a:ea typeface="Arial"/>
              <a:cs typeface="Arial"/>
              <a:sym typeface="Arial"/>
            </a:endParaRPr>
          </a:p>
        </p:txBody>
      </p:sp>
      <p:sp>
        <p:nvSpPr>
          <p:cNvPr id="234" name="Google Shape;234;p27"/>
          <p:cNvSpPr/>
          <p:nvPr/>
        </p:nvSpPr>
        <p:spPr>
          <a:xfrm>
            <a:off x="6069330" y="4080510"/>
            <a:ext cx="209169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u="none" cap="none" strike="noStrike">
                <a:solidFill>
                  <a:srgbClr val="374151"/>
                </a:solidFill>
                <a:latin typeface="Arial"/>
                <a:ea typeface="Arial"/>
                <a:cs typeface="Arial"/>
                <a:sym typeface="Arial"/>
              </a:rPr>
              <a:t>Practice distinguishing “different average score” from “different score distribution.”</a:t>
            </a:r>
            <a:endParaRPr b="0" i="0" u="none" cap="none" strike="noStrike">
              <a:solidFill>
                <a:schemeClr val="dk1"/>
              </a:solidFill>
              <a:latin typeface="Arial"/>
              <a:ea typeface="Arial"/>
              <a:cs typeface="Arial"/>
              <a:sym typeface="Arial"/>
            </a:endParaRPr>
          </a:p>
        </p:txBody>
      </p:sp>
      <p:pic>
        <p:nvPicPr>
          <p:cNvPr descr="/mnt/data/empirical_cdf_plot.png" id="235" name="Google Shape;235;p27"/>
          <p:cNvPicPr preferRelativeResize="0"/>
          <p:nvPr/>
        </p:nvPicPr>
        <p:blipFill rotWithShape="1">
          <a:blip r:embed="rId3">
            <a:alphaModFix/>
          </a:blip>
          <a:srcRect b="0" l="0" r="0" t="0"/>
          <a:stretch/>
        </p:blipFill>
        <p:spPr>
          <a:xfrm>
            <a:off x="149275" y="1577350"/>
            <a:ext cx="4499649" cy="25310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28"/>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2" name="Google Shape;242;p28"/>
          <p:cNvSpPr/>
          <p:nvPr/>
        </p:nvSpPr>
        <p:spPr>
          <a:xfrm>
            <a:off x="0" y="0"/>
            <a:ext cx="9143771" cy="96012"/>
          </a:xfrm>
          <a:prstGeom prst="rect">
            <a:avLst/>
          </a:prstGeom>
          <a:solidFill>
            <a:srgbClr val="0F766E"/>
          </a:solidFill>
          <a:ln cap="flat" cmpd="sng" w="12700">
            <a:solidFill>
              <a:srgbClr val="0F766E">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28"/>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Spatial data: patterns and aggregation traps</a:t>
            </a:r>
            <a:endParaRPr b="0" i="0" sz="2300" u="none" cap="none" strike="noStrike">
              <a:solidFill>
                <a:schemeClr val="dk1"/>
              </a:solidFill>
              <a:latin typeface="Arial"/>
              <a:ea typeface="Arial"/>
              <a:cs typeface="Arial"/>
              <a:sym typeface="Arial"/>
            </a:endParaRPr>
          </a:p>
        </p:txBody>
      </p:sp>
      <p:sp>
        <p:nvSpPr>
          <p:cNvPr id="244" name="Google Shape;244;p28"/>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Spatial summaries depend on scale, boundaries, and dependence.</a:t>
            </a:r>
            <a:endParaRPr b="0" i="0" sz="1000" u="none" cap="none" strike="noStrike">
              <a:solidFill>
                <a:schemeClr val="dk1"/>
              </a:solidFill>
              <a:latin typeface="Arial"/>
              <a:ea typeface="Arial"/>
              <a:cs typeface="Arial"/>
              <a:sym typeface="Arial"/>
            </a:endParaRPr>
          </a:p>
        </p:txBody>
      </p:sp>
      <p:sp>
        <p:nvSpPr>
          <p:cNvPr id="245" name="Google Shape;245;p28"/>
          <p:cNvSpPr/>
          <p:nvPr/>
        </p:nvSpPr>
        <p:spPr>
          <a:xfrm>
            <a:off x="651510" y="1062990"/>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Arial"/>
              <a:buNone/>
            </a:pPr>
            <a:r>
              <a:rPr b="1" i="0" lang="en" sz="1500" u="none" cap="none" strike="noStrike">
                <a:solidFill>
                  <a:srgbClr val="111827"/>
                </a:solidFill>
                <a:latin typeface="Arial"/>
                <a:ea typeface="Arial"/>
                <a:cs typeface="Arial"/>
                <a:sym typeface="Arial"/>
              </a:rPr>
              <a:t>Average nearest neighbor / clustering</a:t>
            </a:r>
            <a:endParaRPr b="0" i="0" sz="1500" u="none" cap="none" strike="noStrike">
              <a:solidFill>
                <a:schemeClr val="dk1"/>
              </a:solidFill>
              <a:latin typeface="Arial"/>
              <a:ea typeface="Arial"/>
              <a:cs typeface="Arial"/>
              <a:sym typeface="Arial"/>
            </a:endParaRPr>
          </a:p>
        </p:txBody>
      </p:sp>
      <p:sp>
        <p:nvSpPr>
          <p:cNvPr id="246" name="Google Shape;246;p28"/>
          <p:cNvSpPr/>
          <p:nvPr/>
        </p:nvSpPr>
        <p:spPr>
          <a:xfrm>
            <a:off x="960120" y="185166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8"/>
          <p:cNvSpPr/>
          <p:nvPr/>
        </p:nvSpPr>
        <p:spPr>
          <a:xfrm>
            <a:off x="1200150" y="174879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28"/>
          <p:cNvSpPr/>
          <p:nvPr/>
        </p:nvSpPr>
        <p:spPr>
          <a:xfrm>
            <a:off x="1110996" y="2071116"/>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28"/>
          <p:cNvSpPr/>
          <p:nvPr/>
        </p:nvSpPr>
        <p:spPr>
          <a:xfrm>
            <a:off x="1337310" y="1975104"/>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28"/>
          <p:cNvSpPr/>
          <p:nvPr/>
        </p:nvSpPr>
        <p:spPr>
          <a:xfrm>
            <a:off x="877824" y="216027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8"/>
          <p:cNvSpPr/>
          <p:nvPr/>
        </p:nvSpPr>
        <p:spPr>
          <a:xfrm>
            <a:off x="1474470" y="1796796"/>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2" name="Google Shape;252;p28"/>
          <p:cNvSpPr/>
          <p:nvPr/>
        </p:nvSpPr>
        <p:spPr>
          <a:xfrm>
            <a:off x="2743200" y="2194560"/>
            <a:ext cx="82296" cy="82296"/>
          </a:xfrm>
          <a:prstGeom prst="ellipse">
            <a:avLst/>
          </a:prstGeom>
          <a:solidFill>
            <a:srgbClr val="D1D5DB"/>
          </a:solidFill>
          <a:ln cap="flat" cmpd="sng" w="12700">
            <a:solidFill>
              <a:srgbClr val="D1D5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28"/>
          <p:cNvSpPr/>
          <p:nvPr/>
        </p:nvSpPr>
        <p:spPr>
          <a:xfrm>
            <a:off x="3223260" y="1680210"/>
            <a:ext cx="82296" cy="82296"/>
          </a:xfrm>
          <a:prstGeom prst="ellipse">
            <a:avLst/>
          </a:prstGeom>
          <a:solidFill>
            <a:srgbClr val="D1D5DB"/>
          </a:solidFill>
          <a:ln cap="flat" cmpd="sng" w="12700">
            <a:solidFill>
              <a:srgbClr val="D1D5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28"/>
          <p:cNvSpPr/>
          <p:nvPr/>
        </p:nvSpPr>
        <p:spPr>
          <a:xfrm>
            <a:off x="3600450" y="2297430"/>
            <a:ext cx="82296" cy="82296"/>
          </a:xfrm>
          <a:prstGeom prst="ellipse">
            <a:avLst/>
          </a:prstGeom>
          <a:solidFill>
            <a:srgbClr val="D1D5DB"/>
          </a:solidFill>
          <a:ln cap="flat" cmpd="sng" w="12700">
            <a:solidFill>
              <a:srgbClr val="D1D5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8"/>
          <p:cNvSpPr/>
          <p:nvPr/>
        </p:nvSpPr>
        <p:spPr>
          <a:xfrm>
            <a:off x="3086100" y="2948940"/>
            <a:ext cx="82296" cy="82296"/>
          </a:xfrm>
          <a:prstGeom prst="ellipse">
            <a:avLst/>
          </a:prstGeom>
          <a:solidFill>
            <a:srgbClr val="D1D5DB"/>
          </a:solidFill>
          <a:ln cap="flat" cmpd="sng" w="12700">
            <a:solidFill>
              <a:srgbClr val="D1D5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28"/>
          <p:cNvSpPr/>
          <p:nvPr/>
        </p:nvSpPr>
        <p:spPr>
          <a:xfrm>
            <a:off x="3909060" y="2880360"/>
            <a:ext cx="82296" cy="82296"/>
          </a:xfrm>
          <a:prstGeom prst="ellipse">
            <a:avLst/>
          </a:prstGeom>
          <a:solidFill>
            <a:srgbClr val="D1D5DB"/>
          </a:solidFill>
          <a:ln cap="flat" cmpd="sng" w="12700">
            <a:solidFill>
              <a:srgbClr val="D1D5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8"/>
          <p:cNvSpPr/>
          <p:nvPr/>
        </p:nvSpPr>
        <p:spPr>
          <a:xfrm>
            <a:off x="2606040" y="3017520"/>
            <a:ext cx="82296" cy="82296"/>
          </a:xfrm>
          <a:prstGeom prst="ellipse">
            <a:avLst/>
          </a:prstGeom>
          <a:solidFill>
            <a:srgbClr val="D1D5DB"/>
          </a:solidFill>
          <a:ln cap="flat" cmpd="sng" w="12700">
            <a:solidFill>
              <a:srgbClr val="D1D5D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8"/>
          <p:cNvSpPr/>
          <p:nvPr/>
        </p:nvSpPr>
        <p:spPr>
          <a:xfrm>
            <a:off x="685800" y="3463290"/>
            <a:ext cx="397764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Ask whether points are clustered, dispersed, or random — and at what scale.</a:t>
            </a:r>
            <a:endParaRPr b="0" i="0" sz="1200" u="none" cap="none" strike="noStrike">
              <a:solidFill>
                <a:schemeClr val="dk1"/>
              </a:solidFill>
              <a:latin typeface="Arial"/>
              <a:ea typeface="Arial"/>
              <a:cs typeface="Arial"/>
              <a:sym typeface="Arial"/>
            </a:endParaRPr>
          </a:p>
        </p:txBody>
      </p:sp>
      <p:sp>
        <p:nvSpPr>
          <p:cNvPr id="259" name="Google Shape;259;p28"/>
          <p:cNvSpPr/>
          <p:nvPr/>
        </p:nvSpPr>
        <p:spPr>
          <a:xfrm>
            <a:off x="4903470" y="1131570"/>
            <a:ext cx="29146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i="0" lang="en" sz="1200" u="none" cap="none" strike="noStrike">
                <a:solidFill>
                  <a:srgbClr val="0F766E"/>
                </a:solidFill>
                <a:latin typeface="Arial"/>
                <a:ea typeface="Arial"/>
                <a:cs typeface="Arial"/>
                <a:sym typeface="Arial"/>
              </a:rPr>
              <a:t>MAUP</a:t>
            </a:r>
            <a:endParaRPr b="0" i="0" sz="1200" u="none" cap="none" strike="noStrike">
              <a:solidFill>
                <a:schemeClr val="dk1"/>
              </a:solidFill>
              <a:latin typeface="Arial"/>
              <a:ea typeface="Arial"/>
              <a:cs typeface="Arial"/>
              <a:sym typeface="Arial"/>
            </a:endParaRPr>
          </a:p>
        </p:txBody>
      </p:sp>
      <p:sp>
        <p:nvSpPr>
          <p:cNvPr id="260" name="Google Shape;260;p28"/>
          <p:cNvSpPr/>
          <p:nvPr/>
        </p:nvSpPr>
        <p:spPr>
          <a:xfrm>
            <a:off x="4903470" y="1460754"/>
            <a:ext cx="29146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Changing geographic units can change the apparent pattern.</a:t>
            </a:r>
            <a:endParaRPr b="0" i="0" sz="1100" u="none" cap="none" strike="noStrike">
              <a:solidFill>
                <a:schemeClr val="dk1"/>
              </a:solidFill>
              <a:latin typeface="Arial"/>
              <a:ea typeface="Arial"/>
              <a:cs typeface="Arial"/>
              <a:sym typeface="Arial"/>
            </a:endParaRPr>
          </a:p>
        </p:txBody>
      </p:sp>
      <p:sp>
        <p:nvSpPr>
          <p:cNvPr id="261" name="Google Shape;261;p28"/>
          <p:cNvSpPr/>
          <p:nvPr/>
        </p:nvSpPr>
        <p:spPr>
          <a:xfrm>
            <a:off x="4903470" y="2023110"/>
            <a:ext cx="29146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i="0" lang="en" sz="1200" u="none" cap="none" strike="noStrike">
                <a:solidFill>
                  <a:srgbClr val="2563EB"/>
                </a:solidFill>
                <a:latin typeface="Arial"/>
                <a:ea typeface="Arial"/>
                <a:cs typeface="Arial"/>
                <a:sym typeface="Arial"/>
              </a:rPr>
              <a:t>Ecological fallacy</a:t>
            </a:r>
            <a:endParaRPr b="0" i="0" sz="1200" u="none" cap="none" strike="noStrike">
              <a:solidFill>
                <a:schemeClr val="dk1"/>
              </a:solidFill>
              <a:latin typeface="Arial"/>
              <a:ea typeface="Arial"/>
              <a:cs typeface="Arial"/>
              <a:sym typeface="Arial"/>
            </a:endParaRPr>
          </a:p>
        </p:txBody>
      </p:sp>
      <p:sp>
        <p:nvSpPr>
          <p:cNvPr id="262" name="Google Shape;262;p28"/>
          <p:cNvSpPr/>
          <p:nvPr/>
        </p:nvSpPr>
        <p:spPr>
          <a:xfrm>
            <a:off x="4903470" y="2352294"/>
            <a:ext cx="29146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A group-level pattern may not describe individuals.</a:t>
            </a:r>
            <a:endParaRPr b="0" i="0" sz="1100" u="none" cap="none" strike="noStrike">
              <a:solidFill>
                <a:schemeClr val="dk1"/>
              </a:solidFill>
              <a:latin typeface="Arial"/>
              <a:ea typeface="Arial"/>
              <a:cs typeface="Arial"/>
              <a:sym typeface="Arial"/>
            </a:endParaRPr>
          </a:p>
        </p:txBody>
      </p:sp>
      <p:sp>
        <p:nvSpPr>
          <p:cNvPr id="263" name="Google Shape;263;p28"/>
          <p:cNvSpPr/>
          <p:nvPr/>
        </p:nvSpPr>
        <p:spPr>
          <a:xfrm>
            <a:off x="4903470" y="2914650"/>
            <a:ext cx="29146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Autocorrelation</a:t>
            </a:r>
            <a:endParaRPr b="0" i="0" sz="1200" u="none" cap="none" strike="noStrike">
              <a:solidFill>
                <a:schemeClr val="dk1"/>
              </a:solidFill>
              <a:latin typeface="Arial"/>
              <a:ea typeface="Arial"/>
              <a:cs typeface="Arial"/>
              <a:sym typeface="Arial"/>
            </a:endParaRPr>
          </a:p>
        </p:txBody>
      </p:sp>
      <p:sp>
        <p:nvSpPr>
          <p:cNvPr id="264" name="Google Shape;264;p28"/>
          <p:cNvSpPr/>
          <p:nvPr/>
        </p:nvSpPr>
        <p:spPr>
          <a:xfrm>
            <a:off x="4903470" y="3243834"/>
            <a:ext cx="29146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Nearby or adjacent observations may not be independent.</a:t>
            </a:r>
            <a:endParaRPr b="0" i="0" sz="1100" u="none" cap="none" strike="noStrike">
              <a:solidFill>
                <a:schemeClr val="dk1"/>
              </a:solidFill>
              <a:latin typeface="Arial"/>
              <a:ea typeface="Arial"/>
              <a:cs typeface="Arial"/>
              <a:sym typeface="Arial"/>
            </a:endParaRPr>
          </a:p>
        </p:txBody>
      </p:sp>
      <p:sp>
        <p:nvSpPr>
          <p:cNvPr id="265" name="Google Shape;265;p28"/>
          <p:cNvSpPr/>
          <p:nvPr/>
        </p:nvSpPr>
        <p:spPr>
          <a:xfrm>
            <a:off x="4903470" y="3806190"/>
            <a:ext cx="29146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Boundary design</a:t>
            </a:r>
            <a:endParaRPr b="0" i="0" sz="1200" u="none" cap="none" strike="noStrike">
              <a:solidFill>
                <a:schemeClr val="dk1"/>
              </a:solidFill>
              <a:latin typeface="Arial"/>
              <a:ea typeface="Arial"/>
              <a:cs typeface="Arial"/>
              <a:sym typeface="Arial"/>
            </a:endParaRPr>
          </a:p>
        </p:txBody>
      </p:sp>
      <p:sp>
        <p:nvSpPr>
          <p:cNvPr id="266" name="Google Shape;266;p28"/>
          <p:cNvSpPr/>
          <p:nvPr/>
        </p:nvSpPr>
        <p:spPr>
          <a:xfrm>
            <a:off x="4903470" y="4135374"/>
            <a:ext cx="29146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Political or administrative boundaries can encode incentives.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9"/>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29"/>
          <p:cNvSpPr/>
          <p:nvPr/>
        </p:nvSpPr>
        <p:spPr>
          <a:xfrm>
            <a:off x="0" y="0"/>
            <a:ext cx="9143771" cy="96012"/>
          </a:xfrm>
          <a:prstGeom prst="rect">
            <a:avLst/>
          </a:prstGeom>
          <a:solidFill>
            <a:srgbClr val="2563EB"/>
          </a:solidFill>
          <a:ln cap="flat" cmpd="sng" w="12700">
            <a:solidFill>
              <a:srgbClr val="2563E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4" name="Google Shape;274;p29"/>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OLS regression: what the line is doing</a:t>
            </a:r>
            <a:endParaRPr b="0" i="0" sz="2300" u="none" cap="none" strike="noStrike">
              <a:solidFill>
                <a:schemeClr val="dk1"/>
              </a:solidFill>
              <a:latin typeface="Arial"/>
              <a:ea typeface="Arial"/>
              <a:cs typeface="Arial"/>
              <a:sym typeface="Arial"/>
            </a:endParaRPr>
          </a:p>
        </p:txBody>
      </p:sp>
      <p:sp>
        <p:nvSpPr>
          <p:cNvPr id="275" name="Google Shape;275;p29"/>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A fitted line summarizes a conditional relationship.</a:t>
            </a:r>
            <a:endParaRPr b="0" i="0" sz="1000" u="none" cap="none" strike="noStrike">
              <a:solidFill>
                <a:schemeClr val="dk1"/>
              </a:solidFill>
              <a:latin typeface="Arial"/>
              <a:ea typeface="Arial"/>
              <a:cs typeface="Arial"/>
              <a:sym typeface="Arial"/>
            </a:endParaRPr>
          </a:p>
        </p:txBody>
      </p:sp>
      <p:sp>
        <p:nvSpPr>
          <p:cNvPr id="276" name="Google Shape;276;p29"/>
          <p:cNvSpPr/>
          <p:nvPr/>
        </p:nvSpPr>
        <p:spPr>
          <a:xfrm>
            <a:off x="651510" y="1062990"/>
            <a:ext cx="349758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2600"/>
              <a:buFont typeface="Play"/>
              <a:buNone/>
            </a:pPr>
            <a:r>
              <a:rPr b="1" i="0" lang="en" sz="2600" u="none" cap="none" strike="noStrike">
                <a:solidFill>
                  <a:srgbClr val="2563EB"/>
                </a:solidFill>
                <a:latin typeface="Play"/>
                <a:ea typeface="Play"/>
                <a:cs typeface="Play"/>
                <a:sym typeface="Play"/>
              </a:rPr>
              <a:t>y = β₀ + β₁x + ε</a:t>
            </a:r>
            <a:endParaRPr b="0" i="0" sz="2600" u="none" cap="none" strike="noStrike">
              <a:solidFill>
                <a:schemeClr val="dk1"/>
              </a:solidFill>
              <a:latin typeface="Arial"/>
              <a:ea typeface="Arial"/>
              <a:cs typeface="Arial"/>
              <a:sym typeface="Arial"/>
            </a:endParaRPr>
          </a:p>
        </p:txBody>
      </p:sp>
      <p:cxnSp>
        <p:nvCxnSpPr>
          <p:cNvPr id="277" name="Google Shape;277;p29"/>
          <p:cNvCxnSpPr/>
          <p:nvPr/>
        </p:nvCxnSpPr>
        <p:spPr>
          <a:xfrm>
            <a:off x="788670" y="3874770"/>
            <a:ext cx="3669030" cy="0"/>
          </a:xfrm>
          <a:prstGeom prst="straightConnector1">
            <a:avLst/>
          </a:prstGeom>
          <a:noFill/>
          <a:ln cap="flat" cmpd="sng" w="15225">
            <a:solidFill>
              <a:srgbClr val="6B7280"/>
            </a:solidFill>
            <a:prstDash val="solid"/>
            <a:round/>
            <a:headEnd len="sm" w="sm" type="none"/>
            <a:tailEnd len="sm" w="sm" type="none"/>
          </a:ln>
        </p:spPr>
      </p:cxnSp>
      <p:cxnSp>
        <p:nvCxnSpPr>
          <p:cNvPr id="278" name="Google Shape;278;p29"/>
          <p:cNvCxnSpPr/>
          <p:nvPr/>
        </p:nvCxnSpPr>
        <p:spPr>
          <a:xfrm rot="10800000">
            <a:off x="788670" y="1714500"/>
            <a:ext cx="0" cy="2160270"/>
          </a:xfrm>
          <a:prstGeom prst="straightConnector1">
            <a:avLst/>
          </a:prstGeom>
          <a:noFill/>
          <a:ln cap="flat" cmpd="sng" w="15225">
            <a:solidFill>
              <a:srgbClr val="6B7280"/>
            </a:solidFill>
            <a:prstDash val="solid"/>
            <a:round/>
            <a:headEnd len="sm" w="sm" type="none"/>
            <a:tailEnd len="sm" w="sm" type="none"/>
          </a:ln>
        </p:spPr>
      </p:cxnSp>
      <p:sp>
        <p:nvSpPr>
          <p:cNvPr id="279" name="Google Shape;279;p29"/>
          <p:cNvSpPr/>
          <p:nvPr/>
        </p:nvSpPr>
        <p:spPr>
          <a:xfrm>
            <a:off x="1062990" y="342900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9"/>
          <p:cNvSpPr/>
          <p:nvPr/>
        </p:nvSpPr>
        <p:spPr>
          <a:xfrm>
            <a:off x="1371600" y="318897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9"/>
          <p:cNvSpPr/>
          <p:nvPr/>
        </p:nvSpPr>
        <p:spPr>
          <a:xfrm>
            <a:off x="1714500" y="294894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29"/>
          <p:cNvSpPr/>
          <p:nvPr/>
        </p:nvSpPr>
        <p:spPr>
          <a:xfrm>
            <a:off x="2125980" y="264033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29"/>
          <p:cNvSpPr/>
          <p:nvPr/>
        </p:nvSpPr>
        <p:spPr>
          <a:xfrm>
            <a:off x="2434590" y="236601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9"/>
          <p:cNvSpPr/>
          <p:nvPr/>
        </p:nvSpPr>
        <p:spPr>
          <a:xfrm>
            <a:off x="2846070" y="216027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29"/>
          <p:cNvSpPr/>
          <p:nvPr/>
        </p:nvSpPr>
        <p:spPr>
          <a:xfrm>
            <a:off x="3291840" y="188595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6" name="Google Shape;286;p29"/>
          <p:cNvSpPr/>
          <p:nvPr/>
        </p:nvSpPr>
        <p:spPr>
          <a:xfrm>
            <a:off x="3737610" y="1645920"/>
            <a:ext cx="89154" cy="89154"/>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287" name="Google Shape;287;p29"/>
          <p:cNvCxnSpPr/>
          <p:nvPr/>
        </p:nvCxnSpPr>
        <p:spPr>
          <a:xfrm flipH="1" rot="10800000">
            <a:off x="994410" y="1783080"/>
            <a:ext cx="2914650" cy="1680210"/>
          </a:xfrm>
          <a:prstGeom prst="straightConnector1">
            <a:avLst/>
          </a:prstGeom>
          <a:noFill/>
          <a:ln cap="flat" cmpd="sng" w="26650">
            <a:solidFill>
              <a:srgbClr val="E11D48"/>
            </a:solidFill>
            <a:prstDash val="solid"/>
            <a:round/>
            <a:headEnd len="sm" w="sm" type="none"/>
            <a:tailEnd len="sm" w="sm" type="none"/>
          </a:ln>
        </p:spPr>
      </p:cxnSp>
      <p:sp>
        <p:nvSpPr>
          <p:cNvPr id="288" name="Google Shape;288;p29"/>
          <p:cNvSpPr/>
          <p:nvPr/>
        </p:nvSpPr>
        <p:spPr>
          <a:xfrm>
            <a:off x="4800600" y="1200150"/>
            <a:ext cx="315468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i="0" lang="en" sz="1200" u="none" cap="none" strike="noStrike">
                <a:solidFill>
                  <a:srgbClr val="2563EB"/>
                </a:solidFill>
                <a:latin typeface="Arial"/>
                <a:ea typeface="Arial"/>
                <a:cs typeface="Arial"/>
                <a:sym typeface="Arial"/>
              </a:rPr>
              <a:t>β coefficient</a:t>
            </a:r>
            <a:endParaRPr b="0" i="0" sz="1200" u="none" cap="none" strike="noStrike">
              <a:solidFill>
                <a:schemeClr val="dk1"/>
              </a:solidFill>
              <a:latin typeface="Arial"/>
              <a:ea typeface="Arial"/>
              <a:cs typeface="Arial"/>
              <a:sym typeface="Arial"/>
            </a:endParaRPr>
          </a:p>
        </p:txBody>
      </p:sp>
      <p:sp>
        <p:nvSpPr>
          <p:cNvPr id="289" name="Google Shape;289;p29"/>
          <p:cNvSpPr/>
          <p:nvPr/>
        </p:nvSpPr>
        <p:spPr>
          <a:xfrm>
            <a:off x="4800600" y="1529334"/>
            <a:ext cx="315468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Direction and magnitude of the estimated relationship, conditional on the model.</a:t>
            </a:r>
            <a:endParaRPr b="0" i="0" sz="1100" u="none" cap="none" strike="noStrike">
              <a:solidFill>
                <a:schemeClr val="dk1"/>
              </a:solidFill>
              <a:latin typeface="Arial"/>
              <a:ea typeface="Arial"/>
              <a:cs typeface="Arial"/>
              <a:sym typeface="Arial"/>
            </a:endParaRPr>
          </a:p>
        </p:txBody>
      </p:sp>
      <p:sp>
        <p:nvSpPr>
          <p:cNvPr id="290" name="Google Shape;290;p29"/>
          <p:cNvSpPr/>
          <p:nvPr/>
        </p:nvSpPr>
        <p:spPr>
          <a:xfrm>
            <a:off x="4800600" y="2194560"/>
            <a:ext cx="315468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i="0" lang="en" sz="1200" u="none" cap="none" strike="noStrike">
                <a:solidFill>
                  <a:srgbClr val="0F766E"/>
                </a:solidFill>
                <a:latin typeface="Arial"/>
                <a:ea typeface="Arial"/>
                <a:cs typeface="Arial"/>
                <a:sym typeface="Arial"/>
              </a:rPr>
              <a:t>Standard error</a:t>
            </a:r>
            <a:endParaRPr b="0" i="0" sz="1200" u="none" cap="none" strike="noStrike">
              <a:solidFill>
                <a:schemeClr val="dk1"/>
              </a:solidFill>
              <a:latin typeface="Arial"/>
              <a:ea typeface="Arial"/>
              <a:cs typeface="Arial"/>
              <a:sym typeface="Arial"/>
            </a:endParaRPr>
          </a:p>
        </p:txBody>
      </p:sp>
      <p:sp>
        <p:nvSpPr>
          <p:cNvPr id="291" name="Google Shape;291;p29"/>
          <p:cNvSpPr/>
          <p:nvPr/>
        </p:nvSpPr>
        <p:spPr>
          <a:xfrm>
            <a:off x="4800600" y="2523744"/>
            <a:ext cx="315468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Sampling uncertainty around the coefficient estimate.</a:t>
            </a:r>
            <a:endParaRPr b="0" i="0" sz="1100" u="none" cap="none" strike="noStrike">
              <a:solidFill>
                <a:schemeClr val="dk1"/>
              </a:solidFill>
              <a:latin typeface="Arial"/>
              <a:ea typeface="Arial"/>
              <a:cs typeface="Arial"/>
              <a:sym typeface="Arial"/>
            </a:endParaRPr>
          </a:p>
        </p:txBody>
      </p:sp>
      <p:sp>
        <p:nvSpPr>
          <p:cNvPr id="292" name="Google Shape;292;p29"/>
          <p:cNvSpPr/>
          <p:nvPr/>
        </p:nvSpPr>
        <p:spPr>
          <a:xfrm>
            <a:off x="4800600" y="3086100"/>
            <a:ext cx="315468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Confidence band</a:t>
            </a:r>
            <a:endParaRPr b="0" i="0" sz="1200" u="none" cap="none" strike="noStrike">
              <a:solidFill>
                <a:schemeClr val="dk1"/>
              </a:solidFill>
              <a:latin typeface="Arial"/>
              <a:ea typeface="Arial"/>
              <a:cs typeface="Arial"/>
              <a:sym typeface="Arial"/>
            </a:endParaRPr>
          </a:p>
        </p:txBody>
      </p:sp>
      <p:sp>
        <p:nvSpPr>
          <p:cNvPr id="293" name="Google Shape;293;p29"/>
          <p:cNvSpPr/>
          <p:nvPr/>
        </p:nvSpPr>
        <p:spPr>
          <a:xfrm>
            <a:off x="4800600" y="3415284"/>
            <a:ext cx="315468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Uncertainty around the fitted mean relationship, not the full range of outcomes.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30"/>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30"/>
          <p:cNvSpPr/>
          <p:nvPr/>
        </p:nvSpPr>
        <p:spPr>
          <a:xfrm>
            <a:off x="0" y="0"/>
            <a:ext cx="9143771" cy="96012"/>
          </a:xfrm>
          <a:prstGeom prst="rect">
            <a:avLst/>
          </a:prstGeom>
          <a:solidFill>
            <a:srgbClr val="F59E0B"/>
          </a:solidFill>
          <a:ln cap="flat" cmpd="sng" w="12700">
            <a:solidFill>
              <a:srgbClr val="F59E0B">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30"/>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Model fit versus model complexity</a:t>
            </a:r>
            <a:endParaRPr b="0" i="0" sz="2300" u="none" cap="none" strike="noStrike">
              <a:solidFill>
                <a:schemeClr val="dk1"/>
              </a:solidFill>
              <a:latin typeface="Arial"/>
              <a:ea typeface="Arial"/>
              <a:cs typeface="Arial"/>
              <a:sym typeface="Arial"/>
            </a:endParaRPr>
          </a:p>
        </p:txBody>
      </p:sp>
      <p:sp>
        <p:nvSpPr>
          <p:cNvPr id="302" name="Google Shape;302;p30"/>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Adding predictors changes both fit and penalty-based metrics.</a:t>
            </a:r>
            <a:endParaRPr b="0" i="0" sz="1000" u="none" cap="none" strike="noStrike">
              <a:solidFill>
                <a:schemeClr val="dk1"/>
              </a:solidFill>
              <a:latin typeface="Arial"/>
              <a:ea typeface="Arial"/>
              <a:cs typeface="Arial"/>
              <a:sym typeface="Arial"/>
            </a:endParaRPr>
          </a:p>
        </p:txBody>
      </p:sp>
      <p:sp>
        <p:nvSpPr>
          <p:cNvPr id="303" name="Google Shape;303;p30"/>
          <p:cNvSpPr/>
          <p:nvPr/>
        </p:nvSpPr>
        <p:spPr>
          <a:xfrm>
            <a:off x="651510" y="1131570"/>
            <a:ext cx="1645920" cy="582930"/>
          </a:xfrm>
          <a:prstGeom prst="rect">
            <a:avLst/>
          </a:prstGeom>
          <a:solidFill>
            <a:srgbClr val="F3F4F6"/>
          </a:solidFill>
          <a:ln cap="flat" cmpd="sng" w="9525">
            <a:solidFill>
              <a:srgbClr val="D1D5DB">
                <a:alpha val="70196"/>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2563EB"/>
              </a:buClr>
              <a:buSzPts val="2300"/>
              <a:buFont typeface="Play"/>
              <a:buNone/>
            </a:pPr>
            <a:r>
              <a:rPr b="1" i="0" lang="en" sz="2300" u="none" cap="none" strike="noStrike">
                <a:solidFill>
                  <a:srgbClr val="2563EB"/>
                </a:solidFill>
                <a:latin typeface="Play"/>
                <a:ea typeface="Play"/>
                <a:cs typeface="Play"/>
                <a:sym typeface="Play"/>
              </a:rPr>
              <a:t>R²</a:t>
            </a:r>
            <a:endParaRPr b="0" i="0" sz="2300" u="none" cap="none" strike="noStrike">
              <a:solidFill>
                <a:schemeClr val="dk1"/>
              </a:solidFill>
              <a:latin typeface="Arial"/>
              <a:ea typeface="Arial"/>
              <a:cs typeface="Arial"/>
              <a:sym typeface="Arial"/>
            </a:endParaRPr>
          </a:p>
        </p:txBody>
      </p:sp>
      <p:sp>
        <p:nvSpPr>
          <p:cNvPr id="304" name="Google Shape;304;p30"/>
          <p:cNvSpPr/>
          <p:nvPr/>
        </p:nvSpPr>
        <p:spPr>
          <a:xfrm>
            <a:off x="2743200" y="1131570"/>
            <a:ext cx="2194560" cy="582930"/>
          </a:xfrm>
          <a:prstGeom prst="rect">
            <a:avLst/>
          </a:prstGeom>
          <a:solidFill>
            <a:srgbClr val="F3F4F6"/>
          </a:solidFill>
          <a:ln cap="flat" cmpd="sng" w="9525">
            <a:solidFill>
              <a:srgbClr val="D1D5DB">
                <a:alpha val="70196"/>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0F766E"/>
              </a:buClr>
              <a:buSzPts val="2300"/>
              <a:buFont typeface="Play"/>
              <a:buNone/>
            </a:pPr>
            <a:r>
              <a:rPr b="1" i="0" lang="en" sz="2300" u="none" cap="none" strike="noStrike">
                <a:solidFill>
                  <a:srgbClr val="0F766E"/>
                </a:solidFill>
                <a:latin typeface="Play"/>
                <a:ea typeface="Play"/>
                <a:cs typeface="Play"/>
                <a:sym typeface="Play"/>
              </a:rPr>
              <a:t>adjusted R²</a:t>
            </a:r>
            <a:endParaRPr b="0" i="0" sz="2300" u="none" cap="none" strike="noStrike">
              <a:solidFill>
                <a:schemeClr val="dk1"/>
              </a:solidFill>
              <a:latin typeface="Arial"/>
              <a:ea typeface="Arial"/>
              <a:cs typeface="Arial"/>
              <a:sym typeface="Arial"/>
            </a:endParaRPr>
          </a:p>
        </p:txBody>
      </p:sp>
      <p:sp>
        <p:nvSpPr>
          <p:cNvPr id="305" name="Google Shape;305;p30"/>
          <p:cNvSpPr/>
          <p:nvPr/>
        </p:nvSpPr>
        <p:spPr>
          <a:xfrm>
            <a:off x="5486400" y="1131570"/>
            <a:ext cx="1645920" cy="582930"/>
          </a:xfrm>
          <a:prstGeom prst="rect">
            <a:avLst/>
          </a:prstGeom>
          <a:solidFill>
            <a:srgbClr val="F3F4F6"/>
          </a:solidFill>
          <a:ln cap="flat" cmpd="sng" w="9525">
            <a:solidFill>
              <a:srgbClr val="D1D5DB">
                <a:alpha val="70196"/>
              </a:srgbClr>
            </a:solidFill>
            <a:prstDash val="solid"/>
            <a:round/>
            <a:headEnd len="sm" w="sm" type="none"/>
            <a:tailEnd len="sm" w="sm" type="none"/>
          </a:ln>
        </p:spPr>
        <p:txBody>
          <a:bodyPr anchorCtr="0" anchor="ctr" bIns="275" lIns="275" spcFirstLastPara="1" rIns="275" wrap="square" tIns="275">
            <a:noAutofit/>
          </a:bodyPr>
          <a:lstStyle/>
          <a:p>
            <a:pPr indent="0" lvl="0" marL="0" marR="0" rtl="0" algn="ctr">
              <a:spcBef>
                <a:spcPts val="0"/>
              </a:spcBef>
              <a:spcAft>
                <a:spcPts val="0"/>
              </a:spcAft>
              <a:buClr>
                <a:srgbClr val="F59E0B"/>
              </a:buClr>
              <a:buSzPts val="2300"/>
              <a:buFont typeface="Play"/>
              <a:buNone/>
            </a:pPr>
            <a:r>
              <a:rPr b="1" i="0" lang="en" sz="2300" u="none" cap="none" strike="noStrike">
                <a:solidFill>
                  <a:srgbClr val="F59E0B"/>
                </a:solidFill>
                <a:latin typeface="Play"/>
                <a:ea typeface="Play"/>
                <a:cs typeface="Play"/>
                <a:sym typeface="Play"/>
              </a:rPr>
              <a:t>BIC</a:t>
            </a:r>
            <a:endParaRPr b="0" i="0" sz="2300" u="none" cap="none" strike="noStrike">
              <a:solidFill>
                <a:schemeClr val="dk1"/>
              </a:solidFill>
              <a:latin typeface="Arial"/>
              <a:ea typeface="Arial"/>
              <a:cs typeface="Arial"/>
              <a:sym typeface="Arial"/>
            </a:endParaRPr>
          </a:p>
        </p:txBody>
      </p:sp>
      <p:sp>
        <p:nvSpPr>
          <p:cNvPr id="306" name="Google Shape;306;p30"/>
          <p:cNvSpPr/>
          <p:nvPr/>
        </p:nvSpPr>
        <p:spPr>
          <a:xfrm>
            <a:off x="651510" y="2057400"/>
            <a:ext cx="212598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i="0" lang="en" sz="1200" u="none" cap="none" strike="noStrike">
                <a:solidFill>
                  <a:srgbClr val="2563EB"/>
                </a:solidFill>
                <a:latin typeface="Arial"/>
                <a:ea typeface="Arial"/>
                <a:cs typeface="Arial"/>
                <a:sym typeface="Arial"/>
              </a:rPr>
              <a:t>Raw fit</a:t>
            </a:r>
            <a:endParaRPr b="0" i="0" sz="1200" u="none" cap="none" strike="noStrike">
              <a:solidFill>
                <a:schemeClr val="dk1"/>
              </a:solidFill>
              <a:latin typeface="Arial"/>
              <a:ea typeface="Arial"/>
              <a:cs typeface="Arial"/>
              <a:sym typeface="Arial"/>
            </a:endParaRPr>
          </a:p>
        </p:txBody>
      </p:sp>
      <p:sp>
        <p:nvSpPr>
          <p:cNvPr id="307" name="Google Shape;307;p30"/>
          <p:cNvSpPr/>
          <p:nvPr/>
        </p:nvSpPr>
        <p:spPr>
          <a:xfrm>
            <a:off x="651510" y="2386584"/>
            <a:ext cx="21259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How much variation is explained by the fitted values?</a:t>
            </a:r>
            <a:endParaRPr b="0" i="0" sz="1100" u="none" cap="none" strike="noStrike">
              <a:solidFill>
                <a:schemeClr val="dk1"/>
              </a:solidFill>
              <a:latin typeface="Arial"/>
              <a:ea typeface="Arial"/>
              <a:cs typeface="Arial"/>
              <a:sym typeface="Arial"/>
            </a:endParaRPr>
          </a:p>
        </p:txBody>
      </p:sp>
      <p:sp>
        <p:nvSpPr>
          <p:cNvPr id="308" name="Google Shape;308;p30"/>
          <p:cNvSpPr/>
          <p:nvPr/>
        </p:nvSpPr>
        <p:spPr>
          <a:xfrm>
            <a:off x="2914650" y="2057400"/>
            <a:ext cx="23317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i="0" lang="en" sz="1200" u="none" cap="none" strike="noStrike">
                <a:solidFill>
                  <a:srgbClr val="0F766E"/>
                </a:solidFill>
                <a:latin typeface="Arial"/>
                <a:ea typeface="Arial"/>
                <a:cs typeface="Arial"/>
                <a:sym typeface="Arial"/>
              </a:rPr>
              <a:t>Fit with a predictor penalty</a:t>
            </a:r>
            <a:endParaRPr b="0" i="0" sz="1200" u="none" cap="none" strike="noStrike">
              <a:solidFill>
                <a:schemeClr val="dk1"/>
              </a:solidFill>
              <a:latin typeface="Arial"/>
              <a:ea typeface="Arial"/>
              <a:cs typeface="Arial"/>
              <a:sym typeface="Arial"/>
            </a:endParaRPr>
          </a:p>
        </p:txBody>
      </p:sp>
      <p:sp>
        <p:nvSpPr>
          <p:cNvPr id="309" name="Google Shape;309;p30"/>
          <p:cNvSpPr/>
          <p:nvPr/>
        </p:nvSpPr>
        <p:spPr>
          <a:xfrm>
            <a:off x="2914650" y="2386584"/>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Does the new predictor improve the model enough to justify its complexity?</a:t>
            </a:r>
            <a:endParaRPr b="0" i="0" sz="1100" u="none" cap="none" strike="noStrike">
              <a:solidFill>
                <a:schemeClr val="dk1"/>
              </a:solidFill>
              <a:latin typeface="Arial"/>
              <a:ea typeface="Arial"/>
              <a:cs typeface="Arial"/>
              <a:sym typeface="Arial"/>
            </a:endParaRPr>
          </a:p>
        </p:txBody>
      </p:sp>
      <p:sp>
        <p:nvSpPr>
          <p:cNvPr id="310" name="Google Shape;310;p30"/>
          <p:cNvSpPr/>
          <p:nvPr/>
        </p:nvSpPr>
        <p:spPr>
          <a:xfrm>
            <a:off x="5520690" y="2057400"/>
            <a:ext cx="23317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Information criterion</a:t>
            </a:r>
            <a:endParaRPr b="0" i="0" sz="1200" u="none" cap="none" strike="noStrike">
              <a:solidFill>
                <a:schemeClr val="dk1"/>
              </a:solidFill>
              <a:latin typeface="Arial"/>
              <a:ea typeface="Arial"/>
              <a:cs typeface="Arial"/>
              <a:sym typeface="Arial"/>
            </a:endParaRPr>
          </a:p>
        </p:txBody>
      </p:sp>
      <p:sp>
        <p:nvSpPr>
          <p:cNvPr id="311" name="Google Shape;311;p30"/>
          <p:cNvSpPr/>
          <p:nvPr/>
        </p:nvSpPr>
        <p:spPr>
          <a:xfrm>
            <a:off x="5520690" y="2386584"/>
            <a:ext cx="2331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Arial"/>
              <a:buNone/>
            </a:pPr>
            <a:r>
              <a:rPr b="0" i="0" lang="en" sz="1100" u="none" cap="none" strike="noStrike">
                <a:solidFill>
                  <a:srgbClr val="374151"/>
                </a:solidFill>
                <a:latin typeface="Arial"/>
                <a:ea typeface="Arial"/>
                <a:cs typeface="Arial"/>
                <a:sym typeface="Arial"/>
              </a:rPr>
              <a:t>Compare candidate models while accounting for likelihood and parameter count.</a:t>
            </a:r>
            <a:endParaRPr b="0" i="0" sz="1100" u="none" cap="none" strike="noStrike">
              <a:solidFill>
                <a:schemeClr val="dk1"/>
              </a:solidFill>
              <a:latin typeface="Arial"/>
              <a:ea typeface="Arial"/>
              <a:cs typeface="Arial"/>
              <a:sym typeface="Arial"/>
            </a:endParaRPr>
          </a:p>
        </p:txBody>
      </p:sp>
      <p:sp>
        <p:nvSpPr>
          <p:cNvPr id="312" name="Google Shape;312;p30"/>
          <p:cNvSpPr/>
          <p:nvPr/>
        </p:nvSpPr>
        <p:spPr>
          <a:xfrm>
            <a:off x="685800" y="3806190"/>
            <a:ext cx="61722" cy="411480"/>
          </a:xfrm>
          <a:prstGeom prst="rect">
            <a:avLst/>
          </a:prstGeom>
          <a:solidFill>
            <a:srgbClr val="E11D48"/>
          </a:solidFill>
          <a:ln cap="flat" cmpd="sng" w="12700">
            <a:solidFill>
              <a:srgbClr val="E11D48">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30"/>
          <p:cNvSpPr/>
          <p:nvPr/>
        </p:nvSpPr>
        <p:spPr>
          <a:xfrm>
            <a:off x="809244" y="3806190"/>
            <a:ext cx="106299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800"/>
              <a:buFont typeface="Arial"/>
              <a:buNone/>
            </a:pPr>
            <a:r>
              <a:rPr b="1" lang="en" sz="800">
                <a:solidFill>
                  <a:srgbClr val="E11D48"/>
                </a:solidFill>
              </a:rPr>
              <a:t>Reminder</a:t>
            </a:r>
            <a:endParaRPr b="0" i="0" sz="800" u="none" cap="none" strike="noStrike">
              <a:solidFill>
                <a:schemeClr val="dk1"/>
              </a:solidFill>
              <a:latin typeface="Arial"/>
              <a:ea typeface="Arial"/>
              <a:cs typeface="Arial"/>
              <a:sym typeface="Arial"/>
            </a:endParaRPr>
          </a:p>
        </p:txBody>
      </p:sp>
      <p:sp>
        <p:nvSpPr>
          <p:cNvPr id="314" name="Google Shape;314;p30"/>
          <p:cNvSpPr/>
          <p:nvPr/>
        </p:nvSpPr>
        <p:spPr>
          <a:xfrm>
            <a:off x="1885950" y="3963924"/>
            <a:ext cx="610362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Arial"/>
              <a:buNone/>
            </a:pPr>
            <a:r>
              <a:rPr b="0" i="0" lang="en" sz="1300" u="none" cap="none" strike="noStrike">
                <a:solidFill>
                  <a:srgbClr val="374151"/>
                </a:solidFill>
                <a:latin typeface="Arial"/>
                <a:ea typeface="Arial"/>
                <a:cs typeface="Arial"/>
                <a:sym typeface="Arial"/>
              </a:rPr>
              <a:t>Practice predicting the direction each metric might move when you add useful versus irrelevant predictors.</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31"/>
          <p:cNvSpPr/>
          <p:nvPr/>
        </p:nvSpPr>
        <p:spPr>
          <a:xfrm>
            <a:off x="0" y="0"/>
            <a:ext cx="9143771" cy="5143500"/>
          </a:xfrm>
          <a:prstGeom prst="rect">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31"/>
          <p:cNvSpPr/>
          <p:nvPr/>
        </p:nvSpPr>
        <p:spPr>
          <a:xfrm>
            <a:off x="0" y="0"/>
            <a:ext cx="9143771" cy="96012"/>
          </a:xfrm>
          <a:prstGeom prst="rect">
            <a:avLst/>
          </a:prstGeom>
          <a:solidFill>
            <a:srgbClr val="7C3AED"/>
          </a:solidFill>
          <a:ln cap="flat" cmpd="sng" w="12700">
            <a:solidFill>
              <a:srgbClr val="7C3AED">
                <a:alpha val="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31"/>
          <p:cNvSpPr/>
          <p:nvPr/>
        </p:nvSpPr>
        <p:spPr>
          <a:xfrm>
            <a:off x="445770" y="315468"/>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300"/>
              <a:buFont typeface="Play"/>
              <a:buNone/>
            </a:pPr>
            <a:r>
              <a:rPr b="1" i="0" lang="en" sz="2300" u="none" cap="none" strike="noStrike">
                <a:solidFill>
                  <a:srgbClr val="111827"/>
                </a:solidFill>
                <a:latin typeface="Play"/>
                <a:ea typeface="Play"/>
                <a:cs typeface="Play"/>
                <a:sym typeface="Play"/>
              </a:rPr>
              <a:t>OLS diagnostics and failure modes</a:t>
            </a:r>
            <a:endParaRPr b="0" i="0" sz="2300" u="none" cap="none" strike="noStrike">
              <a:solidFill>
                <a:schemeClr val="dk1"/>
              </a:solidFill>
              <a:latin typeface="Arial"/>
              <a:ea typeface="Arial"/>
              <a:cs typeface="Arial"/>
              <a:sym typeface="Arial"/>
            </a:endParaRPr>
          </a:p>
        </p:txBody>
      </p:sp>
      <p:sp>
        <p:nvSpPr>
          <p:cNvPr id="323" name="Google Shape;323;p31"/>
          <p:cNvSpPr/>
          <p:nvPr/>
        </p:nvSpPr>
        <p:spPr>
          <a:xfrm>
            <a:off x="466344" y="713232"/>
            <a:ext cx="802386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Arial"/>
              <a:buNone/>
            </a:pPr>
            <a:r>
              <a:rPr b="0" i="0" lang="en" sz="1000" u="none" cap="none" strike="noStrike">
                <a:solidFill>
                  <a:srgbClr val="374151"/>
                </a:solidFill>
                <a:latin typeface="Arial"/>
                <a:ea typeface="Arial"/>
                <a:cs typeface="Arial"/>
                <a:sym typeface="Arial"/>
              </a:rPr>
              <a:t>A good-looking line is not enough.</a:t>
            </a:r>
            <a:endParaRPr b="0" i="0" sz="1000" u="none" cap="none" strike="noStrike">
              <a:solidFill>
                <a:schemeClr val="dk1"/>
              </a:solidFill>
              <a:latin typeface="Arial"/>
              <a:ea typeface="Arial"/>
              <a:cs typeface="Arial"/>
              <a:sym typeface="Arial"/>
            </a:endParaRPr>
          </a:p>
        </p:txBody>
      </p:sp>
      <p:sp>
        <p:nvSpPr>
          <p:cNvPr id="324" name="Google Shape;324;p31"/>
          <p:cNvSpPr/>
          <p:nvPr/>
        </p:nvSpPr>
        <p:spPr>
          <a:xfrm>
            <a:off x="685800" y="1062990"/>
            <a:ext cx="181737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Arial"/>
              <a:buNone/>
            </a:pPr>
            <a:r>
              <a:rPr b="1" i="0" lang="en" sz="1200" u="none" cap="none" strike="noStrike">
                <a:solidFill>
                  <a:srgbClr val="2563EB"/>
                </a:solidFill>
                <a:latin typeface="Arial"/>
                <a:ea typeface="Arial"/>
                <a:cs typeface="Arial"/>
                <a:sym typeface="Arial"/>
              </a:rPr>
              <a:t>Linearity</a:t>
            </a:r>
            <a:endParaRPr b="0" i="0" sz="1200" u="none" cap="none" strike="noStrike">
              <a:solidFill>
                <a:schemeClr val="dk1"/>
              </a:solidFill>
              <a:latin typeface="Arial"/>
              <a:ea typeface="Arial"/>
              <a:cs typeface="Arial"/>
              <a:sym typeface="Arial"/>
            </a:endParaRPr>
          </a:p>
        </p:txBody>
      </p:sp>
      <p:sp>
        <p:nvSpPr>
          <p:cNvPr id="325" name="Google Shape;325;p31"/>
          <p:cNvSpPr/>
          <p:nvPr/>
        </p:nvSpPr>
        <p:spPr>
          <a:xfrm>
            <a:off x="2674620" y="1062990"/>
            <a:ext cx="5349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Mean relationship is represented by the model form.</a:t>
            </a:r>
            <a:endParaRPr b="0" i="0" sz="1200" u="none" cap="none" strike="noStrike">
              <a:solidFill>
                <a:schemeClr val="dk1"/>
              </a:solidFill>
              <a:latin typeface="Arial"/>
              <a:ea typeface="Arial"/>
              <a:cs typeface="Arial"/>
              <a:sym typeface="Arial"/>
            </a:endParaRPr>
          </a:p>
        </p:txBody>
      </p:sp>
      <p:sp>
        <p:nvSpPr>
          <p:cNvPr id="326" name="Google Shape;326;p31"/>
          <p:cNvSpPr/>
          <p:nvPr/>
        </p:nvSpPr>
        <p:spPr>
          <a:xfrm>
            <a:off x="685800" y="1652778"/>
            <a:ext cx="181737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Arial"/>
              <a:buNone/>
            </a:pPr>
            <a:r>
              <a:rPr b="1" i="0" lang="en" sz="1200" u="none" cap="none" strike="noStrike">
                <a:solidFill>
                  <a:srgbClr val="0F766E"/>
                </a:solidFill>
                <a:latin typeface="Arial"/>
                <a:ea typeface="Arial"/>
                <a:cs typeface="Arial"/>
                <a:sym typeface="Arial"/>
              </a:rPr>
              <a:t>Independence</a:t>
            </a:r>
            <a:endParaRPr b="0" i="0" sz="1200" u="none" cap="none" strike="noStrike">
              <a:solidFill>
                <a:schemeClr val="dk1"/>
              </a:solidFill>
              <a:latin typeface="Arial"/>
              <a:ea typeface="Arial"/>
              <a:cs typeface="Arial"/>
              <a:sym typeface="Arial"/>
            </a:endParaRPr>
          </a:p>
        </p:txBody>
      </p:sp>
      <p:sp>
        <p:nvSpPr>
          <p:cNvPr id="327" name="Google Shape;327;p31"/>
          <p:cNvSpPr/>
          <p:nvPr/>
        </p:nvSpPr>
        <p:spPr>
          <a:xfrm>
            <a:off x="2674620" y="1652778"/>
            <a:ext cx="5349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Residuals are not correlated across observations.</a:t>
            </a:r>
            <a:endParaRPr b="0" i="0" sz="1200" u="none" cap="none" strike="noStrike">
              <a:solidFill>
                <a:schemeClr val="dk1"/>
              </a:solidFill>
              <a:latin typeface="Arial"/>
              <a:ea typeface="Arial"/>
              <a:cs typeface="Arial"/>
              <a:sym typeface="Arial"/>
            </a:endParaRPr>
          </a:p>
        </p:txBody>
      </p:sp>
      <p:sp>
        <p:nvSpPr>
          <p:cNvPr id="328" name="Google Shape;328;p31"/>
          <p:cNvSpPr/>
          <p:nvPr/>
        </p:nvSpPr>
        <p:spPr>
          <a:xfrm>
            <a:off x="685800" y="2242566"/>
            <a:ext cx="181737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Homoscedasticity</a:t>
            </a:r>
            <a:endParaRPr b="0" i="0" sz="1200" u="none" cap="none" strike="noStrike">
              <a:solidFill>
                <a:schemeClr val="dk1"/>
              </a:solidFill>
              <a:latin typeface="Arial"/>
              <a:ea typeface="Arial"/>
              <a:cs typeface="Arial"/>
              <a:sym typeface="Arial"/>
            </a:endParaRPr>
          </a:p>
        </p:txBody>
      </p:sp>
      <p:sp>
        <p:nvSpPr>
          <p:cNvPr id="329" name="Google Shape;329;p31"/>
          <p:cNvSpPr/>
          <p:nvPr/>
        </p:nvSpPr>
        <p:spPr>
          <a:xfrm>
            <a:off x="2674620" y="2242566"/>
            <a:ext cx="5349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Residual spread is roughly stable across fitted values.</a:t>
            </a:r>
            <a:endParaRPr b="0" i="0" sz="1200" u="none" cap="none" strike="noStrike">
              <a:solidFill>
                <a:schemeClr val="dk1"/>
              </a:solidFill>
              <a:latin typeface="Arial"/>
              <a:ea typeface="Arial"/>
              <a:cs typeface="Arial"/>
              <a:sym typeface="Arial"/>
            </a:endParaRPr>
          </a:p>
        </p:txBody>
      </p:sp>
      <p:sp>
        <p:nvSpPr>
          <p:cNvPr id="330" name="Google Shape;330;p31"/>
          <p:cNvSpPr/>
          <p:nvPr/>
        </p:nvSpPr>
        <p:spPr>
          <a:xfrm>
            <a:off x="685800" y="2832354"/>
            <a:ext cx="181737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200"/>
              <a:buFont typeface="Arial"/>
              <a:buNone/>
            </a:pPr>
            <a:r>
              <a:rPr b="1" i="0" lang="en" sz="1200" u="none" cap="none" strike="noStrike">
                <a:solidFill>
                  <a:srgbClr val="F59E0B"/>
                </a:solidFill>
                <a:latin typeface="Arial"/>
                <a:ea typeface="Arial"/>
                <a:cs typeface="Arial"/>
                <a:sym typeface="Arial"/>
              </a:rPr>
              <a:t>Collinearity</a:t>
            </a:r>
            <a:endParaRPr b="0" i="0" sz="1200" u="none" cap="none" strike="noStrike">
              <a:solidFill>
                <a:schemeClr val="dk1"/>
              </a:solidFill>
              <a:latin typeface="Arial"/>
              <a:ea typeface="Arial"/>
              <a:cs typeface="Arial"/>
              <a:sym typeface="Arial"/>
            </a:endParaRPr>
          </a:p>
        </p:txBody>
      </p:sp>
      <p:sp>
        <p:nvSpPr>
          <p:cNvPr id="331" name="Google Shape;331;p31"/>
          <p:cNvSpPr/>
          <p:nvPr/>
        </p:nvSpPr>
        <p:spPr>
          <a:xfrm>
            <a:off x="2674620" y="2832354"/>
            <a:ext cx="5349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Predictors do not duplicate each other’s information.</a:t>
            </a:r>
            <a:endParaRPr b="0" i="0" sz="1200" u="none" cap="none" strike="noStrike">
              <a:solidFill>
                <a:schemeClr val="dk1"/>
              </a:solidFill>
              <a:latin typeface="Arial"/>
              <a:ea typeface="Arial"/>
              <a:cs typeface="Arial"/>
              <a:sym typeface="Arial"/>
            </a:endParaRPr>
          </a:p>
        </p:txBody>
      </p:sp>
      <p:sp>
        <p:nvSpPr>
          <p:cNvPr id="332" name="Google Shape;332;p31"/>
          <p:cNvSpPr/>
          <p:nvPr/>
        </p:nvSpPr>
        <p:spPr>
          <a:xfrm>
            <a:off x="685800" y="3422142"/>
            <a:ext cx="181737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Arial"/>
              <a:buNone/>
            </a:pPr>
            <a:r>
              <a:rPr b="1" i="0" lang="en" sz="1200" u="none" cap="none" strike="noStrike">
                <a:solidFill>
                  <a:srgbClr val="E11D48"/>
                </a:solidFill>
                <a:latin typeface="Arial"/>
                <a:ea typeface="Arial"/>
                <a:cs typeface="Arial"/>
                <a:sym typeface="Arial"/>
              </a:rPr>
              <a:t>Time series caution</a:t>
            </a:r>
            <a:endParaRPr b="0" i="0" sz="1200" u="none" cap="none" strike="noStrike">
              <a:solidFill>
                <a:schemeClr val="dk1"/>
              </a:solidFill>
              <a:latin typeface="Arial"/>
              <a:ea typeface="Arial"/>
              <a:cs typeface="Arial"/>
              <a:sym typeface="Arial"/>
            </a:endParaRPr>
          </a:p>
        </p:txBody>
      </p:sp>
      <p:sp>
        <p:nvSpPr>
          <p:cNvPr id="333" name="Google Shape;333;p31"/>
          <p:cNvSpPr/>
          <p:nvPr/>
        </p:nvSpPr>
        <p:spPr>
          <a:xfrm>
            <a:off x="2674620" y="3422142"/>
            <a:ext cx="5349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Arial"/>
              <a:buNone/>
            </a:pPr>
            <a:r>
              <a:rPr b="0" i="0" lang="en" sz="1200" u="none" cap="none" strike="noStrike">
                <a:solidFill>
                  <a:srgbClr val="374151"/>
                </a:solidFill>
                <a:latin typeface="Arial"/>
                <a:ea typeface="Arial"/>
                <a:cs typeface="Arial"/>
                <a:sym typeface="Arial"/>
              </a:rPr>
              <a:t>Sequential observations may carry memory from prior time points.</a:t>
            </a:r>
            <a:endParaRPr b="0" i="0" sz="1200" u="none" cap="none" strike="noStrike">
              <a:solidFill>
                <a:schemeClr val="dk1"/>
              </a:solidFill>
              <a:latin typeface="Arial"/>
              <a:ea typeface="Arial"/>
              <a:cs typeface="Arial"/>
              <a:sym typeface="Arial"/>
            </a:endParaRPr>
          </a:p>
        </p:txBody>
      </p:sp>
      <p:sp>
        <p:nvSpPr>
          <p:cNvPr id="334" name="Google Shape;334;p31"/>
          <p:cNvSpPr/>
          <p:nvPr/>
        </p:nvSpPr>
        <p:spPr>
          <a:xfrm>
            <a:off x="6137910" y="4149090"/>
            <a:ext cx="150876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200"/>
              <a:buFont typeface="Arial"/>
              <a:buNone/>
            </a:pPr>
            <a:r>
              <a:rPr b="1" i="0" lang="en" sz="1200" u="none" cap="none" strike="noStrike">
                <a:solidFill>
                  <a:srgbClr val="7C3AED"/>
                </a:solidFill>
                <a:latin typeface="Arial"/>
                <a:ea typeface="Arial"/>
                <a:cs typeface="Arial"/>
                <a:sym typeface="Arial"/>
              </a:rPr>
              <a:t>Condition number</a:t>
            </a:r>
            <a:endParaRPr b="0" i="0" sz="1200" u="none" cap="none" strike="noStrike">
              <a:solidFill>
                <a:schemeClr val="dk1"/>
              </a:solidFill>
              <a:latin typeface="Arial"/>
              <a:ea typeface="Arial"/>
              <a:cs typeface="Arial"/>
              <a:sym typeface="Arial"/>
            </a:endParaRPr>
          </a:p>
        </p:txBody>
      </p:sp>
      <p:sp>
        <p:nvSpPr>
          <p:cNvPr id="335" name="Google Shape;335;p31"/>
          <p:cNvSpPr/>
          <p:nvPr/>
        </p:nvSpPr>
        <p:spPr>
          <a:xfrm>
            <a:off x="5589270" y="4402836"/>
            <a:ext cx="2606040"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00"/>
              <a:buFont typeface="Arial"/>
              <a:buNone/>
            </a:pPr>
            <a:r>
              <a:rPr b="0" i="0" lang="en" sz="1000" u="none" cap="none" strike="noStrike">
                <a:solidFill>
                  <a:srgbClr val="6B7280"/>
                </a:solidFill>
                <a:latin typeface="Arial"/>
                <a:ea typeface="Arial"/>
                <a:cs typeface="Arial"/>
                <a:sym typeface="Arial"/>
              </a:rPr>
              <a:t>diagnostic clue, not a conclusion by itself</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Quiz Time</a:t>
            </a:r>
            <a:endParaRPr sz="5000"/>
          </a:p>
        </p:txBody>
      </p:sp>
      <p:sp>
        <p:nvSpPr>
          <p:cNvPr id="341" name="Google Shape;341;p32"/>
          <p:cNvSpPr txBox="1"/>
          <p:nvPr/>
        </p:nvSpPr>
        <p:spPr>
          <a:xfrm>
            <a:off x="5203325" y="4372900"/>
            <a:ext cx="38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2"/>
                </a:solidFill>
              </a:rPr>
              <a:t>Access Code: springsteen</a:t>
            </a:r>
            <a:endParaRPr b="1" sz="3600">
              <a:solidFill>
                <a:schemeClr val="dk2"/>
              </a:solidFill>
            </a:endParaRPr>
          </a:p>
        </p:txBody>
      </p:sp>
      <p:sp>
        <p:nvSpPr>
          <p:cNvPr id="342" name="Google Shape;342;p32"/>
          <p:cNvSpPr txBox="1"/>
          <p:nvPr/>
        </p:nvSpPr>
        <p:spPr>
          <a:xfrm>
            <a:off x="1444950" y="3181100"/>
            <a:ext cx="62541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rPr>
              <a:t>NO Phone, NO Communication, No Notes</a:t>
            </a:r>
            <a:endParaRPr sz="24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3"/>
          <p:cNvSpPr txBox="1"/>
          <p:nvPr>
            <p:ph type="title"/>
          </p:nvPr>
        </p:nvSpPr>
        <p:spPr>
          <a:xfrm>
            <a:off x="311700" y="445025"/>
            <a:ext cx="8520600" cy="572700"/>
          </a:xfrm>
          <a:prstGeom prst="rect">
            <a:avLst/>
          </a:prstGeom>
          <a:noFill/>
          <a:ln>
            <a:noFill/>
          </a:ln>
        </p:spPr>
        <p:txBody>
          <a:bodyPr anchorCtr="0" anchor="ctr" bIns="19050" lIns="19050" spcFirstLastPara="1" rIns="19050" wrap="square" tIns="19050">
            <a:normAutofit/>
          </a:bodyPr>
          <a:lstStyle/>
          <a:p>
            <a:pPr indent="0" lvl="0" marL="0" rtl="0" algn="l">
              <a:lnSpc>
                <a:spcPct val="100000"/>
              </a:lnSpc>
              <a:spcBef>
                <a:spcPts val="0"/>
              </a:spcBef>
              <a:spcAft>
                <a:spcPts val="0"/>
              </a:spcAft>
              <a:buClr>
                <a:srgbClr val="000000"/>
              </a:buClr>
              <a:buSzPts val="4200"/>
              <a:buFont typeface="Avenir"/>
              <a:buNone/>
            </a:pPr>
            <a:r>
              <a:rPr lang="en" sz="3000">
                <a:latin typeface="Avenir"/>
                <a:ea typeface="Avenir"/>
                <a:cs typeface="Avenir"/>
                <a:sym typeface="Avenir"/>
              </a:rPr>
              <a:t>Your time to …</a:t>
            </a:r>
            <a:endParaRPr sz="3000">
              <a:latin typeface="Avenir"/>
              <a:ea typeface="Avenir"/>
              <a:cs typeface="Avenir"/>
              <a:sym typeface="Avenir"/>
            </a:endParaRPr>
          </a:p>
        </p:txBody>
      </p:sp>
      <p:sp>
        <p:nvSpPr>
          <p:cNvPr id="348" name="Google Shape;348;p33"/>
          <p:cNvSpPr txBox="1"/>
          <p:nvPr>
            <p:ph idx="1" type="body"/>
          </p:nvPr>
        </p:nvSpPr>
        <p:spPr>
          <a:xfrm>
            <a:off x="633413" y="1362075"/>
            <a:ext cx="7624800" cy="3528600"/>
          </a:xfrm>
          <a:prstGeom prst="rect">
            <a:avLst/>
          </a:prstGeom>
          <a:noFill/>
          <a:ln>
            <a:noFill/>
          </a:ln>
        </p:spPr>
        <p:txBody>
          <a:bodyPr anchorCtr="0" anchor="t" bIns="19050" lIns="19050" spcFirstLastPara="1" rIns="19050" wrap="square" tIns="19050">
            <a:normAutofit/>
          </a:bodyPr>
          <a:lstStyle/>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Work on projects</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Finish A2</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Finish D5</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Have fun...</a:t>
            </a:r>
            <a:endParaRPr sz="2100">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