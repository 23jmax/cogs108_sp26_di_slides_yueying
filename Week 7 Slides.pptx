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embeddedFontLst>
    <p:embeddedFont>
      <p:font typeface="Play"/>
      <p:regular r:id="rId25"/>
      <p:bold r:id="rId26"/>
    </p:embeddedFont>
    <p:embeddedFont>
      <p:font typeface="Helvetica Neue Light"/>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6E910A6-70C8-4CD0-9571-EE0AE25CBB7E}">
  <a:tblStyle styleId="{A6E910A6-70C8-4CD0-9571-EE0AE25CBB7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Play-bold.fntdata"/><Relationship Id="rId25" Type="http://schemas.openxmlformats.org/officeDocument/2006/relationships/font" Target="fonts/Play-regular.fntdata"/><Relationship Id="rId28" Type="http://schemas.openxmlformats.org/officeDocument/2006/relationships/font" Target="fonts/HelveticaNeueLight-bold.fntdata"/><Relationship Id="rId27" Type="http://schemas.openxmlformats.org/officeDocument/2006/relationships/font" Target="fonts/HelveticaNeueLight-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HelveticaNeueLight-italic.fntdata"/><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HelveticaNeueLight-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e069ffc553_0_0: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g3e069ffc553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e069ffc553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e069ffc553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e19caaab6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e19caaab6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e19caaab63_3_0:notes"/>
          <p:cNvSpPr/>
          <p:nvPr>
            <p:ph idx="2" type="sldImg"/>
          </p:nvPr>
        </p:nvSpPr>
        <p:spPr>
          <a:xfrm>
            <a:off x="685727" y="857273"/>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 name="Google Shape;78;g3e19caaab63_3_0:notes"/>
          <p:cNvSpPr txBox="1"/>
          <p:nvPr>
            <p:ph idx="1" type="body"/>
          </p:nvPr>
        </p:nvSpPr>
        <p:spPr>
          <a:xfrm>
            <a:off x="685800" y="3300500"/>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
              <a:t>A simple model can be written as outcome equals intercept plus slope times predictor.</a:t>
            </a:r>
            <a:endParaRPr/>
          </a:p>
          <a:p>
            <a:pPr indent="0" lvl="0" marL="0" rtl="0" algn="l">
              <a:lnSpc>
                <a:spcPct val="115000"/>
              </a:lnSpc>
              <a:spcBef>
                <a:spcPts val="1200"/>
              </a:spcBef>
              <a:spcAft>
                <a:spcPts val="0"/>
              </a:spcAft>
              <a:buSzPts val="1100"/>
              <a:buNone/>
            </a:pPr>
            <a:r>
              <a:rPr lang="en"/>
              <a:t>The intercept anchors the model. The slope tells us the expected change in the outcome for a one-unit change in the predictor.</a:t>
            </a:r>
            <a:endParaRPr/>
          </a:p>
          <a:p>
            <a:pPr indent="0" lvl="0" marL="0" rtl="0" algn="l">
              <a:lnSpc>
                <a:spcPct val="115000"/>
              </a:lnSpc>
              <a:spcBef>
                <a:spcPts val="1200"/>
              </a:spcBef>
              <a:spcAft>
                <a:spcPts val="0"/>
              </a:spcAft>
              <a:buSzPts val="1100"/>
              <a:buNone/>
            </a:pPr>
            <a:r>
              <a:rPr lang="en"/>
              <a:t>For multiple regression, we interpret one predictor while holding the other predictors constant.</a:t>
            </a:r>
            <a:endParaRPr/>
          </a:p>
          <a:p>
            <a:pPr indent="0" lvl="0" marL="0" rtl="0" algn="l">
              <a:lnSpc>
                <a:spcPct val="115000"/>
              </a:lnSpc>
              <a:spcBef>
                <a:spcPts val="1200"/>
              </a:spcBef>
              <a:spcAft>
                <a:spcPts val="1200"/>
              </a:spcAft>
              <a:buSzPts val="1100"/>
              <a:buNone/>
            </a:pPr>
            <a:r>
              <a:rPr lang="en"/>
              <a:t>When you explain a regression result, start by naming the outcome. Then name the predictor. Then state the unit of change. Also avoid causal language unless the study design actually supports causal claims.</a:t>
            </a:r>
            <a:endParaRPr/>
          </a:p>
        </p:txBody>
      </p:sp>
      <p:sp>
        <p:nvSpPr>
          <p:cNvPr id="79" name="Google Shape;79;g3e19caaab63_3_0:notes"/>
          <p:cNvSpPr txBox="1"/>
          <p:nvPr>
            <p:ph idx="12" type="sldNum"/>
          </p:nvPr>
        </p:nvSpPr>
        <p:spPr>
          <a:xfrm>
            <a:off x="3884613" y="6514083"/>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19caaab63_1_17: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g3e19caaab63_1_17: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a:t>Adjusted R-squared penalizes model complexity. It is useful when comparing regression models with different numbers of predictors. A higher adjusted R-squared is generally better.</a:t>
            </a:r>
            <a:endParaRPr/>
          </a:p>
          <a:p>
            <a:pPr indent="0" lvl="0" marL="0" rtl="0" algn="l">
              <a:lnSpc>
                <a:spcPct val="115000"/>
              </a:lnSpc>
              <a:spcBef>
                <a:spcPts val="1200"/>
              </a:spcBef>
              <a:spcAft>
                <a:spcPts val="0"/>
              </a:spcAft>
              <a:buClr>
                <a:schemeClr val="dk1"/>
              </a:buClr>
              <a:buSzPts val="1100"/>
              <a:buFont typeface="Arial"/>
              <a:buNone/>
            </a:pPr>
            <a:r>
              <a:rPr lang="en"/>
              <a:t>R-squared does not penalize complexity. It measures how much variance the model explains. However, it can increase when more predictors are added, even if those predictors are not useful.</a:t>
            </a:r>
            <a:endParaRPr/>
          </a:p>
          <a:p>
            <a:pPr indent="0" lvl="0" marL="0" rtl="0" algn="l">
              <a:lnSpc>
                <a:spcPct val="115000"/>
              </a:lnSpc>
              <a:spcBef>
                <a:spcPts val="1200"/>
              </a:spcBef>
              <a:spcAft>
                <a:spcPts val="0"/>
              </a:spcAft>
              <a:buClr>
                <a:schemeClr val="dk1"/>
              </a:buClr>
              <a:buSzPts val="1100"/>
              <a:buFont typeface="Arial"/>
              <a:buNone/>
            </a:pPr>
            <a:r>
              <a:rPr lang="en"/>
              <a:t>BIC strongly penalizes model complexity. It is used for model selection and overfitting control. A lower BIC is generally better.</a:t>
            </a:r>
            <a:endParaRPr/>
          </a:p>
          <a:p>
            <a:pPr indent="0" lvl="0" marL="0" rtl="0" algn="l">
              <a:lnSpc>
                <a:spcPct val="115000"/>
              </a:lnSpc>
              <a:spcBef>
                <a:spcPts val="1200"/>
              </a:spcBef>
              <a:spcAft>
                <a:spcPts val="0"/>
              </a:spcAft>
              <a:buClr>
                <a:schemeClr val="dk1"/>
              </a:buClr>
              <a:buSzPts val="1100"/>
              <a:buFont typeface="Arial"/>
              <a:buNone/>
            </a:pPr>
            <a:r>
              <a:rPr lang="en"/>
              <a:t>Durbin-Watson is different. It does not measure model complexity. It checks whether residuals are independent. A value close to 2 is usually best.</a:t>
            </a:r>
            <a:endParaRPr/>
          </a:p>
          <a:p>
            <a:pPr indent="0" lvl="0" marL="0" rtl="0" algn="l">
              <a:spcBef>
                <a:spcPts val="1200"/>
              </a:spcBef>
              <a:spcAft>
                <a:spcPts val="0"/>
              </a:spcAft>
              <a:buNone/>
            </a:pPr>
            <a:r>
              <a:t/>
            </a:r>
            <a:endParaRPr/>
          </a:p>
        </p:txBody>
      </p:sp>
      <p:sp>
        <p:nvSpPr>
          <p:cNvPr id="87" name="Google Shape;87;g3e19caaab63_1_17: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e19caaab63_1_32: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g3e19caaab63_1_32: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a:t>Transformations can help when variables are skewed or when variability changes across the range of the data. A log transformation is a common example.</a:t>
            </a:r>
            <a:endParaRPr/>
          </a:p>
          <a:p>
            <a:pPr indent="0" lvl="0" marL="0" rtl="0" algn="l">
              <a:lnSpc>
                <a:spcPct val="115000"/>
              </a:lnSpc>
              <a:spcBef>
                <a:spcPts val="1200"/>
              </a:spcBef>
              <a:spcAft>
                <a:spcPts val="0"/>
              </a:spcAft>
              <a:buClr>
                <a:schemeClr val="dk1"/>
              </a:buClr>
              <a:buSzPts val="1100"/>
              <a:buFont typeface="Arial"/>
              <a:buNone/>
            </a:pPr>
            <a:r>
              <a:rPr lang="en"/>
              <a:t>Diagnostics help us check whether model assumptions seem reasonable.</a:t>
            </a:r>
            <a:endParaRPr/>
          </a:p>
          <a:p>
            <a:pPr indent="0" lvl="0" marL="0" rtl="0" algn="l">
              <a:lnSpc>
                <a:spcPct val="115000"/>
              </a:lnSpc>
              <a:spcBef>
                <a:spcPts val="1200"/>
              </a:spcBef>
              <a:spcAft>
                <a:spcPts val="0"/>
              </a:spcAft>
              <a:buClr>
                <a:schemeClr val="dk1"/>
              </a:buClr>
              <a:buSzPts val="1100"/>
              <a:buFont typeface="Arial"/>
              <a:buNone/>
            </a:pPr>
            <a:r>
              <a:rPr lang="en"/>
              <a:t>Sanity checks are also important. Even if a model looks statistically clean, it can still be meaningless if the measurements are poor or if the data-generating story does not make sense.</a:t>
            </a:r>
            <a:endParaRPr/>
          </a:p>
          <a:p>
            <a:pPr indent="0" lvl="0" marL="0" rtl="0" algn="l">
              <a:lnSpc>
                <a:spcPct val="115000"/>
              </a:lnSpc>
              <a:spcBef>
                <a:spcPts val="1200"/>
              </a:spcBef>
              <a:spcAft>
                <a:spcPts val="1200"/>
              </a:spcAft>
              <a:buSzPts val="1100"/>
              <a:buNone/>
            </a:pPr>
            <a:r>
              <a:rPr lang="en"/>
              <a:t>The key point is this: a low-quality measurement can make a statistically neat model useless.</a:t>
            </a:r>
            <a:endParaRPr/>
          </a:p>
        </p:txBody>
      </p:sp>
      <p:sp>
        <p:nvSpPr>
          <p:cNvPr id="100" name="Google Shape;100;g3e19caaab63_1_32: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e19caaab63_1_46: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g3e19caaab63_1_46: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a:t>More predictors can improve how well a model fits the data we already observed. This is called in-sample fit.</a:t>
            </a:r>
            <a:endParaRPr/>
          </a:p>
          <a:p>
            <a:pPr indent="0" lvl="0" marL="0" rtl="0" algn="l">
              <a:lnSpc>
                <a:spcPct val="115000"/>
              </a:lnSpc>
              <a:spcBef>
                <a:spcPts val="1200"/>
              </a:spcBef>
              <a:spcAft>
                <a:spcPts val="0"/>
              </a:spcAft>
              <a:buClr>
                <a:schemeClr val="dk1"/>
              </a:buClr>
              <a:buSzPts val="1100"/>
              <a:buFont typeface="Arial"/>
              <a:buNone/>
            </a:pPr>
            <a:r>
              <a:rPr lang="en"/>
              <a:t>However, better fit on observed data does not always mean the model is better. A model can become too flexible and start fitting noise.</a:t>
            </a:r>
            <a:endParaRPr/>
          </a:p>
          <a:p>
            <a:pPr indent="0" lvl="0" marL="0" rtl="0" algn="l">
              <a:lnSpc>
                <a:spcPct val="115000"/>
              </a:lnSpc>
              <a:spcBef>
                <a:spcPts val="1200"/>
              </a:spcBef>
              <a:spcAft>
                <a:spcPts val="0"/>
              </a:spcAft>
              <a:buClr>
                <a:schemeClr val="dk1"/>
              </a:buClr>
              <a:buSzPts val="1100"/>
              <a:buFont typeface="Arial"/>
              <a:buNone/>
            </a:pPr>
            <a:r>
              <a:rPr lang="en"/>
              <a:t>Complexity penalties help us ask a different question. They ask whether the improvement in fit is worth the extra parameters.</a:t>
            </a:r>
            <a:endParaRPr/>
          </a:p>
          <a:p>
            <a:pPr indent="0" lvl="0" marL="0" rtl="0" algn="l">
              <a:lnSpc>
                <a:spcPct val="115000"/>
              </a:lnSpc>
              <a:spcBef>
                <a:spcPts val="1200"/>
              </a:spcBef>
              <a:spcAft>
                <a:spcPts val="1200"/>
              </a:spcAft>
              <a:buSzPts val="1100"/>
              <a:buNone/>
            </a:pPr>
            <a:r>
              <a:rPr lang="en"/>
              <a:t>This is why model selection often balances two goals: good fit and unnecessary complexity control.</a:t>
            </a:r>
            <a:endParaRPr/>
          </a:p>
        </p:txBody>
      </p:sp>
      <p:sp>
        <p:nvSpPr>
          <p:cNvPr id="113" name="Google Shape;113;g3e19caaab63_1_46: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e19caaab63_1_63: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g3e19caaab63_1_63: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a:t>PCA is a dimensionality reduction method. It turns many numeric variables into fewer components.</a:t>
            </a:r>
            <a:endParaRPr/>
          </a:p>
          <a:p>
            <a:pPr indent="0" lvl="0" marL="0" rtl="0" algn="l">
              <a:lnSpc>
                <a:spcPct val="115000"/>
              </a:lnSpc>
              <a:spcBef>
                <a:spcPts val="1200"/>
              </a:spcBef>
              <a:spcAft>
                <a:spcPts val="0"/>
              </a:spcAft>
              <a:buClr>
                <a:schemeClr val="dk1"/>
              </a:buClr>
              <a:buSzPts val="1100"/>
              <a:buFont typeface="Arial"/>
              <a:buNone/>
            </a:pPr>
            <a:r>
              <a:rPr lang="en"/>
              <a:t>A principal component is built from the original variables. It is not usually just one original feature. It is a weighted combination of features.</a:t>
            </a:r>
            <a:endParaRPr/>
          </a:p>
          <a:p>
            <a:pPr indent="0" lvl="0" marL="0" rtl="0" algn="l">
              <a:lnSpc>
                <a:spcPct val="115000"/>
              </a:lnSpc>
              <a:spcBef>
                <a:spcPts val="1200"/>
              </a:spcBef>
              <a:spcAft>
                <a:spcPts val="0"/>
              </a:spcAft>
              <a:buClr>
                <a:schemeClr val="dk1"/>
              </a:buClr>
              <a:buSzPts val="1100"/>
              <a:buFont typeface="Arial"/>
              <a:buNone/>
            </a:pPr>
            <a:r>
              <a:rPr lang="en"/>
              <a:t>The loadings are the weights used to form each component.</a:t>
            </a:r>
            <a:endParaRPr/>
          </a:p>
          <a:p>
            <a:pPr indent="0" lvl="0" marL="0" rtl="0" algn="l">
              <a:lnSpc>
                <a:spcPct val="115000"/>
              </a:lnSpc>
              <a:spcBef>
                <a:spcPts val="1200"/>
              </a:spcBef>
              <a:spcAft>
                <a:spcPts val="0"/>
              </a:spcAft>
              <a:buClr>
                <a:schemeClr val="dk1"/>
              </a:buClr>
              <a:buSzPts val="1100"/>
              <a:buFont typeface="Arial"/>
              <a:buNone/>
            </a:pPr>
            <a:r>
              <a:rPr lang="en"/>
              <a:t>The components are ordered by how much variance they capture. The first component captures the most variance. The next component captures the next most variance, while staying uncorrelated with the previous component.</a:t>
            </a:r>
            <a:endParaRPr/>
          </a:p>
          <a:p>
            <a:pPr indent="0" lvl="0" marL="0" rtl="0" algn="l">
              <a:lnSpc>
                <a:spcPct val="115000"/>
              </a:lnSpc>
              <a:spcBef>
                <a:spcPts val="1200"/>
              </a:spcBef>
              <a:spcAft>
                <a:spcPts val="1200"/>
              </a:spcAft>
              <a:buSzPts val="1100"/>
              <a:buNone/>
            </a:pPr>
            <a:r>
              <a:rPr lang="en"/>
              <a:t>PCA is linear. This means it works best when linear projections are useful for the data.</a:t>
            </a:r>
            <a:endParaRPr/>
          </a:p>
        </p:txBody>
      </p:sp>
      <p:sp>
        <p:nvSpPr>
          <p:cNvPr id="130" name="Google Shape;130;g3e19caaab63_1_63: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e19caaab63_1_76: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g3e19caaab63_1_76: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a:t>PCA is sensitive to centering and scaling. This is why we usually center the data first, and often standardize variables if they are on different scales.</a:t>
            </a:r>
            <a:endParaRPr/>
          </a:p>
          <a:p>
            <a:pPr indent="0" lvl="0" marL="0" rtl="0" algn="l">
              <a:lnSpc>
                <a:spcPct val="115000"/>
              </a:lnSpc>
              <a:spcBef>
                <a:spcPts val="1200"/>
              </a:spcBef>
              <a:spcAft>
                <a:spcPts val="0"/>
              </a:spcAft>
              <a:buClr>
                <a:schemeClr val="dk1"/>
              </a:buClr>
              <a:buSzPts val="1100"/>
              <a:buFont typeface="Arial"/>
              <a:buNone/>
            </a:pPr>
            <a:r>
              <a:rPr lang="en"/>
              <a:t>A scree plot shows how much variance each component explains. We often look for an elbow in the scree plot. The elbow helps us decide how many components may be useful.</a:t>
            </a:r>
            <a:endParaRPr/>
          </a:p>
          <a:p>
            <a:pPr indent="0" lvl="0" marL="0" rtl="0" algn="l">
              <a:lnSpc>
                <a:spcPct val="115000"/>
              </a:lnSpc>
              <a:spcBef>
                <a:spcPts val="1200"/>
              </a:spcBef>
              <a:spcAft>
                <a:spcPts val="0"/>
              </a:spcAft>
              <a:buClr>
                <a:schemeClr val="dk1"/>
              </a:buClr>
              <a:buSzPts val="1100"/>
              <a:buFont typeface="Arial"/>
              <a:buNone/>
            </a:pPr>
            <a:r>
              <a:rPr lang="en"/>
              <a:t>Loadings help with interpretation. They tell us which original variables contribute strongly to each component.</a:t>
            </a:r>
            <a:endParaRPr/>
          </a:p>
          <a:p>
            <a:pPr indent="0" lvl="0" marL="0" rtl="0" algn="l">
              <a:lnSpc>
                <a:spcPct val="115000"/>
              </a:lnSpc>
              <a:spcBef>
                <a:spcPts val="1200"/>
              </a:spcBef>
              <a:spcAft>
                <a:spcPts val="1200"/>
              </a:spcAft>
              <a:buSzPts val="1100"/>
              <a:buNone/>
            </a:pPr>
            <a:r>
              <a:rPr lang="en"/>
              <a:t>Choosing the number of PCs is a balance. Too few components may lose important information. Too many components may keep noise or unnecessary complexity.</a:t>
            </a:r>
            <a:endParaRPr/>
          </a:p>
        </p:txBody>
      </p:sp>
      <p:sp>
        <p:nvSpPr>
          <p:cNvPr id="140" name="Google Shape;140;g3e19caaab63_1_76: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e19caaab63_3_91:notes"/>
          <p:cNvSpPr/>
          <p:nvPr>
            <p:ph idx="2" type="sldImg"/>
          </p:nvPr>
        </p:nvSpPr>
        <p:spPr>
          <a:xfrm>
            <a:off x="685727" y="857273"/>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g3e19caaab63_3_91:notes"/>
          <p:cNvSpPr txBox="1"/>
          <p:nvPr>
            <p:ph idx="1" type="body"/>
          </p:nvPr>
        </p:nvSpPr>
        <p:spPr>
          <a:xfrm>
            <a:off x="685800" y="3300500"/>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g3e19caaab63_3_91:notes"/>
          <p:cNvSpPr txBox="1"/>
          <p:nvPr>
            <p:ph idx="12" type="sldNum"/>
          </p:nvPr>
        </p:nvSpPr>
        <p:spPr>
          <a:xfrm>
            <a:off x="3884613" y="6514083"/>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e19caaab63_1_92: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g3e19caaab63_1_92: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a:t>Manifold learning looks for lower-dimensional structure inside high-dimensional data.</a:t>
            </a:r>
            <a:endParaRPr/>
          </a:p>
          <a:p>
            <a:pPr indent="0" lvl="0" marL="0" rtl="0" algn="l">
              <a:lnSpc>
                <a:spcPct val="115000"/>
              </a:lnSpc>
              <a:spcBef>
                <a:spcPts val="1200"/>
              </a:spcBef>
              <a:spcAft>
                <a:spcPts val="0"/>
              </a:spcAft>
              <a:buClr>
                <a:schemeClr val="dk1"/>
              </a:buClr>
              <a:buSzPts val="1100"/>
              <a:buFont typeface="Arial"/>
              <a:buNone/>
            </a:pPr>
            <a:r>
              <a:rPr lang="en"/>
              <a:t>t-SNE is different from PCA because it focuses more on local neighborhoods. It tries to keep nearby points nearby in the lower-dimensional visualization.</a:t>
            </a:r>
            <a:endParaRPr/>
          </a:p>
          <a:p>
            <a:pPr indent="0" lvl="0" marL="0" rtl="0" algn="l">
              <a:lnSpc>
                <a:spcPct val="115000"/>
              </a:lnSpc>
              <a:spcBef>
                <a:spcPts val="1200"/>
              </a:spcBef>
              <a:spcAft>
                <a:spcPts val="0"/>
              </a:spcAft>
              <a:buClr>
                <a:schemeClr val="dk1"/>
              </a:buClr>
              <a:buSzPts val="1100"/>
              <a:buFont typeface="Arial"/>
              <a:buNone/>
            </a:pPr>
            <a:r>
              <a:rPr lang="en"/>
              <a:t>Perplexity is an important t-SNE hyperparameter. It changes the balance between local and more global structure.</a:t>
            </a:r>
            <a:endParaRPr/>
          </a:p>
          <a:p>
            <a:pPr indent="0" lvl="0" marL="0" rtl="0" algn="l">
              <a:lnSpc>
                <a:spcPct val="115000"/>
              </a:lnSpc>
              <a:spcBef>
                <a:spcPts val="1200"/>
              </a:spcBef>
              <a:spcAft>
                <a:spcPts val="1200"/>
              </a:spcAft>
              <a:buSzPts val="1100"/>
              <a:buNone/>
            </a:pPr>
            <a:r>
              <a:rPr lang="en"/>
              <a:t>The main caution is interpretation. Visual clusters in t-SNE can be helpful, but they should not be overinterpreted. A t-SNE plot is mainly an exploratory visualization, not final proof of separate groups.  </a:t>
            </a:r>
            <a:endParaRPr/>
          </a:p>
        </p:txBody>
      </p:sp>
      <p:sp>
        <p:nvSpPr>
          <p:cNvPr id="158" name="Google Shape;158;g3e19caaab63_1_92: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e19caaab63_1_107: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g3e19caaab63_1_107: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a:t>Prediction requires a workflow that protects against overfitting.</a:t>
            </a:r>
            <a:endParaRPr/>
          </a:p>
          <a:p>
            <a:pPr indent="0" lvl="0" marL="0" rtl="0" algn="l">
              <a:lnSpc>
                <a:spcPct val="115000"/>
              </a:lnSpc>
              <a:spcBef>
                <a:spcPts val="1200"/>
              </a:spcBef>
              <a:spcAft>
                <a:spcPts val="0"/>
              </a:spcAft>
              <a:buClr>
                <a:schemeClr val="dk1"/>
              </a:buClr>
              <a:buSzPts val="1100"/>
              <a:buFont typeface="Arial"/>
              <a:buNone/>
            </a:pPr>
            <a:r>
              <a:rPr lang="en"/>
              <a:t>First, we partition the data before model assessment. This helps us evaluate whether the model can generalize to new data.</a:t>
            </a:r>
            <a:endParaRPr/>
          </a:p>
          <a:p>
            <a:pPr indent="0" lvl="0" marL="0" rtl="0" algn="l">
              <a:lnSpc>
                <a:spcPct val="115000"/>
              </a:lnSpc>
              <a:spcBef>
                <a:spcPts val="1200"/>
              </a:spcBef>
              <a:spcAft>
                <a:spcPts val="0"/>
              </a:spcAft>
              <a:buClr>
                <a:schemeClr val="dk1"/>
              </a:buClr>
              <a:buSzPts val="1100"/>
              <a:buFont typeface="Arial"/>
              <a:buNone/>
            </a:pPr>
            <a:r>
              <a:rPr lang="en"/>
              <a:t>Second, we select features and model types using training or validation logic.</a:t>
            </a:r>
            <a:endParaRPr/>
          </a:p>
          <a:p>
            <a:pPr indent="0" lvl="0" marL="0" rtl="0" algn="l">
              <a:lnSpc>
                <a:spcPct val="115000"/>
              </a:lnSpc>
              <a:spcBef>
                <a:spcPts val="1200"/>
              </a:spcBef>
              <a:spcAft>
                <a:spcPts val="0"/>
              </a:spcAft>
              <a:buClr>
                <a:schemeClr val="dk1"/>
              </a:buClr>
              <a:buSzPts val="1100"/>
              <a:buFont typeface="Arial"/>
              <a:buNone/>
            </a:pPr>
            <a:r>
              <a:rPr lang="en"/>
              <a:t>Third, we tune hyperparameters without touching the final test set.</a:t>
            </a:r>
            <a:endParaRPr/>
          </a:p>
          <a:p>
            <a:pPr indent="0" lvl="0" marL="0" rtl="0" algn="l">
              <a:lnSpc>
                <a:spcPct val="115000"/>
              </a:lnSpc>
              <a:spcBef>
                <a:spcPts val="1200"/>
              </a:spcBef>
              <a:spcAft>
                <a:spcPts val="0"/>
              </a:spcAft>
              <a:buClr>
                <a:schemeClr val="dk1"/>
              </a:buClr>
              <a:buSzPts val="1100"/>
              <a:buFont typeface="Arial"/>
              <a:buNone/>
            </a:pPr>
            <a:r>
              <a:rPr lang="en"/>
              <a:t>Finally, we assess generalization on held-out data.</a:t>
            </a:r>
            <a:endParaRPr/>
          </a:p>
          <a:p>
            <a:pPr indent="0" lvl="0" marL="0" rtl="0" algn="l">
              <a:lnSpc>
                <a:spcPct val="115000"/>
              </a:lnSpc>
              <a:spcBef>
                <a:spcPts val="1200"/>
              </a:spcBef>
              <a:spcAft>
                <a:spcPts val="1200"/>
              </a:spcAft>
              <a:buSzPts val="1100"/>
              <a:buNone/>
            </a:pPr>
            <a:r>
              <a:rPr lang="en"/>
              <a:t>Also remember that prediction is not the same as explanation. A model can predict well even if it does not provide a clean causal story.  </a:t>
            </a:r>
            <a:endParaRPr/>
          </a:p>
        </p:txBody>
      </p:sp>
      <p:sp>
        <p:nvSpPr>
          <p:cNvPr id="173" name="Google Shape;173;g3e19caaab63_1_107: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e19caaab63_1_121: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g3e19caaab63_1_121: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a:t>This slide separates three ideas: model building, model tuning, and final model assessment.</a:t>
            </a:r>
            <a:endParaRPr/>
          </a:p>
          <a:p>
            <a:pPr indent="0" lvl="0" marL="0" rtl="0" algn="l">
              <a:lnSpc>
                <a:spcPct val="115000"/>
              </a:lnSpc>
              <a:spcBef>
                <a:spcPts val="1200"/>
              </a:spcBef>
              <a:spcAft>
                <a:spcPts val="0"/>
              </a:spcAft>
              <a:buClr>
                <a:schemeClr val="dk1"/>
              </a:buClr>
              <a:buSzPts val="1100"/>
              <a:buFont typeface="Arial"/>
              <a:buNone/>
            </a:pPr>
            <a:r>
              <a:rPr lang="en"/>
              <a:t>The training set is used to fit the model.</a:t>
            </a:r>
            <a:endParaRPr/>
          </a:p>
          <a:p>
            <a:pPr indent="0" lvl="0" marL="0" rtl="0" algn="l">
              <a:lnSpc>
                <a:spcPct val="115000"/>
              </a:lnSpc>
              <a:spcBef>
                <a:spcPts val="1200"/>
              </a:spcBef>
              <a:spcAft>
                <a:spcPts val="0"/>
              </a:spcAft>
              <a:buClr>
                <a:schemeClr val="dk1"/>
              </a:buClr>
              <a:buSzPts val="1100"/>
              <a:buFont typeface="Arial"/>
              <a:buNone/>
            </a:pPr>
            <a:r>
              <a:rPr lang="en"/>
              <a:t>The validation set is used to tune hyperparameters or choose among models.</a:t>
            </a:r>
            <a:endParaRPr/>
          </a:p>
          <a:p>
            <a:pPr indent="0" lvl="0" marL="0" rtl="0" algn="l">
              <a:lnSpc>
                <a:spcPct val="115000"/>
              </a:lnSpc>
              <a:spcBef>
                <a:spcPts val="1200"/>
              </a:spcBef>
              <a:spcAft>
                <a:spcPts val="0"/>
              </a:spcAft>
              <a:buClr>
                <a:schemeClr val="dk1"/>
              </a:buClr>
              <a:buSzPts val="1100"/>
              <a:buFont typeface="Arial"/>
              <a:buNone/>
            </a:pPr>
            <a:r>
              <a:rPr lang="en"/>
              <a:t>The test set is used only at the end to estimate final generalization.</a:t>
            </a:r>
            <a:endParaRPr/>
          </a:p>
          <a:p>
            <a:pPr indent="0" lvl="0" marL="0" rtl="0" algn="l">
              <a:lnSpc>
                <a:spcPct val="115000"/>
              </a:lnSpc>
              <a:spcBef>
                <a:spcPts val="1200"/>
              </a:spcBef>
              <a:spcAft>
                <a:spcPts val="1200"/>
              </a:spcAft>
              <a:buSzPts val="1100"/>
              <a:buNone/>
            </a:pPr>
            <a:r>
              <a:rPr lang="en"/>
              <a:t>K-fold cross-validation is useful when data is limited. It rotates which fold is used for validation, so each part of the data gets used as validation once. Then we average the validation performance across folds. </a:t>
            </a:r>
            <a:endParaRPr/>
          </a:p>
        </p:txBody>
      </p:sp>
      <p:sp>
        <p:nvSpPr>
          <p:cNvPr id="183" name="Google Shape;183;g3e19caaab63_1_121: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e19caaab63_1_136: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g3e19caaab63_1_136: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a:t>Supervised learning uses labeled data. The model learns from known targets. Examples include linear regression, logistic regression, SVM, and random forest.</a:t>
            </a:r>
            <a:endParaRPr/>
          </a:p>
          <a:p>
            <a:pPr indent="0" lvl="0" marL="0" rtl="0" algn="l">
              <a:lnSpc>
                <a:spcPct val="115000"/>
              </a:lnSpc>
              <a:spcBef>
                <a:spcPts val="1200"/>
              </a:spcBef>
              <a:spcAft>
                <a:spcPts val="0"/>
              </a:spcAft>
              <a:buClr>
                <a:schemeClr val="dk1"/>
              </a:buClr>
              <a:buSzPts val="1100"/>
              <a:buFont typeface="Arial"/>
              <a:buNone/>
            </a:pPr>
            <a:r>
              <a:rPr lang="en"/>
              <a:t>Unsupervised learning uses unlabeled data. The goal is to find hidden structure or patterns. Examples include k-means, PCA, t-SNE, and hierarchical clustering.</a:t>
            </a:r>
            <a:endParaRPr/>
          </a:p>
          <a:p>
            <a:pPr indent="0" lvl="0" marL="0" rtl="0" algn="l">
              <a:lnSpc>
                <a:spcPct val="115000"/>
              </a:lnSpc>
              <a:spcBef>
                <a:spcPts val="1200"/>
              </a:spcBef>
              <a:spcAft>
                <a:spcPts val="1200"/>
              </a:spcAft>
              <a:buSzPts val="1100"/>
              <a:buNone/>
            </a:pPr>
            <a:r>
              <a:rPr lang="en"/>
              <a:t>The key distinction is whether the model has known answers during training. Supervised learning learns from known answers. Unsupervised learning tries to discover patterns without known answers.</a:t>
            </a:r>
            <a:endParaRPr/>
          </a:p>
        </p:txBody>
      </p:sp>
      <p:sp>
        <p:nvSpPr>
          <p:cNvPr id="198" name="Google Shape;198;g3e19caaab63_1_136: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e19caaab63_3_25:notes"/>
          <p:cNvSpPr/>
          <p:nvPr>
            <p:ph idx="2" type="sldImg"/>
          </p:nvPr>
        </p:nvSpPr>
        <p:spPr>
          <a:xfrm>
            <a:off x="685727" y="857273"/>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g3e19caaab63_3_25:notes"/>
          <p:cNvSpPr txBox="1"/>
          <p:nvPr>
            <p:ph idx="1" type="body"/>
          </p:nvPr>
        </p:nvSpPr>
        <p:spPr>
          <a:xfrm>
            <a:off x="685800" y="3300500"/>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a:t>Before choosing a classification metric, we need to understand the task.</a:t>
            </a:r>
            <a:endParaRPr/>
          </a:p>
          <a:p>
            <a:pPr indent="0" lvl="0" marL="0" rtl="0" algn="l">
              <a:lnSpc>
                <a:spcPct val="115000"/>
              </a:lnSpc>
              <a:spcBef>
                <a:spcPts val="1200"/>
              </a:spcBef>
              <a:spcAft>
                <a:spcPts val="0"/>
              </a:spcAft>
              <a:buClr>
                <a:schemeClr val="dk1"/>
              </a:buClr>
              <a:buSzPts val="1100"/>
              <a:buFont typeface="Arial"/>
              <a:buNone/>
            </a:pPr>
            <a:r>
              <a:rPr lang="en"/>
              <a:t>Ask whether the labels are known during training. Ask whether the task is classification or regression. Ask whether the classes are balanced.</a:t>
            </a:r>
            <a:endParaRPr/>
          </a:p>
          <a:p>
            <a:pPr indent="0" lvl="0" marL="0" rtl="0" algn="l">
              <a:lnSpc>
                <a:spcPct val="115000"/>
              </a:lnSpc>
              <a:spcBef>
                <a:spcPts val="1200"/>
              </a:spcBef>
              <a:spcAft>
                <a:spcPts val="0"/>
              </a:spcAft>
              <a:buClr>
                <a:schemeClr val="dk1"/>
              </a:buClr>
              <a:buSzPts val="1100"/>
              <a:buFont typeface="Arial"/>
              <a:buNone/>
            </a:pPr>
            <a:r>
              <a:rPr lang="en"/>
              <a:t>Also ask which mistake is more costly: a false positive or a false negative.</a:t>
            </a:r>
            <a:endParaRPr/>
          </a:p>
          <a:p>
            <a:pPr indent="0" lvl="0" marL="0" rtl="0" algn="l">
              <a:lnSpc>
                <a:spcPct val="115000"/>
              </a:lnSpc>
              <a:spcBef>
                <a:spcPts val="1200"/>
              </a:spcBef>
              <a:spcAft>
                <a:spcPts val="0"/>
              </a:spcAft>
              <a:buClr>
                <a:schemeClr val="dk1"/>
              </a:buClr>
              <a:buSzPts val="1100"/>
              <a:buFont typeface="Arial"/>
              <a:buNone/>
            </a:pPr>
            <a:r>
              <a:rPr lang="en"/>
              <a:t>Accuracy can be misleading when one class is rare. A model can look accurate overall while performing poorly on the rare class.</a:t>
            </a:r>
            <a:endParaRPr/>
          </a:p>
          <a:p>
            <a:pPr indent="0" lvl="0" marL="0" rtl="0" algn="l">
              <a:lnSpc>
                <a:spcPct val="115000"/>
              </a:lnSpc>
              <a:spcBef>
                <a:spcPts val="1200"/>
              </a:spcBef>
              <a:spcAft>
                <a:spcPts val="1200"/>
              </a:spcAft>
              <a:buSzPts val="1100"/>
              <a:buNone/>
            </a:pPr>
            <a:r>
              <a:rPr lang="en"/>
              <a:t>The main point is that the metric should match the decision problem. </a:t>
            </a:r>
            <a:endParaRPr/>
          </a:p>
        </p:txBody>
      </p:sp>
      <p:sp>
        <p:nvSpPr>
          <p:cNvPr id="211" name="Google Shape;211;g3e19caaab63_3_25:notes"/>
          <p:cNvSpPr txBox="1"/>
          <p:nvPr>
            <p:ph idx="12" type="sldNum"/>
          </p:nvPr>
        </p:nvSpPr>
        <p:spPr>
          <a:xfrm>
            <a:off x="3884613" y="6514083"/>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e19caaab63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e19caaab6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have been monitoring quiz activity through the backend system and reviewing LockDown Browser logs.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have noticed several suspicious activities, and these records have been saved.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Please remember that cheating is not allowed in any form. This includes, but is not limited to:</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Leaving section after seeing the quiz access code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Completing the quiz outside of section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Using AI tools, outside notes, or other unauthorized resources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Talking or communicating with other students during the quiz</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Sharing quiz information, access codes, or answers with others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Quizzes must be completed independently, during section, and under the required quiz conditions.</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Any further suspicious behavior may be reported to the Academic Integrity Office.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e069ffc553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e069ffc553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e069ffc553_0_147: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g3e069ffc553_0_1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TITLE_1">
    <p:spTree>
      <p:nvGrpSpPr>
        <p:cNvPr id="50" name="Shape 50"/>
        <p:cNvGrpSpPr/>
        <p:nvPr/>
      </p:nvGrpSpPr>
      <p:grpSpPr>
        <a:xfrm>
          <a:off x="0" y="0"/>
          <a:ext cx="0" cy="0"/>
          <a:chOff x="0" y="0"/>
          <a:chExt cx="0" cy="0"/>
        </a:xfrm>
      </p:grpSpPr>
      <p:sp>
        <p:nvSpPr>
          <p:cNvPr id="51" name="Google Shape;51;p13"/>
          <p:cNvSpPr txBox="1"/>
          <p:nvPr>
            <p:ph type="title"/>
          </p:nvPr>
        </p:nvSpPr>
        <p:spPr>
          <a:xfrm>
            <a:off x="666750" y="862013"/>
            <a:ext cx="7810500" cy="1743000"/>
          </a:xfrm>
          <a:prstGeom prst="rect">
            <a:avLst/>
          </a:prstGeom>
          <a:noFill/>
          <a:ln>
            <a:noFill/>
          </a:ln>
        </p:spPr>
        <p:txBody>
          <a:bodyPr anchorCtr="0" anchor="b" bIns="19050" lIns="19050" spcFirstLastPara="1" rIns="19050" wrap="square" tIns="19050">
            <a:normAutofit/>
          </a:bodyPr>
          <a:lstStyle>
            <a:lvl1pPr lvl="0" algn="ctr">
              <a:lnSpc>
                <a:spcPct val="100000"/>
              </a:lnSpc>
              <a:spcBef>
                <a:spcPts val="0"/>
              </a:spcBef>
              <a:spcAft>
                <a:spcPts val="0"/>
              </a:spcAft>
              <a:buClr>
                <a:srgbClr val="000000"/>
              </a:buClr>
              <a:buSzPts val="700"/>
              <a:buNone/>
              <a:defRPr/>
            </a:lvl1pPr>
            <a:lvl2pPr lvl="1" algn="ctr">
              <a:lnSpc>
                <a:spcPct val="100000"/>
              </a:lnSpc>
              <a:spcBef>
                <a:spcPts val="0"/>
              </a:spcBef>
              <a:spcAft>
                <a:spcPts val="0"/>
              </a:spcAft>
              <a:buClr>
                <a:srgbClr val="000000"/>
              </a:buClr>
              <a:buSzPts val="700"/>
              <a:buNone/>
              <a:defRPr/>
            </a:lvl2pPr>
            <a:lvl3pPr lvl="2" algn="ctr">
              <a:lnSpc>
                <a:spcPct val="100000"/>
              </a:lnSpc>
              <a:spcBef>
                <a:spcPts val="0"/>
              </a:spcBef>
              <a:spcAft>
                <a:spcPts val="0"/>
              </a:spcAft>
              <a:buClr>
                <a:srgbClr val="000000"/>
              </a:buClr>
              <a:buSzPts val="700"/>
              <a:buNone/>
              <a:defRPr/>
            </a:lvl3pPr>
            <a:lvl4pPr lvl="3" algn="ctr">
              <a:lnSpc>
                <a:spcPct val="100000"/>
              </a:lnSpc>
              <a:spcBef>
                <a:spcPts val="0"/>
              </a:spcBef>
              <a:spcAft>
                <a:spcPts val="0"/>
              </a:spcAft>
              <a:buClr>
                <a:srgbClr val="000000"/>
              </a:buClr>
              <a:buSzPts val="700"/>
              <a:buNone/>
              <a:defRPr/>
            </a:lvl4pPr>
            <a:lvl5pPr lvl="4" algn="ctr">
              <a:lnSpc>
                <a:spcPct val="100000"/>
              </a:lnSpc>
              <a:spcBef>
                <a:spcPts val="0"/>
              </a:spcBef>
              <a:spcAft>
                <a:spcPts val="0"/>
              </a:spcAft>
              <a:buClr>
                <a:srgbClr val="000000"/>
              </a:buClr>
              <a:buSzPts val="700"/>
              <a:buNone/>
              <a:defRPr/>
            </a:lvl5pPr>
            <a:lvl6pPr lvl="5" algn="ctr">
              <a:lnSpc>
                <a:spcPct val="100000"/>
              </a:lnSpc>
              <a:spcBef>
                <a:spcPts val="0"/>
              </a:spcBef>
              <a:spcAft>
                <a:spcPts val="0"/>
              </a:spcAft>
              <a:buClr>
                <a:srgbClr val="000000"/>
              </a:buClr>
              <a:buSzPts val="700"/>
              <a:buNone/>
              <a:defRPr/>
            </a:lvl6pPr>
            <a:lvl7pPr lvl="6" algn="ctr">
              <a:lnSpc>
                <a:spcPct val="100000"/>
              </a:lnSpc>
              <a:spcBef>
                <a:spcPts val="0"/>
              </a:spcBef>
              <a:spcAft>
                <a:spcPts val="0"/>
              </a:spcAft>
              <a:buClr>
                <a:srgbClr val="000000"/>
              </a:buClr>
              <a:buSzPts val="700"/>
              <a:buNone/>
              <a:defRPr/>
            </a:lvl7pPr>
            <a:lvl8pPr lvl="7" algn="ctr">
              <a:lnSpc>
                <a:spcPct val="100000"/>
              </a:lnSpc>
              <a:spcBef>
                <a:spcPts val="0"/>
              </a:spcBef>
              <a:spcAft>
                <a:spcPts val="0"/>
              </a:spcAft>
              <a:buClr>
                <a:srgbClr val="000000"/>
              </a:buClr>
              <a:buSzPts val="700"/>
              <a:buNone/>
              <a:defRPr/>
            </a:lvl8pPr>
            <a:lvl9pPr lvl="8" algn="ctr">
              <a:lnSpc>
                <a:spcPct val="100000"/>
              </a:lnSpc>
              <a:spcBef>
                <a:spcPts val="0"/>
              </a:spcBef>
              <a:spcAft>
                <a:spcPts val="0"/>
              </a:spcAft>
              <a:buClr>
                <a:srgbClr val="000000"/>
              </a:buClr>
              <a:buSzPts val="700"/>
              <a:buNone/>
              <a:defRPr/>
            </a:lvl9pPr>
          </a:lstStyle>
          <a:p/>
        </p:txBody>
      </p:sp>
      <p:sp>
        <p:nvSpPr>
          <p:cNvPr id="52" name="Google Shape;52;p13"/>
          <p:cNvSpPr txBox="1"/>
          <p:nvPr>
            <p:ph idx="1" type="body"/>
          </p:nvPr>
        </p:nvSpPr>
        <p:spPr>
          <a:xfrm>
            <a:off x="666750" y="2652713"/>
            <a:ext cx="7810500" cy="2070900"/>
          </a:xfrm>
          <a:prstGeom prst="rect">
            <a:avLst/>
          </a:prstGeom>
          <a:noFill/>
          <a:ln>
            <a:noFill/>
          </a:ln>
        </p:spPr>
        <p:txBody>
          <a:bodyPr anchorCtr="0" anchor="t" bIns="19050" lIns="19050" spcFirstLastPara="1" rIns="19050" wrap="square" tIns="19050">
            <a:normAutofit/>
          </a:bodyPr>
          <a:lstStyle>
            <a:lvl1pPr indent="-228600" lvl="0" marL="457200" algn="ctr">
              <a:lnSpc>
                <a:spcPct val="100000"/>
              </a:lnSpc>
              <a:spcBef>
                <a:spcPts val="0"/>
              </a:spcBef>
              <a:spcAft>
                <a:spcPts val="0"/>
              </a:spcAft>
              <a:buClr>
                <a:srgbClr val="000000"/>
              </a:buClr>
              <a:buSzPts val="2000"/>
              <a:buFont typeface="Avenir"/>
              <a:buNone/>
              <a:defRPr sz="2000"/>
            </a:lvl1pPr>
            <a:lvl2pPr indent="-228600" lvl="1" marL="914400" algn="ctr">
              <a:lnSpc>
                <a:spcPct val="100000"/>
              </a:lnSpc>
              <a:spcBef>
                <a:spcPts val="0"/>
              </a:spcBef>
              <a:spcAft>
                <a:spcPts val="0"/>
              </a:spcAft>
              <a:buClr>
                <a:srgbClr val="000000"/>
              </a:buClr>
              <a:buSzPts val="2000"/>
              <a:buFont typeface="Avenir"/>
              <a:buNone/>
              <a:defRPr sz="2000"/>
            </a:lvl2pPr>
            <a:lvl3pPr indent="-228600" lvl="2" marL="1371600" algn="ctr">
              <a:lnSpc>
                <a:spcPct val="100000"/>
              </a:lnSpc>
              <a:spcBef>
                <a:spcPts val="0"/>
              </a:spcBef>
              <a:spcAft>
                <a:spcPts val="0"/>
              </a:spcAft>
              <a:buClr>
                <a:srgbClr val="000000"/>
              </a:buClr>
              <a:buSzPts val="2000"/>
              <a:buFont typeface="Avenir"/>
              <a:buNone/>
              <a:defRPr sz="2000"/>
            </a:lvl3pPr>
            <a:lvl4pPr indent="-228600" lvl="3" marL="1828800" algn="ctr">
              <a:lnSpc>
                <a:spcPct val="100000"/>
              </a:lnSpc>
              <a:spcBef>
                <a:spcPts val="0"/>
              </a:spcBef>
              <a:spcAft>
                <a:spcPts val="0"/>
              </a:spcAft>
              <a:buClr>
                <a:srgbClr val="000000"/>
              </a:buClr>
              <a:buSzPts val="2000"/>
              <a:buFont typeface="Avenir"/>
              <a:buNone/>
              <a:defRPr sz="2000"/>
            </a:lvl4pPr>
            <a:lvl5pPr indent="-228600" lvl="4" marL="2286000" algn="ctr">
              <a:lnSpc>
                <a:spcPct val="100000"/>
              </a:lnSpc>
              <a:spcBef>
                <a:spcPts val="0"/>
              </a:spcBef>
              <a:spcAft>
                <a:spcPts val="0"/>
              </a:spcAft>
              <a:buClr>
                <a:srgbClr val="000000"/>
              </a:buClr>
              <a:buSzPts val="2000"/>
              <a:buFont typeface="Avenir"/>
              <a:buNone/>
              <a:defRPr sz="2000"/>
            </a:lvl5pPr>
            <a:lvl6pPr indent="-279400" lvl="5" marL="2743200" algn="l">
              <a:lnSpc>
                <a:spcPct val="100000"/>
              </a:lnSpc>
              <a:spcBef>
                <a:spcPts val="1500"/>
              </a:spcBef>
              <a:spcAft>
                <a:spcPts val="0"/>
              </a:spcAft>
              <a:buClr>
                <a:srgbClr val="000000"/>
              </a:buClr>
              <a:buSzPts val="800"/>
              <a:buChar char="■"/>
              <a:defRPr/>
            </a:lvl6pPr>
            <a:lvl7pPr indent="-279400" lvl="6" marL="3200400" algn="l">
              <a:lnSpc>
                <a:spcPct val="100000"/>
              </a:lnSpc>
              <a:spcBef>
                <a:spcPts val="1500"/>
              </a:spcBef>
              <a:spcAft>
                <a:spcPts val="0"/>
              </a:spcAft>
              <a:buClr>
                <a:srgbClr val="000000"/>
              </a:buClr>
              <a:buSzPts val="800"/>
              <a:buChar char="●"/>
              <a:defRPr/>
            </a:lvl7pPr>
            <a:lvl8pPr indent="-279400" lvl="7" marL="3657600" algn="l">
              <a:lnSpc>
                <a:spcPct val="100000"/>
              </a:lnSpc>
              <a:spcBef>
                <a:spcPts val="1500"/>
              </a:spcBef>
              <a:spcAft>
                <a:spcPts val="0"/>
              </a:spcAft>
              <a:buClr>
                <a:srgbClr val="000000"/>
              </a:buClr>
              <a:buSzPts val="800"/>
              <a:buChar char="○"/>
              <a:defRPr/>
            </a:lvl8pPr>
            <a:lvl9pPr indent="-279400" lvl="8" marL="4114800" algn="l">
              <a:lnSpc>
                <a:spcPct val="100000"/>
              </a:lnSpc>
              <a:spcBef>
                <a:spcPts val="1500"/>
              </a:spcBef>
              <a:spcAft>
                <a:spcPts val="0"/>
              </a:spcAft>
              <a:buClr>
                <a:srgbClr val="000000"/>
              </a:buClr>
              <a:buSzPts val="800"/>
              <a:buChar char="■"/>
              <a:defRPr/>
            </a:lvl9pPr>
          </a:lstStyle>
          <a:p/>
        </p:txBody>
      </p:sp>
      <p:sp>
        <p:nvSpPr>
          <p:cNvPr id="53" name="Google Shape;53;p13"/>
          <p:cNvSpPr txBox="1"/>
          <p:nvPr>
            <p:ph idx="12" type="sldNum"/>
          </p:nvPr>
        </p:nvSpPr>
        <p:spPr>
          <a:xfrm>
            <a:off x="4484637" y="4905375"/>
            <a:ext cx="170100" cy="177000"/>
          </a:xfrm>
          <a:prstGeom prst="rect">
            <a:avLst/>
          </a:prstGeom>
          <a:noFill/>
          <a:ln>
            <a:noFill/>
          </a:ln>
        </p:spPr>
        <p:txBody>
          <a:bodyPr anchorCtr="0" anchor="t" bIns="19050" lIns="19050" spcFirstLastPara="1" rIns="19050" wrap="square" tIns="19050">
            <a:spAutoFit/>
          </a:bodyPr>
          <a:lstStyle>
            <a:lvl1pPr indent="0" lvl="0" marL="0" algn="ctr">
              <a:lnSpc>
                <a:spcPct val="100000"/>
              </a:lnSpc>
              <a:spcBef>
                <a:spcPts val="0"/>
              </a:spcBef>
              <a:spcAft>
                <a:spcPts val="0"/>
              </a:spcAft>
              <a:buClr>
                <a:srgbClr val="000000"/>
              </a:buClr>
              <a:buSzPts val="900"/>
              <a:buFont typeface="Helvetica Neue Light"/>
              <a:buNone/>
              <a:defRPr b="0" sz="9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900"/>
              <a:buFont typeface="Helvetica Neue Light"/>
              <a:buNone/>
              <a:defRPr b="0" sz="9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900"/>
              <a:buFont typeface="Helvetica Neue Light"/>
              <a:buNone/>
              <a:defRPr b="0" sz="9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900"/>
              <a:buFont typeface="Helvetica Neue Light"/>
              <a:buNone/>
              <a:defRPr b="0" sz="9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900"/>
              <a:buFont typeface="Helvetica Neue Light"/>
              <a:buNone/>
              <a:defRPr b="0" sz="9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900"/>
              <a:buFont typeface="Helvetica Neue Light"/>
              <a:buNone/>
              <a:defRPr b="0" sz="9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900"/>
              <a:buFont typeface="Helvetica Neue Light"/>
              <a:buNone/>
              <a:defRPr b="0" sz="9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900"/>
              <a:buFont typeface="Helvetica Neue Light"/>
              <a:buNone/>
              <a:defRPr b="0" sz="9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900"/>
              <a:buFont typeface="Helvetica Neue Light"/>
              <a:buNone/>
              <a:defRPr b="0" sz="9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
              <a:t>‹#›</a:t>
            </a:fld>
            <a:endParaRPr sz="1000">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4" name="Shape 5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5"/>
          <p:cNvSpPr txBox="1"/>
          <p:nvPr>
            <p:ph type="title"/>
          </p:nvPr>
        </p:nvSpPr>
        <p:spPr>
          <a:xfrm>
            <a:off x="666750" y="862013"/>
            <a:ext cx="5341800" cy="1743000"/>
          </a:xfrm>
          <a:prstGeom prst="rect">
            <a:avLst/>
          </a:prstGeom>
          <a:noFill/>
          <a:ln>
            <a:noFill/>
          </a:ln>
        </p:spPr>
        <p:txBody>
          <a:bodyPr anchorCtr="0" anchor="b" bIns="19050" lIns="19050" spcFirstLastPara="1" rIns="19050" wrap="square" tIns="19050">
            <a:normAutofit/>
          </a:bodyPr>
          <a:lstStyle/>
          <a:p>
            <a:pPr indent="0" lvl="0" marL="0" marR="0" rtl="0" algn="l">
              <a:lnSpc>
                <a:spcPct val="100000"/>
              </a:lnSpc>
              <a:spcBef>
                <a:spcPts val="0"/>
              </a:spcBef>
              <a:spcAft>
                <a:spcPts val="0"/>
              </a:spcAft>
              <a:buClr>
                <a:srgbClr val="000000"/>
              </a:buClr>
              <a:buSzPts val="4200"/>
              <a:buFont typeface="Avenir"/>
              <a:buNone/>
            </a:pPr>
            <a:r>
              <a:rPr lang="en">
                <a:latin typeface="Avenir"/>
                <a:ea typeface="Avenir"/>
                <a:cs typeface="Avenir"/>
                <a:sym typeface="Avenir"/>
              </a:rPr>
              <a:t>Week 7</a:t>
            </a:r>
            <a:endParaRPr>
              <a:latin typeface="Avenir"/>
              <a:ea typeface="Avenir"/>
              <a:cs typeface="Avenir"/>
              <a:sym typeface="Avenir"/>
            </a:endParaRPr>
          </a:p>
        </p:txBody>
      </p:sp>
      <p:sp>
        <p:nvSpPr>
          <p:cNvPr id="60" name="Google Shape;60;p15"/>
          <p:cNvSpPr txBox="1"/>
          <p:nvPr>
            <p:ph idx="1" type="body"/>
          </p:nvPr>
        </p:nvSpPr>
        <p:spPr>
          <a:xfrm>
            <a:off x="666750" y="3228234"/>
            <a:ext cx="3041100" cy="1671000"/>
          </a:xfrm>
          <a:prstGeom prst="rect">
            <a:avLst/>
          </a:prstGeom>
          <a:noFill/>
          <a:ln>
            <a:noFill/>
          </a:ln>
        </p:spPr>
        <p:txBody>
          <a:bodyPr anchorCtr="0" anchor="t" bIns="19050" lIns="19050" spcFirstLastPara="1" rIns="19050" wrap="square" tIns="19050">
            <a:normAutofit/>
          </a:bodyPr>
          <a:lstStyle/>
          <a:p>
            <a:pPr indent="0" lvl="0" marL="0" rtl="0" algn="ctr">
              <a:spcBef>
                <a:spcPts val="0"/>
              </a:spcBef>
              <a:spcAft>
                <a:spcPts val="0"/>
              </a:spcAft>
              <a:buClr>
                <a:schemeClr val="dk1"/>
              </a:buClr>
              <a:buSzPts val="2000"/>
              <a:buFont typeface="Avenir"/>
              <a:buNone/>
            </a:pPr>
            <a:r>
              <a:rPr lang="en" sz="2000">
                <a:solidFill>
                  <a:schemeClr val="dk1"/>
                </a:solidFill>
                <a:latin typeface="Avenir"/>
                <a:ea typeface="Avenir"/>
                <a:cs typeface="Avenir"/>
                <a:sym typeface="Avenir"/>
              </a:rPr>
              <a:t>COGS 108 </a:t>
            </a:r>
            <a:r>
              <a:rPr lang="en" sz="2000">
                <a:solidFill>
                  <a:schemeClr val="dk1"/>
                </a:solidFill>
                <a:latin typeface="Avenir"/>
                <a:ea typeface="Avenir"/>
                <a:cs typeface="Avenir"/>
                <a:sym typeface="Avenir"/>
              </a:rPr>
              <a:t>SP</a:t>
            </a:r>
            <a:r>
              <a:rPr lang="en" sz="2000">
                <a:solidFill>
                  <a:schemeClr val="dk1"/>
                </a:solidFill>
                <a:latin typeface="Avenir"/>
                <a:ea typeface="Avenir"/>
                <a:cs typeface="Avenir"/>
                <a:sym typeface="Avenir"/>
              </a:rPr>
              <a:t> 2026</a:t>
            </a:r>
            <a:endParaRPr sz="2000">
              <a:latin typeface="Avenir"/>
              <a:ea typeface="Avenir"/>
              <a:cs typeface="Avenir"/>
              <a:sym typeface="Avenir"/>
            </a:endParaRPr>
          </a:p>
          <a:p>
            <a:pPr indent="0" lvl="0" marL="0" marR="0" rtl="0" algn="l">
              <a:lnSpc>
                <a:spcPct val="100000"/>
              </a:lnSpc>
              <a:spcBef>
                <a:spcPts val="0"/>
              </a:spcBef>
              <a:spcAft>
                <a:spcPts val="0"/>
              </a:spcAft>
              <a:buClr>
                <a:srgbClr val="000000"/>
              </a:buClr>
              <a:buSzPts val="2000"/>
              <a:buFont typeface="Avenir"/>
              <a:buNone/>
            </a:pPr>
            <a:r>
              <a:t/>
            </a:r>
            <a:endParaRPr>
              <a:latin typeface="Avenir"/>
              <a:ea typeface="Avenir"/>
              <a:cs typeface="Avenir"/>
              <a:sym typeface="Avenir"/>
            </a:endParaRPr>
          </a:p>
        </p:txBody>
      </p:sp>
      <p:cxnSp>
        <p:nvCxnSpPr>
          <p:cNvPr id="61" name="Google Shape;61;p15"/>
          <p:cNvCxnSpPr/>
          <p:nvPr/>
        </p:nvCxnSpPr>
        <p:spPr>
          <a:xfrm>
            <a:off x="667290" y="2809875"/>
            <a:ext cx="7809300" cy="0"/>
          </a:xfrm>
          <a:prstGeom prst="straightConnector1">
            <a:avLst/>
          </a:prstGeom>
          <a:noFill/>
          <a:ln cap="flat" cmpd="sng" w="25400">
            <a:solidFill>
              <a:srgbClr val="000000"/>
            </a:solidFill>
            <a:prstDash val="solid"/>
            <a:miter lim="400000"/>
            <a:headEnd len="sm" w="sm" type="none"/>
            <a:tailEnd len="sm" w="sm" type="none"/>
          </a:ln>
        </p:spPr>
      </p:cxnSp>
      <p:sp>
        <p:nvSpPr>
          <p:cNvPr id="62" name="Google Shape;62;p15"/>
          <p:cNvSpPr txBox="1"/>
          <p:nvPr/>
        </p:nvSpPr>
        <p:spPr>
          <a:xfrm>
            <a:off x="6017239" y="294615"/>
            <a:ext cx="2468700" cy="2286000"/>
          </a:xfrm>
          <a:prstGeom prst="rect">
            <a:avLst/>
          </a:prstGeom>
          <a:noFill/>
          <a:ln>
            <a:noFill/>
          </a:ln>
        </p:spPr>
        <p:txBody>
          <a:bodyPr anchorCtr="0" anchor="t" bIns="19050" lIns="19050" spcFirstLastPara="1" rIns="19050" wrap="square" tIns="19050">
            <a:normAutofit/>
          </a:bodyPr>
          <a:lstStyle/>
          <a:p>
            <a:pPr indent="0" lvl="0" marL="0" marR="0" rtl="0" algn="l">
              <a:lnSpc>
                <a:spcPct val="100000"/>
              </a:lnSpc>
              <a:spcBef>
                <a:spcPts val="0"/>
              </a:spcBef>
              <a:spcAft>
                <a:spcPts val="0"/>
              </a:spcAft>
              <a:buClr>
                <a:srgbClr val="000000"/>
              </a:buClr>
              <a:buSzPts val="2000"/>
              <a:buFont typeface="Avenir"/>
              <a:buNone/>
            </a:pPr>
            <a:r>
              <a:t/>
            </a:r>
            <a:endParaRPr b="1" i="0" sz="2000" u="none" cap="none" strike="noStrike">
              <a:solidFill>
                <a:srgbClr val="000000"/>
              </a:solidFill>
              <a:latin typeface="Avenir"/>
              <a:ea typeface="Avenir"/>
              <a:cs typeface="Avenir"/>
              <a:sym typeface="Avenir"/>
            </a:endParaRPr>
          </a:p>
        </p:txBody>
      </p:sp>
      <p:sp>
        <p:nvSpPr>
          <p:cNvPr id="63" name="Google Shape;63;p15"/>
          <p:cNvSpPr txBox="1"/>
          <p:nvPr/>
        </p:nvSpPr>
        <p:spPr>
          <a:xfrm>
            <a:off x="92850" y="4716425"/>
            <a:ext cx="5347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*By: Jason Chen &amp; Jessica Cheng, Spring 2026</a:t>
            </a:r>
            <a:endParaRPr sz="12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6"/>
          <p:cNvSpPr txBox="1"/>
          <p:nvPr/>
        </p:nvSpPr>
        <p:spPr>
          <a:xfrm>
            <a:off x="633413" y="133350"/>
            <a:ext cx="7877100" cy="857400"/>
          </a:xfrm>
          <a:prstGeom prst="rect">
            <a:avLst/>
          </a:prstGeom>
          <a:noFill/>
          <a:ln>
            <a:noFill/>
          </a:ln>
        </p:spPr>
        <p:txBody>
          <a:bodyPr anchorCtr="0" anchor="ctr" bIns="19050" lIns="19050" spcFirstLastPara="1" rIns="19050" wrap="square" tIns="19050">
            <a:normAutofit/>
          </a:bodyPr>
          <a:lstStyle/>
          <a:p>
            <a:pPr indent="0" lvl="0" marL="0" rtl="0" algn="l">
              <a:spcBef>
                <a:spcPts val="0"/>
              </a:spcBef>
              <a:spcAft>
                <a:spcPts val="0"/>
              </a:spcAft>
              <a:buNone/>
            </a:pPr>
            <a:r>
              <a:rPr b="1" lang="en" sz="3000">
                <a:latin typeface="Avenir"/>
                <a:ea typeface="Avenir"/>
                <a:cs typeface="Avenir"/>
                <a:sym typeface="Avenir"/>
              </a:rPr>
              <a:t>Due</a:t>
            </a:r>
            <a:r>
              <a:rPr b="1" lang="en" sz="3000">
                <a:latin typeface="Avenir"/>
                <a:ea typeface="Avenir"/>
                <a:cs typeface="Avenir"/>
                <a:sym typeface="Avenir"/>
              </a:rPr>
              <a:t> dates</a:t>
            </a:r>
            <a:endParaRPr b="1" sz="3000">
              <a:latin typeface="Avenir"/>
              <a:ea typeface="Avenir"/>
              <a:cs typeface="Avenir"/>
              <a:sym typeface="Avenir"/>
            </a:endParaRPr>
          </a:p>
        </p:txBody>
      </p:sp>
      <p:sp>
        <p:nvSpPr>
          <p:cNvPr id="69" name="Google Shape;69;p16"/>
          <p:cNvSpPr txBox="1"/>
          <p:nvPr/>
        </p:nvSpPr>
        <p:spPr>
          <a:xfrm>
            <a:off x="633413" y="1162050"/>
            <a:ext cx="7877100" cy="3486300"/>
          </a:xfrm>
          <a:prstGeom prst="rect">
            <a:avLst/>
          </a:prstGeom>
          <a:noFill/>
          <a:ln>
            <a:noFill/>
          </a:ln>
        </p:spPr>
        <p:txBody>
          <a:bodyPr anchorCtr="0" anchor="t" bIns="19050" lIns="19050" spcFirstLastPara="1" rIns="19050" wrap="square" tIns="19050">
            <a:normAutofit/>
          </a:bodyPr>
          <a:lstStyle/>
          <a:p>
            <a:pPr indent="-234950" lvl="0" marL="266700" rtl="0" algn="l">
              <a:spcBef>
                <a:spcPts val="0"/>
              </a:spcBef>
              <a:spcAft>
                <a:spcPts val="0"/>
              </a:spcAft>
              <a:buSzPts val="2100"/>
              <a:buFont typeface="Avenir"/>
              <a:buChar char="•"/>
            </a:pPr>
            <a:r>
              <a:rPr lang="en" sz="2100">
                <a:solidFill>
                  <a:schemeClr val="dk1"/>
                </a:solidFill>
                <a:latin typeface="Avenir"/>
                <a:ea typeface="Avenir"/>
                <a:cs typeface="Avenir"/>
                <a:sym typeface="Avenir"/>
              </a:rPr>
              <a:t>Data Checkpoint</a:t>
            </a:r>
            <a:r>
              <a:rPr lang="en" sz="2100">
                <a:solidFill>
                  <a:schemeClr val="dk1"/>
                </a:solidFill>
                <a:latin typeface="Avenir"/>
                <a:ea typeface="Avenir"/>
                <a:cs typeface="Avenir"/>
                <a:sym typeface="Avenir"/>
              </a:rPr>
              <a:t>: Wednesday (05/13)</a:t>
            </a:r>
            <a:endParaRPr sz="2100">
              <a:solidFill>
                <a:schemeClr val="dk1"/>
              </a:solidFill>
              <a:latin typeface="Avenir"/>
              <a:ea typeface="Avenir"/>
              <a:cs typeface="Avenir"/>
              <a:sym typeface="Avenir"/>
            </a:endParaRPr>
          </a:p>
          <a:p>
            <a:pPr indent="-234950" lvl="0" marL="266700" rtl="0" algn="l">
              <a:spcBef>
                <a:spcPts val="0"/>
              </a:spcBef>
              <a:spcAft>
                <a:spcPts val="0"/>
              </a:spcAft>
              <a:buClr>
                <a:schemeClr val="dk1"/>
              </a:buClr>
              <a:buSzPts val="2100"/>
              <a:buFont typeface="Avenir"/>
              <a:buChar char="•"/>
            </a:pPr>
            <a:r>
              <a:rPr lang="en" sz="2100">
                <a:solidFill>
                  <a:schemeClr val="dk1"/>
                </a:solidFill>
                <a:latin typeface="Avenir"/>
                <a:ea typeface="Avenir"/>
                <a:cs typeface="Avenir"/>
                <a:sym typeface="Avenir"/>
              </a:rPr>
              <a:t>D6: Friday (05/15)</a:t>
            </a:r>
            <a:endParaRPr sz="2100">
              <a:latin typeface="Avenir"/>
              <a:ea typeface="Avenir"/>
              <a:cs typeface="Avenir"/>
              <a:sym typeface="Aveni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7"/>
          <p:cNvSpPr txBox="1"/>
          <p:nvPr/>
        </p:nvSpPr>
        <p:spPr>
          <a:xfrm>
            <a:off x="633413" y="133350"/>
            <a:ext cx="7877100" cy="857400"/>
          </a:xfrm>
          <a:prstGeom prst="rect">
            <a:avLst/>
          </a:prstGeom>
          <a:noFill/>
          <a:ln>
            <a:noFill/>
          </a:ln>
        </p:spPr>
        <p:txBody>
          <a:bodyPr anchorCtr="0" anchor="ctr" bIns="19050" lIns="19050" spcFirstLastPara="1" rIns="19050" wrap="square" tIns="19050">
            <a:normAutofit/>
          </a:bodyPr>
          <a:lstStyle/>
          <a:p>
            <a:pPr indent="0" lvl="0" marL="0" rtl="0" algn="l">
              <a:spcBef>
                <a:spcPts val="0"/>
              </a:spcBef>
              <a:spcAft>
                <a:spcPts val="0"/>
              </a:spcAft>
              <a:buNone/>
            </a:pPr>
            <a:r>
              <a:rPr b="1" lang="en" sz="3000">
                <a:latin typeface="Avenir"/>
                <a:ea typeface="Avenir"/>
                <a:cs typeface="Avenir"/>
                <a:sym typeface="Avenir"/>
              </a:rPr>
              <a:t>Data Checkpoint</a:t>
            </a:r>
            <a:endParaRPr b="1" sz="3000">
              <a:latin typeface="Avenir"/>
              <a:ea typeface="Avenir"/>
              <a:cs typeface="Avenir"/>
              <a:sym typeface="Avenir"/>
            </a:endParaRPr>
          </a:p>
        </p:txBody>
      </p:sp>
      <p:sp>
        <p:nvSpPr>
          <p:cNvPr id="75" name="Google Shape;75;p17"/>
          <p:cNvSpPr txBox="1"/>
          <p:nvPr/>
        </p:nvSpPr>
        <p:spPr>
          <a:xfrm>
            <a:off x="633413" y="1162050"/>
            <a:ext cx="7877100" cy="3486300"/>
          </a:xfrm>
          <a:prstGeom prst="rect">
            <a:avLst/>
          </a:prstGeom>
          <a:noFill/>
          <a:ln>
            <a:noFill/>
          </a:ln>
        </p:spPr>
        <p:txBody>
          <a:bodyPr anchorCtr="0" anchor="t" bIns="19050" lIns="19050" spcFirstLastPara="1" rIns="19050" wrap="square" tIns="19050">
            <a:normAutofit/>
          </a:bodyPr>
          <a:lstStyle/>
          <a:p>
            <a:pPr indent="-234950" lvl="0" marL="266700" marR="0" rtl="0" algn="l">
              <a:lnSpc>
                <a:spcPct val="100000"/>
              </a:lnSpc>
              <a:spcBef>
                <a:spcPts val="0"/>
              </a:spcBef>
              <a:spcAft>
                <a:spcPts val="0"/>
              </a:spcAft>
              <a:buClr>
                <a:schemeClr val="dk1"/>
              </a:buClr>
              <a:buSzPts val="2100"/>
              <a:buFont typeface="Avenir"/>
              <a:buChar char="•"/>
            </a:pPr>
            <a:r>
              <a:rPr lang="en" sz="2100">
                <a:solidFill>
                  <a:schemeClr val="dk1"/>
                </a:solidFill>
                <a:latin typeface="Avenir"/>
                <a:ea typeface="Avenir"/>
                <a:cs typeface="Avenir"/>
                <a:sym typeface="Avenir"/>
              </a:rPr>
              <a:t>Address proposal feedback in the checkpoint</a:t>
            </a:r>
            <a:endParaRPr sz="2100">
              <a:solidFill>
                <a:schemeClr val="dk1"/>
              </a:solidFill>
              <a:latin typeface="Avenir"/>
              <a:ea typeface="Avenir"/>
              <a:cs typeface="Avenir"/>
              <a:sym typeface="Avenir"/>
            </a:endParaRPr>
          </a:p>
          <a:p>
            <a:pPr indent="-234950" lvl="0" marL="266700" marR="0" rtl="0" algn="l">
              <a:lnSpc>
                <a:spcPct val="100000"/>
              </a:lnSpc>
              <a:spcBef>
                <a:spcPts val="0"/>
              </a:spcBef>
              <a:spcAft>
                <a:spcPts val="0"/>
              </a:spcAft>
              <a:buClr>
                <a:schemeClr val="dk1"/>
              </a:buClr>
              <a:buSzPts val="2100"/>
              <a:buFont typeface="Avenir"/>
              <a:buChar char="•"/>
            </a:pPr>
            <a:r>
              <a:rPr lang="en" sz="2100">
                <a:solidFill>
                  <a:schemeClr val="dk1"/>
                </a:solidFill>
                <a:latin typeface="Avenir"/>
                <a:ea typeface="Avenir"/>
                <a:cs typeface="Avenir"/>
                <a:sym typeface="Avenir"/>
              </a:rPr>
              <a:t>Proposal grade will be adjusted if issues are addressed</a:t>
            </a:r>
            <a:endParaRPr sz="2100">
              <a:solidFill>
                <a:schemeClr val="dk1"/>
              </a:solidFill>
              <a:latin typeface="Avenir"/>
              <a:ea typeface="Avenir"/>
              <a:cs typeface="Avenir"/>
              <a:sym typeface="Aveni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80" name="Shape 80"/>
        <p:cNvGrpSpPr/>
        <p:nvPr/>
      </p:nvGrpSpPr>
      <p:grpSpPr>
        <a:xfrm>
          <a:off x="0" y="0"/>
          <a:ext cx="0" cy="0"/>
          <a:chOff x="0" y="0"/>
          <a:chExt cx="0" cy="0"/>
        </a:xfrm>
      </p:grpSpPr>
      <p:sp>
        <p:nvSpPr>
          <p:cNvPr id="81" name="Google Shape;81;p18"/>
          <p:cNvSpPr/>
          <p:nvPr/>
        </p:nvSpPr>
        <p:spPr>
          <a:xfrm>
            <a:off x="0" y="0"/>
            <a:ext cx="96000" cy="5143500"/>
          </a:xfrm>
          <a:prstGeom prst="rect">
            <a:avLst/>
          </a:prstGeom>
          <a:solidFill>
            <a:srgbClr val="3AA6A6"/>
          </a:solidFill>
          <a:ln cap="flat" cmpd="sng" w="12700">
            <a:solidFill>
              <a:srgbClr val="3AA6A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2" name="Google Shape;82;p18"/>
          <p:cNvSpPr/>
          <p:nvPr/>
        </p:nvSpPr>
        <p:spPr>
          <a:xfrm>
            <a:off x="377200" y="240030"/>
            <a:ext cx="8161200" cy="30870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18324A"/>
              </a:buClr>
              <a:buSzPts val="2300"/>
              <a:buFont typeface="Play"/>
              <a:buNone/>
            </a:pPr>
            <a:r>
              <a:rPr b="1" i="0" lang="en" sz="2300" u="none" cap="none" strike="noStrike">
                <a:solidFill>
                  <a:srgbClr val="18324A"/>
                </a:solidFill>
                <a:latin typeface="Play"/>
                <a:ea typeface="Play"/>
                <a:cs typeface="Play"/>
                <a:sym typeface="Play"/>
              </a:rPr>
              <a:t>Models: </a:t>
            </a:r>
            <a:r>
              <a:rPr b="1" lang="en" sz="2300">
                <a:solidFill>
                  <a:srgbClr val="18324A"/>
                </a:solidFill>
                <a:latin typeface="Play"/>
                <a:ea typeface="Play"/>
                <a:cs typeface="Play"/>
                <a:sym typeface="Play"/>
              </a:rPr>
              <a:t>Evaluation Metric</a:t>
            </a:r>
            <a:endParaRPr b="0" i="0" sz="2300" u="none" cap="none" strike="noStrike">
              <a:solidFill>
                <a:schemeClr val="dk1"/>
              </a:solidFill>
              <a:latin typeface="Arial"/>
              <a:ea typeface="Arial"/>
              <a:cs typeface="Arial"/>
              <a:sym typeface="Arial"/>
            </a:endParaRPr>
          </a:p>
        </p:txBody>
      </p:sp>
      <p:graphicFrame>
        <p:nvGraphicFramePr>
          <p:cNvPr id="83" name="Google Shape;83;p18"/>
          <p:cNvGraphicFramePr/>
          <p:nvPr/>
        </p:nvGraphicFramePr>
        <p:xfrm>
          <a:off x="156750" y="660400"/>
          <a:ext cx="3000000" cy="3000000"/>
        </p:xfrm>
        <a:graphic>
          <a:graphicData uri="http://schemas.openxmlformats.org/drawingml/2006/table">
            <a:tbl>
              <a:tblPr>
                <a:noFill/>
                <a:tableStyleId>{A6E910A6-70C8-4CD0-9571-EE0AE25CBB7E}</a:tableStyleId>
              </a:tblPr>
              <a:tblGrid>
                <a:gridCol w="1478975"/>
                <a:gridCol w="1313600"/>
                <a:gridCol w="2279300"/>
                <a:gridCol w="2600025"/>
                <a:gridCol w="1158600"/>
              </a:tblGrid>
              <a:tr h="627550">
                <a:tc>
                  <a:txBody>
                    <a:bodyPr/>
                    <a:lstStyle/>
                    <a:p>
                      <a:pPr indent="0" lvl="0" marL="0" rtl="0" algn="ctr">
                        <a:lnSpc>
                          <a:spcPct val="115000"/>
                        </a:lnSpc>
                        <a:spcBef>
                          <a:spcPts val="0"/>
                        </a:spcBef>
                        <a:spcAft>
                          <a:spcPts val="0"/>
                        </a:spcAft>
                        <a:buNone/>
                      </a:pPr>
                      <a:r>
                        <a:rPr b="1" lang="en" sz="1100"/>
                        <a:t>Metric</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Penalizes Complexity?</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Main Purpose</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Key Idea</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Better Value</a:t>
                      </a:r>
                      <a:endParaRPr b="1" sz="1100"/>
                    </a:p>
                  </a:txBody>
                  <a:tcPr marT="91425" marB="91425" marR="91425" marL="91425"/>
                </a:tc>
              </a:tr>
              <a:tr h="770175">
                <a:tc>
                  <a:txBody>
                    <a:bodyPr/>
                    <a:lstStyle/>
                    <a:p>
                      <a:pPr indent="0" lvl="0" marL="0" rtl="0" algn="l">
                        <a:lnSpc>
                          <a:spcPct val="115000"/>
                        </a:lnSpc>
                        <a:spcBef>
                          <a:spcPts val="0"/>
                        </a:spcBef>
                        <a:spcAft>
                          <a:spcPts val="0"/>
                        </a:spcAft>
                        <a:buNone/>
                      </a:pPr>
                      <a:r>
                        <a:rPr lang="en"/>
                        <a:t>Adjusted R-squared</a:t>
                      </a:r>
                      <a:endParaRPr/>
                    </a:p>
                  </a:txBody>
                  <a:tcPr marT="91425" marB="91425" marR="91425" marL="91425"/>
                </a:tc>
                <a:tc>
                  <a:txBody>
                    <a:bodyPr/>
                    <a:lstStyle/>
                    <a:p>
                      <a:pPr indent="0" lvl="0" marL="0" rtl="0" algn="l">
                        <a:lnSpc>
                          <a:spcPct val="115000"/>
                        </a:lnSpc>
                        <a:spcBef>
                          <a:spcPts val="0"/>
                        </a:spcBef>
                        <a:spcAft>
                          <a:spcPts val="0"/>
                        </a:spcAft>
                        <a:buNone/>
                      </a:pPr>
                      <a:r>
                        <a:rPr lang="en"/>
                        <a:t>Yes</a:t>
                      </a:r>
                      <a:endParaRPr/>
                    </a:p>
                  </a:txBody>
                  <a:tcPr marT="91425" marB="91425" marR="91425" marL="91425"/>
                </a:tc>
                <a:tc>
                  <a:txBody>
                    <a:bodyPr/>
                    <a:lstStyle/>
                    <a:p>
                      <a:pPr indent="0" lvl="0" marL="0" rtl="0" algn="l">
                        <a:lnSpc>
                          <a:spcPct val="115000"/>
                        </a:lnSpc>
                        <a:spcBef>
                          <a:spcPts val="0"/>
                        </a:spcBef>
                        <a:spcAft>
                          <a:spcPts val="0"/>
                        </a:spcAft>
                        <a:buNone/>
                      </a:pPr>
                      <a:r>
                        <a:rPr lang="en"/>
                        <a:t>Compare regression models with different numbers of predictors</a:t>
                      </a:r>
                      <a:endParaRPr/>
                    </a:p>
                  </a:txBody>
                  <a:tcPr marT="91425" marB="91425" marR="91425" marL="91425"/>
                </a:tc>
                <a:tc>
                  <a:txBody>
                    <a:bodyPr/>
                    <a:lstStyle/>
                    <a:p>
                      <a:pPr indent="0" lvl="0" marL="0" rtl="0" algn="l">
                        <a:lnSpc>
                          <a:spcPct val="115000"/>
                        </a:lnSpc>
                        <a:spcBef>
                          <a:spcPts val="0"/>
                        </a:spcBef>
                        <a:spcAft>
                          <a:spcPts val="0"/>
                        </a:spcAft>
                        <a:buNone/>
                      </a:pPr>
                      <a:r>
                        <a:rPr lang="en"/>
                        <a:t>Adjusts R² by penalizing unnecessary variables</a:t>
                      </a:r>
                      <a:endParaRPr/>
                    </a:p>
                  </a:txBody>
                  <a:tcPr marT="91425" marB="91425" marR="91425" marL="91425"/>
                </a:tc>
                <a:tc>
                  <a:txBody>
                    <a:bodyPr/>
                    <a:lstStyle/>
                    <a:p>
                      <a:pPr indent="0" lvl="0" marL="0" rtl="0" algn="l">
                        <a:lnSpc>
                          <a:spcPct val="115000"/>
                        </a:lnSpc>
                        <a:spcBef>
                          <a:spcPts val="0"/>
                        </a:spcBef>
                        <a:spcAft>
                          <a:spcPts val="0"/>
                        </a:spcAft>
                        <a:buNone/>
                      </a:pPr>
                      <a:r>
                        <a:rPr lang="en"/>
                        <a:t>Higher is better</a:t>
                      </a:r>
                      <a:endParaRPr/>
                    </a:p>
                  </a:txBody>
                  <a:tcPr marT="91425" marB="91425" marR="91425" marL="91425"/>
                </a:tc>
              </a:tr>
              <a:tr h="770175">
                <a:tc>
                  <a:txBody>
                    <a:bodyPr/>
                    <a:lstStyle/>
                    <a:p>
                      <a:pPr indent="0" lvl="0" marL="0" rtl="0" algn="l">
                        <a:lnSpc>
                          <a:spcPct val="115000"/>
                        </a:lnSpc>
                        <a:spcBef>
                          <a:spcPts val="0"/>
                        </a:spcBef>
                        <a:spcAft>
                          <a:spcPts val="0"/>
                        </a:spcAft>
                        <a:buNone/>
                      </a:pPr>
                      <a:r>
                        <a:rPr lang="en"/>
                        <a:t>R-squared</a:t>
                      </a:r>
                      <a:endParaRPr/>
                    </a:p>
                  </a:txBody>
                  <a:tcPr marT="91425" marB="91425" marR="91425" marL="91425"/>
                </a:tc>
                <a:tc>
                  <a:txBody>
                    <a:bodyPr/>
                    <a:lstStyle/>
                    <a:p>
                      <a:pPr indent="0" lvl="0" marL="0" rtl="0" algn="l">
                        <a:lnSpc>
                          <a:spcPct val="115000"/>
                        </a:lnSpc>
                        <a:spcBef>
                          <a:spcPts val="0"/>
                        </a:spcBef>
                        <a:spcAft>
                          <a:spcPts val="0"/>
                        </a:spcAft>
                        <a:buNone/>
                      </a:pPr>
                      <a:r>
                        <a:rPr lang="en"/>
                        <a:t>No</a:t>
                      </a:r>
                      <a:endParaRPr/>
                    </a:p>
                  </a:txBody>
                  <a:tcPr marT="91425" marB="91425" marR="91425" marL="91425"/>
                </a:tc>
                <a:tc>
                  <a:txBody>
                    <a:bodyPr/>
                    <a:lstStyle/>
                    <a:p>
                      <a:pPr indent="0" lvl="0" marL="0" rtl="0" algn="l">
                        <a:lnSpc>
                          <a:spcPct val="115000"/>
                        </a:lnSpc>
                        <a:spcBef>
                          <a:spcPts val="0"/>
                        </a:spcBef>
                        <a:spcAft>
                          <a:spcPts val="0"/>
                        </a:spcAft>
                        <a:buNone/>
                      </a:pPr>
                      <a:r>
                        <a:rPr lang="en"/>
                        <a:t>Measure how much variance the model explains</a:t>
                      </a:r>
                      <a:endParaRPr/>
                    </a:p>
                  </a:txBody>
                  <a:tcPr marT="91425" marB="91425" marR="91425" marL="91425"/>
                </a:tc>
                <a:tc>
                  <a:txBody>
                    <a:bodyPr/>
                    <a:lstStyle/>
                    <a:p>
                      <a:pPr indent="0" lvl="0" marL="0" rtl="0" algn="l">
                        <a:lnSpc>
                          <a:spcPct val="115000"/>
                        </a:lnSpc>
                        <a:spcBef>
                          <a:spcPts val="0"/>
                        </a:spcBef>
                        <a:spcAft>
                          <a:spcPts val="0"/>
                        </a:spcAft>
                        <a:buNone/>
                      </a:pPr>
                      <a:r>
                        <a:rPr lang="en"/>
                        <a:t>Usually increases when predictors are added, even if they are useless</a:t>
                      </a:r>
                      <a:endParaRPr/>
                    </a:p>
                  </a:txBody>
                  <a:tcPr marT="91425" marB="91425" marR="91425" marL="91425"/>
                </a:tc>
                <a:tc>
                  <a:txBody>
                    <a:bodyPr/>
                    <a:lstStyle/>
                    <a:p>
                      <a:pPr indent="0" lvl="0" marL="0" rtl="0" algn="l">
                        <a:lnSpc>
                          <a:spcPct val="115000"/>
                        </a:lnSpc>
                        <a:spcBef>
                          <a:spcPts val="0"/>
                        </a:spcBef>
                        <a:spcAft>
                          <a:spcPts val="0"/>
                        </a:spcAft>
                        <a:buNone/>
                      </a:pPr>
                      <a:r>
                        <a:rPr lang="en"/>
                        <a:t>Higher is better</a:t>
                      </a:r>
                      <a:endParaRPr/>
                    </a:p>
                  </a:txBody>
                  <a:tcPr marT="91425" marB="91425" marR="91425" marL="91425"/>
                </a:tc>
              </a:tr>
              <a:tr h="770175">
                <a:tc>
                  <a:txBody>
                    <a:bodyPr/>
                    <a:lstStyle/>
                    <a:p>
                      <a:pPr indent="0" lvl="0" marL="0" rtl="0" algn="l">
                        <a:lnSpc>
                          <a:spcPct val="115000"/>
                        </a:lnSpc>
                        <a:spcBef>
                          <a:spcPts val="0"/>
                        </a:spcBef>
                        <a:spcAft>
                          <a:spcPts val="0"/>
                        </a:spcAft>
                        <a:buNone/>
                      </a:pPr>
                      <a:r>
                        <a:rPr lang="en"/>
                        <a:t>BIC </a:t>
                      </a:r>
                      <a:endParaRPr/>
                    </a:p>
                  </a:txBody>
                  <a:tcPr marT="91425" marB="91425" marR="91425" marL="91425"/>
                </a:tc>
                <a:tc>
                  <a:txBody>
                    <a:bodyPr/>
                    <a:lstStyle/>
                    <a:p>
                      <a:pPr indent="0" lvl="0" marL="0" rtl="0" algn="l">
                        <a:lnSpc>
                          <a:spcPct val="115000"/>
                        </a:lnSpc>
                        <a:spcBef>
                          <a:spcPts val="0"/>
                        </a:spcBef>
                        <a:spcAft>
                          <a:spcPts val="0"/>
                        </a:spcAft>
                        <a:buNone/>
                      </a:pPr>
                      <a:r>
                        <a:rPr lang="en"/>
                        <a:t>Strongly</a:t>
                      </a:r>
                      <a:endParaRPr/>
                    </a:p>
                  </a:txBody>
                  <a:tcPr marT="91425" marB="91425" marR="91425" marL="91425"/>
                </a:tc>
                <a:tc>
                  <a:txBody>
                    <a:bodyPr/>
                    <a:lstStyle/>
                    <a:p>
                      <a:pPr indent="0" lvl="0" marL="0" rtl="0" algn="l">
                        <a:lnSpc>
                          <a:spcPct val="115000"/>
                        </a:lnSpc>
                        <a:spcBef>
                          <a:spcPts val="0"/>
                        </a:spcBef>
                        <a:spcAft>
                          <a:spcPts val="0"/>
                        </a:spcAft>
                        <a:buNone/>
                      </a:pPr>
                      <a:r>
                        <a:rPr lang="en"/>
                        <a:t>Model selection and overfitting control</a:t>
                      </a:r>
                      <a:endParaRPr/>
                    </a:p>
                  </a:txBody>
                  <a:tcPr marT="91425" marB="91425" marR="91425" marL="91425"/>
                </a:tc>
                <a:tc>
                  <a:txBody>
                    <a:bodyPr/>
                    <a:lstStyle/>
                    <a:p>
                      <a:pPr indent="0" lvl="0" marL="0" rtl="0" algn="l">
                        <a:lnSpc>
                          <a:spcPct val="115000"/>
                        </a:lnSpc>
                        <a:spcBef>
                          <a:spcPts val="0"/>
                        </a:spcBef>
                        <a:spcAft>
                          <a:spcPts val="0"/>
                        </a:spcAft>
                        <a:buNone/>
                      </a:pPr>
                      <a:r>
                        <a:rPr lang="en"/>
                        <a:t>Strong penalty for adding more parameters</a:t>
                      </a:r>
                      <a:endParaRPr/>
                    </a:p>
                  </a:txBody>
                  <a:tcPr marT="91425" marB="91425" marR="91425" marL="91425"/>
                </a:tc>
                <a:tc>
                  <a:txBody>
                    <a:bodyPr/>
                    <a:lstStyle/>
                    <a:p>
                      <a:pPr indent="0" lvl="0" marL="0" rtl="0" algn="l">
                        <a:lnSpc>
                          <a:spcPct val="115000"/>
                        </a:lnSpc>
                        <a:spcBef>
                          <a:spcPts val="0"/>
                        </a:spcBef>
                        <a:spcAft>
                          <a:spcPts val="0"/>
                        </a:spcAft>
                        <a:buNone/>
                      </a:pPr>
                      <a:r>
                        <a:rPr lang="en"/>
                        <a:t>Lower is better</a:t>
                      </a:r>
                      <a:endParaRPr/>
                    </a:p>
                  </a:txBody>
                  <a:tcPr marT="91425" marB="91425" marR="91425" marL="91425"/>
                </a:tc>
              </a:tr>
              <a:tr h="770175">
                <a:tc>
                  <a:txBody>
                    <a:bodyPr/>
                    <a:lstStyle/>
                    <a:p>
                      <a:pPr indent="0" lvl="0" marL="0" rtl="0" algn="l">
                        <a:lnSpc>
                          <a:spcPct val="115000"/>
                        </a:lnSpc>
                        <a:spcBef>
                          <a:spcPts val="0"/>
                        </a:spcBef>
                        <a:spcAft>
                          <a:spcPts val="0"/>
                        </a:spcAft>
                        <a:buNone/>
                      </a:pPr>
                      <a:r>
                        <a:rPr lang="en"/>
                        <a:t>Durbin-Watson</a:t>
                      </a:r>
                      <a:endParaRPr/>
                    </a:p>
                  </a:txBody>
                  <a:tcPr marT="91425" marB="91425" marR="91425" marL="91425"/>
                </a:tc>
                <a:tc>
                  <a:txBody>
                    <a:bodyPr/>
                    <a:lstStyle/>
                    <a:p>
                      <a:pPr indent="0" lvl="0" marL="0" rtl="0" algn="l">
                        <a:lnSpc>
                          <a:spcPct val="115000"/>
                        </a:lnSpc>
                        <a:spcBef>
                          <a:spcPts val="0"/>
                        </a:spcBef>
                        <a:spcAft>
                          <a:spcPts val="0"/>
                        </a:spcAft>
                        <a:buNone/>
                      </a:pPr>
                      <a:r>
                        <a:rPr lang="en"/>
                        <a:t>No</a:t>
                      </a:r>
                      <a:endParaRPr/>
                    </a:p>
                  </a:txBody>
                  <a:tcPr marT="91425" marB="91425" marR="91425" marL="91425"/>
                </a:tc>
                <a:tc>
                  <a:txBody>
                    <a:bodyPr/>
                    <a:lstStyle/>
                    <a:p>
                      <a:pPr indent="0" lvl="0" marL="0" rtl="0" algn="l">
                        <a:lnSpc>
                          <a:spcPct val="115000"/>
                        </a:lnSpc>
                        <a:spcBef>
                          <a:spcPts val="0"/>
                        </a:spcBef>
                        <a:spcAft>
                          <a:spcPts val="0"/>
                        </a:spcAft>
                        <a:buNone/>
                      </a:pPr>
                      <a:r>
                        <a:rPr lang="en"/>
                        <a:t>Check residual independence</a:t>
                      </a:r>
                      <a:endParaRPr/>
                    </a:p>
                  </a:txBody>
                  <a:tcPr marT="91425" marB="91425" marR="91425" marL="91425"/>
                </a:tc>
                <a:tc>
                  <a:txBody>
                    <a:bodyPr/>
                    <a:lstStyle/>
                    <a:p>
                      <a:pPr indent="0" lvl="0" marL="0" rtl="0" algn="l">
                        <a:lnSpc>
                          <a:spcPct val="115000"/>
                        </a:lnSpc>
                        <a:spcBef>
                          <a:spcPts val="0"/>
                        </a:spcBef>
                        <a:spcAft>
                          <a:spcPts val="0"/>
                        </a:spcAft>
                        <a:buNone/>
                      </a:pPr>
                      <a:r>
                        <a:rPr lang="en"/>
                        <a:t>Detects autocorrelation in residuals, not model complexity</a:t>
                      </a:r>
                      <a:endParaRPr/>
                    </a:p>
                  </a:txBody>
                  <a:tcPr marT="91425" marB="91425" marR="91425" marL="91425"/>
                </a:tc>
                <a:tc>
                  <a:txBody>
                    <a:bodyPr/>
                    <a:lstStyle/>
                    <a:p>
                      <a:pPr indent="0" lvl="0" marL="0" rtl="0" algn="l">
                        <a:lnSpc>
                          <a:spcPct val="115000"/>
                        </a:lnSpc>
                        <a:spcBef>
                          <a:spcPts val="0"/>
                        </a:spcBef>
                        <a:spcAft>
                          <a:spcPts val="0"/>
                        </a:spcAft>
                        <a:buNone/>
                      </a:pPr>
                      <a:r>
                        <a:rPr lang="en"/>
                        <a:t>Closest to 2 is best</a:t>
                      </a:r>
                      <a:endParaRPr/>
                    </a:p>
                  </a:txBody>
                  <a:tcPr marT="91425" marB="91425" marR="91425" marL="91425"/>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88" name="Shape 88"/>
        <p:cNvGrpSpPr/>
        <p:nvPr/>
      </p:nvGrpSpPr>
      <p:grpSpPr>
        <a:xfrm>
          <a:off x="0" y="0"/>
          <a:ext cx="0" cy="0"/>
          <a:chOff x="0" y="0"/>
          <a:chExt cx="0" cy="0"/>
        </a:xfrm>
      </p:grpSpPr>
      <p:sp>
        <p:nvSpPr>
          <p:cNvPr id="89" name="Google Shape;89;p19"/>
          <p:cNvSpPr/>
          <p:nvPr/>
        </p:nvSpPr>
        <p:spPr>
          <a:xfrm>
            <a:off x="0" y="0"/>
            <a:ext cx="96015" cy="5143500"/>
          </a:xfrm>
          <a:prstGeom prst="rect">
            <a:avLst/>
          </a:prstGeom>
          <a:solidFill>
            <a:srgbClr val="3AA6A6"/>
          </a:solidFill>
          <a:ln cap="flat" cmpd="sng" w="12700">
            <a:solidFill>
              <a:srgbClr val="3AA6A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0" name="Google Shape;90;p19"/>
          <p:cNvSpPr/>
          <p:nvPr/>
        </p:nvSpPr>
        <p:spPr>
          <a:xfrm>
            <a:off x="377200" y="240030"/>
            <a:ext cx="8161238" cy="30861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18324A"/>
              </a:buClr>
              <a:buSzPts val="2300"/>
              <a:buFont typeface="Play"/>
              <a:buNone/>
            </a:pPr>
            <a:r>
              <a:rPr b="1" i="0" lang="en" sz="2300" u="none" cap="none" strike="noStrike">
                <a:solidFill>
                  <a:srgbClr val="18324A"/>
                </a:solidFill>
                <a:latin typeface="Play"/>
                <a:ea typeface="Play"/>
                <a:cs typeface="Play"/>
                <a:sym typeface="Play"/>
              </a:rPr>
              <a:t>Models: Regression Interpretation</a:t>
            </a:r>
            <a:endParaRPr b="0" i="0" sz="2300" u="none" cap="none" strike="noStrike">
              <a:solidFill>
                <a:schemeClr val="dk1"/>
              </a:solidFill>
              <a:latin typeface="Arial"/>
              <a:ea typeface="Arial"/>
              <a:cs typeface="Arial"/>
              <a:sym typeface="Arial"/>
            </a:endParaRPr>
          </a:p>
        </p:txBody>
      </p:sp>
      <p:sp>
        <p:nvSpPr>
          <p:cNvPr id="91" name="Google Shape;91;p19"/>
          <p:cNvSpPr/>
          <p:nvPr/>
        </p:nvSpPr>
        <p:spPr>
          <a:xfrm>
            <a:off x="384058" y="624078"/>
            <a:ext cx="7338256"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 sz="900" u="none" cap="none" strike="noStrike">
                <a:solidFill>
                  <a:srgbClr val="6B7280"/>
                </a:solidFill>
                <a:latin typeface="Arial"/>
                <a:ea typeface="Arial"/>
                <a:cs typeface="Arial"/>
                <a:sym typeface="Arial"/>
              </a:rPr>
              <a:t>Focus on what each part of a fitted model means.</a:t>
            </a:r>
            <a:endParaRPr b="0" i="0" sz="900" u="none" cap="none" strike="noStrike">
              <a:solidFill>
                <a:schemeClr val="dk1"/>
              </a:solidFill>
              <a:latin typeface="Arial"/>
              <a:ea typeface="Arial"/>
              <a:cs typeface="Arial"/>
              <a:sym typeface="Arial"/>
            </a:endParaRPr>
          </a:p>
        </p:txBody>
      </p:sp>
      <p:sp>
        <p:nvSpPr>
          <p:cNvPr id="92" name="Google Shape;92;p19"/>
          <p:cNvSpPr/>
          <p:nvPr/>
        </p:nvSpPr>
        <p:spPr>
          <a:xfrm>
            <a:off x="548655" y="1062990"/>
            <a:ext cx="1371637" cy="219456"/>
          </a:xfrm>
          <a:prstGeom prst="rect">
            <a:avLst/>
          </a:prstGeom>
          <a:solidFill>
            <a:srgbClr val="EEF7EF"/>
          </a:solidFill>
          <a:ln cap="flat" cmpd="sng" w="9525">
            <a:solidFill>
              <a:srgbClr val="EEF7EF"/>
            </a:solidFill>
            <a:prstDash val="solid"/>
            <a:round/>
            <a:headEnd len="sm" w="sm" type="none"/>
            <a:tailEnd len="sm" w="sm" type="none"/>
          </a:ln>
        </p:spPr>
        <p:txBody>
          <a:bodyPr anchorCtr="0" anchor="ctr" bIns="575" lIns="575" spcFirstLastPara="1" rIns="575" wrap="square" tIns="575">
            <a:noAutofit/>
          </a:bodyPr>
          <a:lstStyle/>
          <a:p>
            <a:pPr indent="0" lvl="0" marL="0" marR="0" rtl="0" algn="ctr">
              <a:spcBef>
                <a:spcPts val="0"/>
              </a:spcBef>
              <a:spcAft>
                <a:spcPts val="0"/>
              </a:spcAft>
              <a:buClr>
                <a:srgbClr val="3AA6A6"/>
              </a:buClr>
              <a:buSzPts val="800"/>
              <a:buFont typeface="Arial"/>
              <a:buNone/>
            </a:pPr>
            <a:r>
              <a:rPr b="1" i="0" lang="en" sz="800" u="none" cap="none" strike="noStrike">
                <a:solidFill>
                  <a:srgbClr val="3AA6A6"/>
                </a:solidFill>
                <a:latin typeface="Arial"/>
                <a:ea typeface="Arial"/>
                <a:cs typeface="Arial"/>
                <a:sym typeface="Arial"/>
              </a:rPr>
              <a:t>Model form</a:t>
            </a:r>
            <a:endParaRPr b="0" i="0" sz="800" u="none" cap="none" strike="noStrike">
              <a:solidFill>
                <a:schemeClr val="dk1"/>
              </a:solidFill>
              <a:latin typeface="Arial"/>
              <a:ea typeface="Arial"/>
              <a:cs typeface="Arial"/>
              <a:sym typeface="Arial"/>
            </a:endParaRPr>
          </a:p>
        </p:txBody>
      </p:sp>
      <p:sp>
        <p:nvSpPr>
          <p:cNvPr id="93" name="Google Shape;93;p19"/>
          <p:cNvSpPr/>
          <p:nvPr/>
        </p:nvSpPr>
        <p:spPr>
          <a:xfrm>
            <a:off x="548650" y="1405898"/>
            <a:ext cx="4023300" cy="308700"/>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Clr>
                <a:srgbClr val="18324A"/>
              </a:buClr>
              <a:buSzPts val="1800"/>
              <a:buFont typeface="Play"/>
              <a:buNone/>
            </a:pPr>
            <a:r>
              <a:rPr b="1" i="0" lang="en" sz="2100" u="none" cap="none" strike="noStrike">
                <a:solidFill>
                  <a:srgbClr val="18324A"/>
                </a:solidFill>
                <a:latin typeface="Play"/>
                <a:ea typeface="Play"/>
                <a:cs typeface="Play"/>
                <a:sym typeface="Play"/>
              </a:rPr>
              <a:t>outcome = intercept + slope × predictor</a:t>
            </a:r>
            <a:endParaRPr b="0" i="0" sz="2100" u="none" cap="none" strike="noStrike">
              <a:solidFill>
                <a:schemeClr val="dk1"/>
              </a:solidFill>
              <a:latin typeface="Arial"/>
              <a:ea typeface="Arial"/>
              <a:cs typeface="Arial"/>
              <a:sym typeface="Arial"/>
            </a:endParaRPr>
          </a:p>
        </p:txBody>
      </p:sp>
      <p:sp>
        <p:nvSpPr>
          <p:cNvPr id="94" name="Google Shape;94;p19"/>
          <p:cNvSpPr/>
          <p:nvPr/>
        </p:nvSpPr>
        <p:spPr>
          <a:xfrm>
            <a:off x="562375" y="2057400"/>
            <a:ext cx="3703500" cy="2857500"/>
          </a:xfrm>
          <a:prstGeom prst="rect">
            <a:avLst/>
          </a:prstGeom>
          <a:noFill/>
          <a:ln>
            <a:noFill/>
          </a:ln>
        </p:spPr>
        <p:txBody>
          <a:bodyPr anchorCtr="0" anchor="t" bIns="375" lIns="375" spcFirstLastPara="1" rIns="375" wrap="square" tIns="375">
            <a:noAutofit/>
          </a:bodyPr>
          <a:lstStyle/>
          <a:p>
            <a:pPr indent="-349250" lvl="0" marL="457200" marR="0" rtl="0" algn="l">
              <a:spcBef>
                <a:spcPts val="0"/>
              </a:spcBef>
              <a:spcAft>
                <a:spcPts val="0"/>
              </a:spcAft>
              <a:buClr>
                <a:srgbClr val="222222"/>
              </a:buClr>
              <a:buSzPts val="1900"/>
              <a:buFont typeface="Arial"/>
              <a:buChar char="●"/>
            </a:pPr>
            <a:r>
              <a:rPr b="0" i="0" lang="en" sz="1900" u="none" cap="none" strike="noStrike">
                <a:solidFill>
                  <a:srgbClr val="222222"/>
                </a:solidFill>
                <a:latin typeface="Arial"/>
                <a:ea typeface="Arial"/>
                <a:cs typeface="Arial"/>
                <a:sym typeface="Arial"/>
              </a:rPr>
              <a:t>The intercept anchors the model.</a:t>
            </a:r>
            <a:endParaRPr b="0" i="0" sz="1900" u="none" cap="none" strike="noStrike">
              <a:solidFill>
                <a:schemeClr val="dk1"/>
              </a:solidFill>
              <a:latin typeface="Arial"/>
              <a:ea typeface="Arial"/>
              <a:cs typeface="Arial"/>
              <a:sym typeface="Arial"/>
            </a:endParaRPr>
          </a:p>
          <a:p>
            <a:pPr indent="-349250" lvl="0" marL="457200" marR="0" rtl="0" algn="l">
              <a:spcBef>
                <a:spcPts val="0"/>
              </a:spcBef>
              <a:spcAft>
                <a:spcPts val="0"/>
              </a:spcAft>
              <a:buClr>
                <a:srgbClr val="222222"/>
              </a:buClr>
              <a:buSzPts val="1900"/>
              <a:buFont typeface="Arial"/>
              <a:buChar char="●"/>
            </a:pPr>
            <a:r>
              <a:rPr b="0" i="0" lang="en" sz="1900" u="none" cap="none" strike="noStrike">
                <a:solidFill>
                  <a:srgbClr val="222222"/>
                </a:solidFill>
                <a:latin typeface="Arial"/>
                <a:ea typeface="Arial"/>
                <a:cs typeface="Arial"/>
                <a:sym typeface="Arial"/>
              </a:rPr>
              <a:t>The slope represents the expected change in the outcome for a one-unit change in the predictor.</a:t>
            </a:r>
            <a:endParaRPr b="0" i="0" sz="1900" u="none" cap="none" strike="noStrike">
              <a:solidFill>
                <a:schemeClr val="dk1"/>
              </a:solidFill>
              <a:latin typeface="Arial"/>
              <a:ea typeface="Arial"/>
              <a:cs typeface="Arial"/>
              <a:sym typeface="Arial"/>
            </a:endParaRPr>
          </a:p>
          <a:p>
            <a:pPr indent="-349250" lvl="0" marL="457200" marR="0" rtl="0" algn="l">
              <a:spcBef>
                <a:spcPts val="0"/>
              </a:spcBef>
              <a:spcAft>
                <a:spcPts val="0"/>
              </a:spcAft>
              <a:buClr>
                <a:srgbClr val="222222"/>
              </a:buClr>
              <a:buSzPts val="1900"/>
              <a:buFont typeface="Arial"/>
              <a:buChar char="●"/>
            </a:pPr>
            <a:r>
              <a:rPr b="0" i="0" lang="en" sz="1900" u="none" cap="none" strike="noStrike">
                <a:solidFill>
                  <a:srgbClr val="222222"/>
                </a:solidFill>
                <a:latin typeface="Arial"/>
                <a:ea typeface="Arial"/>
                <a:cs typeface="Arial"/>
                <a:sym typeface="Arial"/>
              </a:rPr>
              <a:t>Multiple regression interprets one predictor while holding the others constant.</a:t>
            </a:r>
            <a:endParaRPr b="0" i="0" sz="1900" u="none" cap="none" strike="noStrike">
              <a:solidFill>
                <a:schemeClr val="dk1"/>
              </a:solidFill>
              <a:latin typeface="Arial"/>
              <a:ea typeface="Arial"/>
              <a:cs typeface="Arial"/>
              <a:sym typeface="Arial"/>
            </a:endParaRPr>
          </a:p>
        </p:txBody>
      </p:sp>
      <p:sp>
        <p:nvSpPr>
          <p:cNvPr id="95" name="Google Shape;95;p19"/>
          <p:cNvSpPr/>
          <p:nvPr/>
        </p:nvSpPr>
        <p:spPr>
          <a:xfrm>
            <a:off x="4869310" y="1062990"/>
            <a:ext cx="1783128" cy="219456"/>
          </a:xfrm>
          <a:prstGeom prst="rect">
            <a:avLst/>
          </a:prstGeom>
          <a:solidFill>
            <a:srgbClr val="EEF7EF"/>
          </a:solidFill>
          <a:ln cap="flat" cmpd="sng" w="9525">
            <a:solidFill>
              <a:srgbClr val="EEF7EF"/>
            </a:solidFill>
            <a:prstDash val="solid"/>
            <a:round/>
            <a:headEnd len="sm" w="sm" type="none"/>
            <a:tailEnd len="sm" w="sm" type="none"/>
          </a:ln>
        </p:spPr>
        <p:txBody>
          <a:bodyPr anchorCtr="0" anchor="ctr" bIns="575" lIns="575" spcFirstLastPara="1" rIns="575" wrap="square" tIns="575">
            <a:noAutofit/>
          </a:bodyPr>
          <a:lstStyle/>
          <a:p>
            <a:pPr indent="0" lvl="0" marL="0" marR="0" rtl="0" algn="ctr">
              <a:spcBef>
                <a:spcPts val="0"/>
              </a:spcBef>
              <a:spcAft>
                <a:spcPts val="0"/>
              </a:spcAft>
              <a:buClr>
                <a:srgbClr val="3AA6A6"/>
              </a:buClr>
              <a:buSzPts val="800"/>
              <a:buFont typeface="Arial"/>
              <a:buNone/>
            </a:pPr>
            <a:r>
              <a:rPr b="1" i="0" lang="en" sz="800" u="none" cap="none" strike="noStrike">
                <a:solidFill>
                  <a:srgbClr val="3AA6A6"/>
                </a:solidFill>
                <a:latin typeface="Arial"/>
                <a:ea typeface="Arial"/>
                <a:cs typeface="Arial"/>
                <a:sym typeface="Arial"/>
              </a:rPr>
              <a:t>Interpretation habit</a:t>
            </a:r>
            <a:endParaRPr b="0" i="0" sz="800" u="none" cap="none" strike="noStrike">
              <a:solidFill>
                <a:schemeClr val="dk1"/>
              </a:solidFill>
              <a:latin typeface="Arial"/>
              <a:ea typeface="Arial"/>
              <a:cs typeface="Arial"/>
              <a:sym typeface="Arial"/>
            </a:endParaRPr>
          </a:p>
        </p:txBody>
      </p:sp>
      <p:sp>
        <p:nvSpPr>
          <p:cNvPr id="96" name="Google Shape;96;p19"/>
          <p:cNvSpPr/>
          <p:nvPr/>
        </p:nvSpPr>
        <p:spPr>
          <a:xfrm>
            <a:off x="4883026" y="1405890"/>
            <a:ext cx="3291928" cy="1645920"/>
          </a:xfrm>
          <a:prstGeom prst="rect">
            <a:avLst/>
          </a:prstGeom>
          <a:noFill/>
          <a:ln>
            <a:noFill/>
          </a:ln>
        </p:spPr>
        <p:txBody>
          <a:bodyPr anchorCtr="0" anchor="t" bIns="375" lIns="375" spcFirstLastPara="1" rIns="375" wrap="square" tIns="375">
            <a:noAutofit/>
          </a:bodyPr>
          <a:lstStyle/>
          <a:p>
            <a:pPr indent="-349250" lvl="0" marL="457200" marR="0" rtl="0" algn="l">
              <a:spcBef>
                <a:spcPts val="0"/>
              </a:spcBef>
              <a:spcAft>
                <a:spcPts val="0"/>
              </a:spcAft>
              <a:buClr>
                <a:srgbClr val="222222"/>
              </a:buClr>
              <a:buSzPts val="1900"/>
              <a:buFont typeface="Arial"/>
              <a:buChar char="●"/>
            </a:pPr>
            <a:r>
              <a:rPr b="0" i="0" lang="en" sz="1900" u="none" cap="none" strike="noStrike">
                <a:solidFill>
                  <a:srgbClr val="222222"/>
                </a:solidFill>
                <a:latin typeface="Arial"/>
                <a:ea typeface="Arial"/>
                <a:cs typeface="Arial"/>
                <a:sym typeface="Arial"/>
              </a:rPr>
              <a:t>Name the outcome first.</a:t>
            </a:r>
            <a:endParaRPr b="0" i="0" sz="1900" u="none" cap="none" strike="noStrike">
              <a:solidFill>
                <a:schemeClr val="dk1"/>
              </a:solidFill>
              <a:latin typeface="Arial"/>
              <a:ea typeface="Arial"/>
              <a:cs typeface="Arial"/>
              <a:sym typeface="Arial"/>
            </a:endParaRPr>
          </a:p>
          <a:p>
            <a:pPr indent="-349250" lvl="0" marL="457200" marR="0" rtl="0" algn="l">
              <a:spcBef>
                <a:spcPts val="0"/>
              </a:spcBef>
              <a:spcAft>
                <a:spcPts val="0"/>
              </a:spcAft>
              <a:buClr>
                <a:srgbClr val="222222"/>
              </a:buClr>
              <a:buSzPts val="1900"/>
              <a:buFont typeface="Arial"/>
              <a:buChar char="●"/>
            </a:pPr>
            <a:r>
              <a:rPr b="0" i="0" lang="en" sz="1900" u="none" cap="none" strike="noStrike">
                <a:solidFill>
                  <a:srgbClr val="222222"/>
                </a:solidFill>
                <a:latin typeface="Arial"/>
                <a:ea typeface="Arial"/>
                <a:cs typeface="Arial"/>
                <a:sym typeface="Arial"/>
              </a:rPr>
              <a:t>Name the predictor second.</a:t>
            </a:r>
            <a:endParaRPr b="0" i="0" sz="1900" u="none" cap="none" strike="noStrike">
              <a:solidFill>
                <a:schemeClr val="dk1"/>
              </a:solidFill>
              <a:latin typeface="Arial"/>
              <a:ea typeface="Arial"/>
              <a:cs typeface="Arial"/>
              <a:sym typeface="Arial"/>
            </a:endParaRPr>
          </a:p>
          <a:p>
            <a:pPr indent="-349250" lvl="0" marL="457200" marR="0" rtl="0" algn="l">
              <a:spcBef>
                <a:spcPts val="0"/>
              </a:spcBef>
              <a:spcAft>
                <a:spcPts val="0"/>
              </a:spcAft>
              <a:buClr>
                <a:srgbClr val="222222"/>
              </a:buClr>
              <a:buSzPts val="1900"/>
              <a:buFont typeface="Arial"/>
              <a:buChar char="●"/>
            </a:pPr>
            <a:r>
              <a:rPr b="0" i="0" lang="en" sz="1900" u="none" cap="none" strike="noStrike">
                <a:solidFill>
                  <a:srgbClr val="222222"/>
                </a:solidFill>
                <a:latin typeface="Arial"/>
                <a:ea typeface="Arial"/>
                <a:cs typeface="Arial"/>
                <a:sym typeface="Arial"/>
              </a:rPr>
              <a:t>State the unit of change.</a:t>
            </a:r>
            <a:endParaRPr b="0" i="0" sz="1900" u="none" cap="none" strike="noStrike">
              <a:solidFill>
                <a:schemeClr val="dk1"/>
              </a:solidFill>
              <a:latin typeface="Arial"/>
              <a:ea typeface="Arial"/>
              <a:cs typeface="Arial"/>
              <a:sym typeface="Arial"/>
            </a:endParaRPr>
          </a:p>
          <a:p>
            <a:pPr indent="-349250" lvl="0" marL="457200" marR="0" rtl="0" algn="l">
              <a:spcBef>
                <a:spcPts val="0"/>
              </a:spcBef>
              <a:spcAft>
                <a:spcPts val="0"/>
              </a:spcAft>
              <a:buClr>
                <a:srgbClr val="222222"/>
              </a:buClr>
              <a:buSzPts val="1900"/>
              <a:buFont typeface="Arial"/>
              <a:buChar char="●"/>
            </a:pPr>
            <a:r>
              <a:rPr b="0" i="0" lang="en" sz="1900" u="none" cap="none" strike="noStrike">
                <a:solidFill>
                  <a:srgbClr val="222222"/>
                </a:solidFill>
                <a:latin typeface="Arial"/>
                <a:ea typeface="Arial"/>
                <a:cs typeface="Arial"/>
                <a:sym typeface="Arial"/>
              </a:rPr>
              <a:t>Avoid causal language unless the design supports it.</a:t>
            </a:r>
            <a:endParaRPr b="0" i="0" sz="19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101" name="Shape 101"/>
        <p:cNvGrpSpPr/>
        <p:nvPr/>
      </p:nvGrpSpPr>
      <p:grpSpPr>
        <a:xfrm>
          <a:off x="0" y="0"/>
          <a:ext cx="0" cy="0"/>
          <a:chOff x="0" y="0"/>
          <a:chExt cx="0" cy="0"/>
        </a:xfrm>
      </p:grpSpPr>
      <p:sp>
        <p:nvSpPr>
          <p:cNvPr id="102" name="Google Shape;102;p20"/>
          <p:cNvSpPr/>
          <p:nvPr/>
        </p:nvSpPr>
        <p:spPr>
          <a:xfrm>
            <a:off x="0" y="0"/>
            <a:ext cx="96015" cy="5143500"/>
          </a:xfrm>
          <a:prstGeom prst="rect">
            <a:avLst/>
          </a:prstGeom>
          <a:solidFill>
            <a:srgbClr val="3AA6A6"/>
          </a:solidFill>
          <a:ln cap="flat" cmpd="sng" w="12700">
            <a:solidFill>
              <a:srgbClr val="3AA6A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3" name="Google Shape;103;p20"/>
          <p:cNvSpPr/>
          <p:nvPr/>
        </p:nvSpPr>
        <p:spPr>
          <a:xfrm>
            <a:off x="377200" y="240030"/>
            <a:ext cx="8161238" cy="30861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18324A"/>
              </a:buClr>
              <a:buSzPts val="2300"/>
              <a:buFont typeface="Play"/>
              <a:buNone/>
            </a:pPr>
            <a:r>
              <a:rPr b="1" i="0" lang="en" sz="2300" u="none" cap="none" strike="noStrike">
                <a:solidFill>
                  <a:srgbClr val="18324A"/>
                </a:solidFill>
                <a:latin typeface="Play"/>
                <a:ea typeface="Play"/>
                <a:cs typeface="Play"/>
                <a:sym typeface="Play"/>
              </a:rPr>
              <a:t>Models: Transformations &amp; Diagnostics</a:t>
            </a:r>
            <a:endParaRPr b="0" i="0" sz="2300" u="none" cap="none" strike="noStrike">
              <a:solidFill>
                <a:schemeClr val="dk1"/>
              </a:solidFill>
              <a:latin typeface="Arial"/>
              <a:ea typeface="Arial"/>
              <a:cs typeface="Arial"/>
              <a:sym typeface="Arial"/>
            </a:endParaRPr>
          </a:p>
        </p:txBody>
      </p:sp>
      <p:sp>
        <p:nvSpPr>
          <p:cNvPr id="104" name="Google Shape;104;p20"/>
          <p:cNvSpPr/>
          <p:nvPr/>
        </p:nvSpPr>
        <p:spPr>
          <a:xfrm>
            <a:off x="384058" y="624078"/>
            <a:ext cx="7338256"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 sz="900" u="none" cap="none" strike="noStrike">
                <a:solidFill>
                  <a:srgbClr val="6B7280"/>
                </a:solidFill>
                <a:latin typeface="Arial"/>
                <a:ea typeface="Arial"/>
                <a:cs typeface="Arial"/>
                <a:sym typeface="Arial"/>
              </a:rPr>
              <a:t>Think about why a model may or may not be interpretable.</a:t>
            </a:r>
            <a:endParaRPr b="0" i="0" sz="900" u="none" cap="none" strike="noStrike">
              <a:solidFill>
                <a:schemeClr val="dk1"/>
              </a:solidFill>
              <a:latin typeface="Arial"/>
              <a:ea typeface="Arial"/>
              <a:cs typeface="Arial"/>
              <a:sym typeface="Arial"/>
            </a:endParaRPr>
          </a:p>
        </p:txBody>
      </p:sp>
      <p:sp>
        <p:nvSpPr>
          <p:cNvPr id="105" name="Google Shape;105;p20"/>
          <p:cNvSpPr/>
          <p:nvPr/>
        </p:nvSpPr>
        <p:spPr>
          <a:xfrm>
            <a:off x="548655" y="1028700"/>
            <a:ext cx="1851709" cy="493776"/>
          </a:xfrm>
          <a:prstGeom prst="rect">
            <a:avLst/>
          </a:prstGeom>
          <a:solidFill>
            <a:srgbClr val="EEF7EF"/>
          </a:solidFill>
          <a:ln cap="flat" cmpd="sng" w="9525">
            <a:solidFill>
              <a:srgbClr val="EEF7EF"/>
            </a:solidFill>
            <a:prstDash val="solid"/>
            <a:round/>
            <a:headEnd len="sm" w="sm" type="none"/>
            <a:tailEnd len="sm" w="sm" type="none"/>
          </a:ln>
        </p:spPr>
        <p:txBody>
          <a:bodyPr anchorCtr="0" anchor="ctr" bIns="750" lIns="750" spcFirstLastPara="1" rIns="750" wrap="square" tIns="750">
            <a:noAutofit/>
          </a:bodyPr>
          <a:lstStyle/>
          <a:p>
            <a:pPr indent="0" lvl="0" marL="0" marR="0" rtl="0" algn="ctr">
              <a:spcBef>
                <a:spcPts val="0"/>
              </a:spcBef>
              <a:spcAft>
                <a:spcPts val="0"/>
              </a:spcAft>
              <a:buClr>
                <a:srgbClr val="3AA6A6"/>
              </a:buClr>
              <a:buSzPts val="1700"/>
              <a:buFont typeface="Play"/>
              <a:buNone/>
            </a:pPr>
            <a:r>
              <a:rPr b="1" i="0" lang="en" sz="1700" u="none" cap="none" strike="noStrike">
                <a:solidFill>
                  <a:srgbClr val="3AA6A6"/>
                </a:solidFill>
                <a:latin typeface="Play"/>
                <a:ea typeface="Play"/>
                <a:cs typeface="Play"/>
                <a:sym typeface="Play"/>
              </a:rPr>
              <a:t>Transform</a:t>
            </a:r>
            <a:endParaRPr b="0" i="0" sz="1700" u="none" cap="none" strike="noStrike">
              <a:solidFill>
                <a:schemeClr val="dk1"/>
              </a:solidFill>
              <a:latin typeface="Arial"/>
              <a:ea typeface="Arial"/>
              <a:cs typeface="Arial"/>
              <a:sym typeface="Arial"/>
            </a:endParaRPr>
          </a:p>
        </p:txBody>
      </p:sp>
      <p:sp>
        <p:nvSpPr>
          <p:cNvPr id="106" name="Google Shape;106;p20"/>
          <p:cNvSpPr/>
          <p:nvPr/>
        </p:nvSpPr>
        <p:spPr>
          <a:xfrm>
            <a:off x="2743273" y="1028700"/>
            <a:ext cx="1851709" cy="493776"/>
          </a:xfrm>
          <a:prstGeom prst="rect">
            <a:avLst/>
          </a:prstGeom>
          <a:solidFill>
            <a:srgbClr val="EEF7EF"/>
          </a:solidFill>
          <a:ln cap="flat" cmpd="sng" w="9525">
            <a:solidFill>
              <a:srgbClr val="EEF7EF"/>
            </a:solidFill>
            <a:prstDash val="solid"/>
            <a:round/>
            <a:headEnd len="sm" w="sm" type="none"/>
            <a:tailEnd len="sm" w="sm" type="none"/>
          </a:ln>
        </p:spPr>
        <p:txBody>
          <a:bodyPr anchorCtr="0" anchor="ctr" bIns="750" lIns="750" spcFirstLastPara="1" rIns="750" wrap="square" tIns="750">
            <a:noAutofit/>
          </a:bodyPr>
          <a:lstStyle/>
          <a:p>
            <a:pPr indent="0" lvl="0" marL="0" marR="0" rtl="0" algn="ctr">
              <a:spcBef>
                <a:spcPts val="0"/>
              </a:spcBef>
              <a:spcAft>
                <a:spcPts val="0"/>
              </a:spcAft>
              <a:buClr>
                <a:srgbClr val="3AA6A6"/>
              </a:buClr>
              <a:buSzPts val="1700"/>
              <a:buFont typeface="Play"/>
              <a:buNone/>
            </a:pPr>
            <a:r>
              <a:rPr b="1" i="0" lang="en" sz="1700" u="none" cap="none" strike="noStrike">
                <a:solidFill>
                  <a:srgbClr val="3AA6A6"/>
                </a:solidFill>
                <a:latin typeface="Play"/>
                <a:ea typeface="Play"/>
                <a:cs typeface="Play"/>
                <a:sym typeface="Play"/>
              </a:rPr>
              <a:t>Diagnose</a:t>
            </a:r>
            <a:endParaRPr b="0" i="0" sz="1700" u="none" cap="none" strike="noStrike">
              <a:solidFill>
                <a:schemeClr val="dk1"/>
              </a:solidFill>
              <a:latin typeface="Arial"/>
              <a:ea typeface="Arial"/>
              <a:cs typeface="Arial"/>
              <a:sym typeface="Arial"/>
            </a:endParaRPr>
          </a:p>
        </p:txBody>
      </p:sp>
      <p:sp>
        <p:nvSpPr>
          <p:cNvPr id="107" name="Google Shape;107;p20"/>
          <p:cNvSpPr/>
          <p:nvPr/>
        </p:nvSpPr>
        <p:spPr>
          <a:xfrm>
            <a:off x="4937892" y="1028700"/>
            <a:ext cx="2057455" cy="493776"/>
          </a:xfrm>
          <a:prstGeom prst="rect">
            <a:avLst/>
          </a:prstGeom>
          <a:solidFill>
            <a:srgbClr val="EEF7EF"/>
          </a:solidFill>
          <a:ln cap="flat" cmpd="sng" w="9525">
            <a:solidFill>
              <a:srgbClr val="EEF7EF"/>
            </a:solidFill>
            <a:prstDash val="solid"/>
            <a:round/>
            <a:headEnd len="sm" w="sm" type="none"/>
            <a:tailEnd len="sm" w="sm" type="none"/>
          </a:ln>
        </p:spPr>
        <p:txBody>
          <a:bodyPr anchorCtr="0" anchor="ctr" bIns="750" lIns="750" spcFirstLastPara="1" rIns="750" wrap="square" tIns="750">
            <a:noAutofit/>
          </a:bodyPr>
          <a:lstStyle/>
          <a:p>
            <a:pPr indent="0" lvl="0" marL="0" marR="0" rtl="0" algn="ctr">
              <a:spcBef>
                <a:spcPts val="0"/>
              </a:spcBef>
              <a:spcAft>
                <a:spcPts val="0"/>
              </a:spcAft>
              <a:buClr>
                <a:srgbClr val="3AA6A6"/>
              </a:buClr>
              <a:buSzPts val="1700"/>
              <a:buFont typeface="Play"/>
              <a:buNone/>
            </a:pPr>
            <a:r>
              <a:rPr b="1" i="0" lang="en" sz="1700" u="none" cap="none" strike="noStrike">
                <a:solidFill>
                  <a:srgbClr val="3AA6A6"/>
                </a:solidFill>
                <a:latin typeface="Play"/>
                <a:ea typeface="Play"/>
                <a:cs typeface="Play"/>
                <a:sym typeface="Play"/>
              </a:rPr>
              <a:t>Sanity check</a:t>
            </a:r>
            <a:endParaRPr b="0" i="0" sz="1700" u="none" cap="none" strike="noStrike">
              <a:solidFill>
                <a:schemeClr val="dk1"/>
              </a:solidFill>
              <a:latin typeface="Arial"/>
              <a:ea typeface="Arial"/>
              <a:cs typeface="Arial"/>
              <a:sym typeface="Arial"/>
            </a:endParaRPr>
          </a:p>
        </p:txBody>
      </p:sp>
      <p:sp>
        <p:nvSpPr>
          <p:cNvPr id="108" name="Google Shape;108;p20"/>
          <p:cNvSpPr/>
          <p:nvPr/>
        </p:nvSpPr>
        <p:spPr>
          <a:xfrm>
            <a:off x="582954" y="1783075"/>
            <a:ext cx="6821100" cy="1645800"/>
          </a:xfrm>
          <a:prstGeom prst="rect">
            <a:avLst/>
          </a:prstGeom>
          <a:noFill/>
          <a:ln>
            <a:noFill/>
          </a:ln>
        </p:spPr>
        <p:txBody>
          <a:bodyPr anchorCtr="0" anchor="t" bIns="375" lIns="375" spcFirstLastPara="1" rIns="375" wrap="square" tIns="375">
            <a:noAutofit/>
          </a:bodyPr>
          <a:lstStyle/>
          <a:p>
            <a:pPr indent="-342900" lvl="0" marL="457200" marR="0" rtl="0" algn="l">
              <a:spcBef>
                <a:spcPts val="0"/>
              </a:spcBef>
              <a:spcAft>
                <a:spcPts val="0"/>
              </a:spcAft>
              <a:buClr>
                <a:srgbClr val="222222"/>
              </a:buClr>
              <a:buSzPts val="1800"/>
              <a:buFont typeface="Arial"/>
              <a:buChar char="●"/>
            </a:pPr>
            <a:r>
              <a:rPr lang="en" sz="1800">
                <a:solidFill>
                  <a:srgbClr val="222222"/>
                </a:solidFill>
              </a:rPr>
              <a:t>T</a:t>
            </a:r>
            <a:r>
              <a:rPr b="0" i="0" lang="en" sz="1800" u="none" cap="none" strike="noStrike">
                <a:solidFill>
                  <a:srgbClr val="222222"/>
                </a:solidFill>
                <a:latin typeface="Arial"/>
                <a:ea typeface="Arial"/>
                <a:cs typeface="Arial"/>
                <a:sym typeface="Arial"/>
              </a:rPr>
              <a:t>ransformations can make skewed variables easier to model.</a:t>
            </a:r>
            <a:endParaRPr b="0" i="0" sz="1800" u="none" cap="none" strike="noStrike">
              <a:solidFill>
                <a:schemeClr val="dk1"/>
              </a:solidFill>
              <a:latin typeface="Arial"/>
              <a:ea typeface="Arial"/>
              <a:cs typeface="Arial"/>
              <a:sym typeface="Arial"/>
            </a:endParaRPr>
          </a:p>
          <a:p>
            <a:pPr indent="-342900" lvl="0" marL="457200" marR="0" rtl="0" algn="l">
              <a:spcBef>
                <a:spcPts val="0"/>
              </a:spcBef>
              <a:spcAft>
                <a:spcPts val="0"/>
              </a:spcAft>
              <a:buClr>
                <a:srgbClr val="222222"/>
              </a:buClr>
              <a:buSzPts val="1800"/>
              <a:buFont typeface="Arial"/>
              <a:buChar char="●"/>
            </a:pPr>
            <a:r>
              <a:rPr b="0" i="0" lang="en" sz="1800" u="none" cap="none" strike="noStrike">
                <a:solidFill>
                  <a:srgbClr val="222222"/>
                </a:solidFill>
                <a:latin typeface="Arial"/>
                <a:ea typeface="Arial"/>
                <a:cs typeface="Arial"/>
                <a:sym typeface="Arial"/>
              </a:rPr>
              <a:t>Diagnostics ask whether model assumptions are plausible.</a:t>
            </a:r>
            <a:endParaRPr b="0" i="0" sz="1800" u="none" cap="none" strike="noStrike">
              <a:solidFill>
                <a:schemeClr val="dk1"/>
              </a:solidFill>
              <a:latin typeface="Arial"/>
              <a:ea typeface="Arial"/>
              <a:cs typeface="Arial"/>
              <a:sym typeface="Arial"/>
            </a:endParaRPr>
          </a:p>
          <a:p>
            <a:pPr indent="-342900" lvl="0" marL="457200" marR="0" rtl="0" algn="l">
              <a:spcBef>
                <a:spcPts val="0"/>
              </a:spcBef>
              <a:spcAft>
                <a:spcPts val="0"/>
              </a:spcAft>
              <a:buClr>
                <a:srgbClr val="222222"/>
              </a:buClr>
              <a:buSzPts val="1800"/>
              <a:buFont typeface="Arial"/>
              <a:buChar char="●"/>
            </a:pPr>
            <a:r>
              <a:rPr b="0" i="0" lang="en" sz="1800" u="none" cap="none" strike="noStrike">
                <a:solidFill>
                  <a:srgbClr val="222222"/>
                </a:solidFill>
                <a:latin typeface="Arial"/>
                <a:ea typeface="Arial"/>
                <a:cs typeface="Arial"/>
                <a:sym typeface="Arial"/>
              </a:rPr>
              <a:t>Sanity checks ask whether the variables and data-generating story make sense.</a:t>
            </a:r>
            <a:endParaRPr b="0" i="0" sz="1800" u="none" cap="none" strike="noStrike">
              <a:solidFill>
                <a:schemeClr val="dk1"/>
              </a:solidFill>
              <a:latin typeface="Arial"/>
              <a:ea typeface="Arial"/>
              <a:cs typeface="Arial"/>
              <a:sym typeface="Arial"/>
            </a:endParaRPr>
          </a:p>
        </p:txBody>
      </p:sp>
      <p:sp>
        <p:nvSpPr>
          <p:cNvPr id="109" name="Google Shape;109;p20"/>
          <p:cNvSpPr/>
          <p:nvPr/>
        </p:nvSpPr>
        <p:spPr>
          <a:xfrm>
            <a:off x="834294" y="4416560"/>
            <a:ext cx="7475400" cy="30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8324A"/>
              </a:buClr>
              <a:buSzPts val="1700"/>
              <a:buFont typeface="Play"/>
              <a:buNone/>
            </a:pPr>
            <a:r>
              <a:rPr b="1" i="0" lang="en" sz="1700" u="none" cap="none" strike="noStrike">
                <a:solidFill>
                  <a:srgbClr val="18324A"/>
                </a:solidFill>
                <a:latin typeface="Play"/>
                <a:ea typeface="Play"/>
                <a:cs typeface="Play"/>
                <a:sym typeface="Play"/>
              </a:rPr>
              <a:t>A low-quality measurement can make a statistically neat model useless.</a:t>
            </a:r>
            <a:endParaRPr b="0" i="0" sz="17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114" name="Shape 114"/>
        <p:cNvGrpSpPr/>
        <p:nvPr/>
      </p:nvGrpSpPr>
      <p:grpSpPr>
        <a:xfrm>
          <a:off x="0" y="0"/>
          <a:ext cx="0" cy="0"/>
          <a:chOff x="0" y="0"/>
          <a:chExt cx="0" cy="0"/>
        </a:xfrm>
      </p:grpSpPr>
      <p:sp>
        <p:nvSpPr>
          <p:cNvPr id="115" name="Google Shape;115;p21"/>
          <p:cNvSpPr/>
          <p:nvPr/>
        </p:nvSpPr>
        <p:spPr>
          <a:xfrm>
            <a:off x="0" y="0"/>
            <a:ext cx="96015" cy="5143500"/>
          </a:xfrm>
          <a:prstGeom prst="rect">
            <a:avLst/>
          </a:prstGeom>
          <a:solidFill>
            <a:srgbClr val="E9873B"/>
          </a:solidFill>
          <a:ln cap="flat" cmpd="sng" w="12700">
            <a:solidFill>
              <a:srgbClr val="E9873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6" name="Google Shape;116;p21"/>
          <p:cNvSpPr/>
          <p:nvPr/>
        </p:nvSpPr>
        <p:spPr>
          <a:xfrm>
            <a:off x="377200" y="240030"/>
            <a:ext cx="8161238" cy="30861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18324A"/>
              </a:buClr>
              <a:buSzPts val="2300"/>
              <a:buFont typeface="Play"/>
              <a:buNone/>
            </a:pPr>
            <a:r>
              <a:rPr b="1" i="0" lang="en" sz="2300" u="none" cap="none" strike="noStrike">
                <a:solidFill>
                  <a:srgbClr val="18324A"/>
                </a:solidFill>
                <a:latin typeface="Play"/>
                <a:ea typeface="Play"/>
                <a:cs typeface="Play"/>
                <a:sym typeface="Play"/>
              </a:rPr>
              <a:t>Model Complexity: Fit vs. Simplicity</a:t>
            </a:r>
            <a:endParaRPr b="0" i="0" sz="2300" u="none" cap="none" strike="noStrike">
              <a:solidFill>
                <a:schemeClr val="dk1"/>
              </a:solidFill>
              <a:latin typeface="Arial"/>
              <a:ea typeface="Arial"/>
              <a:cs typeface="Arial"/>
              <a:sym typeface="Arial"/>
            </a:endParaRPr>
          </a:p>
        </p:txBody>
      </p:sp>
      <p:sp>
        <p:nvSpPr>
          <p:cNvPr id="117" name="Google Shape;117;p21"/>
          <p:cNvSpPr/>
          <p:nvPr/>
        </p:nvSpPr>
        <p:spPr>
          <a:xfrm>
            <a:off x="384058" y="624078"/>
            <a:ext cx="7338256"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 sz="900" u="none" cap="none" strike="noStrike">
                <a:solidFill>
                  <a:srgbClr val="6B7280"/>
                </a:solidFill>
                <a:latin typeface="Arial"/>
                <a:ea typeface="Arial"/>
                <a:cs typeface="Arial"/>
                <a:sym typeface="Arial"/>
              </a:rPr>
              <a:t>More predictors can improve apparent fit, but not always the model you should prefer.</a:t>
            </a:r>
            <a:endParaRPr b="0" i="0" sz="900" u="none" cap="none" strike="noStrike">
              <a:solidFill>
                <a:schemeClr val="dk1"/>
              </a:solidFill>
              <a:latin typeface="Arial"/>
              <a:ea typeface="Arial"/>
              <a:cs typeface="Arial"/>
              <a:sym typeface="Arial"/>
            </a:endParaRPr>
          </a:p>
        </p:txBody>
      </p:sp>
      <p:sp>
        <p:nvSpPr>
          <p:cNvPr id="118" name="Google Shape;118;p21"/>
          <p:cNvSpPr/>
          <p:nvPr/>
        </p:nvSpPr>
        <p:spPr>
          <a:xfrm>
            <a:off x="514364" y="994410"/>
            <a:ext cx="1611673" cy="219456"/>
          </a:xfrm>
          <a:prstGeom prst="rect">
            <a:avLst/>
          </a:prstGeom>
          <a:solidFill>
            <a:srgbClr val="FFF1E6"/>
          </a:solidFill>
          <a:ln cap="flat" cmpd="sng" w="9525">
            <a:solidFill>
              <a:srgbClr val="FFF1E6"/>
            </a:solidFill>
            <a:prstDash val="solid"/>
            <a:round/>
            <a:headEnd len="sm" w="sm" type="none"/>
            <a:tailEnd len="sm" w="sm" type="none"/>
          </a:ln>
        </p:spPr>
        <p:txBody>
          <a:bodyPr anchorCtr="0" anchor="ctr" bIns="575" lIns="575" spcFirstLastPara="1" rIns="575" wrap="square" tIns="575">
            <a:noAutofit/>
          </a:bodyPr>
          <a:lstStyle/>
          <a:p>
            <a:pPr indent="0" lvl="0" marL="0" marR="0" rtl="0" algn="ctr">
              <a:spcBef>
                <a:spcPts val="0"/>
              </a:spcBef>
              <a:spcAft>
                <a:spcPts val="0"/>
              </a:spcAft>
              <a:buClr>
                <a:srgbClr val="E9873B"/>
              </a:buClr>
              <a:buSzPts val="800"/>
              <a:buFont typeface="Arial"/>
              <a:buNone/>
            </a:pPr>
            <a:r>
              <a:rPr b="1" i="0" lang="en" sz="1500" u="none" cap="none" strike="noStrike">
                <a:solidFill>
                  <a:srgbClr val="E9873B"/>
                </a:solidFill>
                <a:latin typeface="Arial"/>
                <a:ea typeface="Arial"/>
                <a:cs typeface="Arial"/>
                <a:sym typeface="Arial"/>
              </a:rPr>
              <a:t>In-sample fit</a:t>
            </a:r>
            <a:endParaRPr b="0" i="0" sz="1500" u="none" cap="none" strike="noStrike">
              <a:solidFill>
                <a:schemeClr val="dk1"/>
              </a:solidFill>
              <a:latin typeface="Arial"/>
              <a:ea typeface="Arial"/>
              <a:cs typeface="Arial"/>
              <a:sym typeface="Arial"/>
            </a:endParaRPr>
          </a:p>
        </p:txBody>
      </p:sp>
      <p:sp>
        <p:nvSpPr>
          <p:cNvPr id="119" name="Google Shape;119;p21"/>
          <p:cNvSpPr/>
          <p:nvPr/>
        </p:nvSpPr>
        <p:spPr>
          <a:xfrm>
            <a:off x="562376" y="1337300"/>
            <a:ext cx="3861300" cy="1165800"/>
          </a:xfrm>
          <a:prstGeom prst="rect">
            <a:avLst/>
          </a:prstGeom>
          <a:noFill/>
          <a:ln>
            <a:noFill/>
          </a:ln>
        </p:spPr>
        <p:txBody>
          <a:bodyPr anchorCtr="0" anchor="t" bIns="375" lIns="375" spcFirstLastPara="1" rIns="375" wrap="square" tIns="375">
            <a:noAutofit/>
          </a:bodyPr>
          <a:lstStyle/>
          <a:p>
            <a:pPr indent="-336550" lvl="0" marL="457200" marR="0" rtl="0" algn="l">
              <a:spcBef>
                <a:spcPts val="0"/>
              </a:spcBef>
              <a:spcAft>
                <a:spcPts val="0"/>
              </a:spcAft>
              <a:buClr>
                <a:srgbClr val="222222"/>
              </a:buClr>
              <a:buSzPts val="1700"/>
              <a:buFont typeface="Arial"/>
              <a:buChar char="●"/>
            </a:pPr>
            <a:r>
              <a:rPr b="0" i="0" lang="en" sz="1700" u="none" cap="none" strike="noStrike">
                <a:solidFill>
                  <a:srgbClr val="222222"/>
                </a:solidFill>
                <a:latin typeface="Arial"/>
                <a:ea typeface="Arial"/>
                <a:cs typeface="Arial"/>
                <a:sym typeface="Arial"/>
              </a:rPr>
              <a:t>Some metrics mostly ask: “How close did the model fit the observed data?”</a:t>
            </a:r>
            <a:endParaRPr b="0" i="0" sz="1700" u="none" cap="none" strike="noStrike">
              <a:solidFill>
                <a:schemeClr val="dk1"/>
              </a:solidFill>
              <a:latin typeface="Arial"/>
              <a:ea typeface="Arial"/>
              <a:cs typeface="Arial"/>
              <a:sym typeface="Arial"/>
            </a:endParaRPr>
          </a:p>
          <a:p>
            <a:pPr indent="-336550" lvl="0" marL="457200" marR="0" rtl="0" algn="l">
              <a:spcBef>
                <a:spcPts val="0"/>
              </a:spcBef>
              <a:spcAft>
                <a:spcPts val="0"/>
              </a:spcAft>
              <a:buClr>
                <a:srgbClr val="222222"/>
              </a:buClr>
              <a:buSzPts val="1700"/>
              <a:buFont typeface="Arial"/>
              <a:buChar char="●"/>
            </a:pPr>
            <a:r>
              <a:rPr b="0" i="0" lang="en" sz="1700" u="none" cap="none" strike="noStrike">
                <a:solidFill>
                  <a:srgbClr val="222222"/>
                </a:solidFill>
                <a:latin typeface="Arial"/>
                <a:ea typeface="Arial"/>
                <a:cs typeface="Arial"/>
                <a:sym typeface="Arial"/>
              </a:rPr>
              <a:t>These metrics can improve when the model becomes more flexible.</a:t>
            </a:r>
            <a:endParaRPr b="0" i="0" sz="1700" u="none" cap="none" strike="noStrike">
              <a:solidFill>
                <a:schemeClr val="dk1"/>
              </a:solidFill>
              <a:latin typeface="Arial"/>
              <a:ea typeface="Arial"/>
              <a:cs typeface="Arial"/>
              <a:sym typeface="Arial"/>
            </a:endParaRPr>
          </a:p>
        </p:txBody>
      </p:sp>
      <p:sp>
        <p:nvSpPr>
          <p:cNvPr id="120" name="Google Shape;120;p21"/>
          <p:cNvSpPr/>
          <p:nvPr/>
        </p:nvSpPr>
        <p:spPr>
          <a:xfrm>
            <a:off x="514364" y="3023870"/>
            <a:ext cx="1851600" cy="219600"/>
          </a:xfrm>
          <a:prstGeom prst="rect">
            <a:avLst/>
          </a:prstGeom>
          <a:solidFill>
            <a:srgbClr val="FFF1E6"/>
          </a:solidFill>
          <a:ln cap="flat" cmpd="sng" w="9525">
            <a:solidFill>
              <a:srgbClr val="FFF1E6"/>
            </a:solidFill>
            <a:prstDash val="solid"/>
            <a:round/>
            <a:headEnd len="sm" w="sm" type="none"/>
            <a:tailEnd len="sm" w="sm" type="none"/>
          </a:ln>
        </p:spPr>
        <p:txBody>
          <a:bodyPr anchorCtr="0" anchor="ctr" bIns="575" lIns="575" spcFirstLastPara="1" rIns="575" wrap="square" tIns="575">
            <a:noAutofit/>
          </a:bodyPr>
          <a:lstStyle/>
          <a:p>
            <a:pPr indent="0" lvl="0" marL="0" marR="0" rtl="0" algn="ctr">
              <a:spcBef>
                <a:spcPts val="0"/>
              </a:spcBef>
              <a:spcAft>
                <a:spcPts val="0"/>
              </a:spcAft>
              <a:buClr>
                <a:srgbClr val="E9873B"/>
              </a:buClr>
              <a:buSzPts val="800"/>
              <a:buFont typeface="Arial"/>
              <a:buNone/>
            </a:pPr>
            <a:r>
              <a:rPr b="1" i="0" lang="en" sz="1500" u="none" cap="none" strike="noStrike">
                <a:solidFill>
                  <a:srgbClr val="E9873B"/>
                </a:solidFill>
                <a:latin typeface="Arial"/>
                <a:ea typeface="Arial"/>
                <a:cs typeface="Arial"/>
                <a:sym typeface="Arial"/>
              </a:rPr>
              <a:t>Complexity penalty</a:t>
            </a:r>
            <a:endParaRPr b="0" i="0" sz="1500" u="none" cap="none" strike="noStrike">
              <a:solidFill>
                <a:schemeClr val="dk1"/>
              </a:solidFill>
              <a:latin typeface="Arial"/>
              <a:ea typeface="Arial"/>
              <a:cs typeface="Arial"/>
              <a:sym typeface="Arial"/>
            </a:endParaRPr>
          </a:p>
        </p:txBody>
      </p:sp>
      <p:sp>
        <p:nvSpPr>
          <p:cNvPr id="121" name="Google Shape;121;p21"/>
          <p:cNvSpPr/>
          <p:nvPr/>
        </p:nvSpPr>
        <p:spPr>
          <a:xfrm>
            <a:off x="562376" y="3366775"/>
            <a:ext cx="3861300" cy="1028700"/>
          </a:xfrm>
          <a:prstGeom prst="rect">
            <a:avLst/>
          </a:prstGeom>
          <a:noFill/>
          <a:ln>
            <a:noFill/>
          </a:ln>
        </p:spPr>
        <p:txBody>
          <a:bodyPr anchorCtr="0" anchor="t" bIns="375" lIns="375" spcFirstLastPara="1" rIns="375" wrap="square" tIns="375">
            <a:noAutofit/>
          </a:bodyPr>
          <a:lstStyle/>
          <a:p>
            <a:pPr indent="-336550" lvl="0" marL="457200" marR="0" rtl="0" algn="l">
              <a:spcBef>
                <a:spcPts val="0"/>
              </a:spcBef>
              <a:spcAft>
                <a:spcPts val="0"/>
              </a:spcAft>
              <a:buClr>
                <a:srgbClr val="222222"/>
              </a:buClr>
              <a:buSzPts val="1700"/>
              <a:buFont typeface="Arial"/>
              <a:buChar char="●"/>
            </a:pPr>
            <a:r>
              <a:rPr b="0" i="0" lang="en" sz="1700" u="none" cap="none" strike="noStrike">
                <a:solidFill>
                  <a:srgbClr val="222222"/>
                </a:solidFill>
                <a:latin typeface="Arial"/>
                <a:ea typeface="Arial"/>
                <a:cs typeface="Arial"/>
                <a:sym typeface="Arial"/>
              </a:rPr>
              <a:t>Other metrics ask: “Did the better fit justify the extra parameters?”</a:t>
            </a:r>
            <a:endParaRPr b="0" i="0" sz="1700" u="none" cap="none" strike="noStrike">
              <a:solidFill>
                <a:schemeClr val="dk1"/>
              </a:solidFill>
              <a:latin typeface="Arial"/>
              <a:ea typeface="Arial"/>
              <a:cs typeface="Arial"/>
              <a:sym typeface="Arial"/>
            </a:endParaRPr>
          </a:p>
          <a:p>
            <a:pPr indent="-336550" lvl="0" marL="457200" marR="0" rtl="0" algn="l">
              <a:spcBef>
                <a:spcPts val="0"/>
              </a:spcBef>
              <a:spcAft>
                <a:spcPts val="0"/>
              </a:spcAft>
              <a:buClr>
                <a:srgbClr val="222222"/>
              </a:buClr>
              <a:buSzPts val="1700"/>
              <a:buFont typeface="Arial"/>
              <a:buChar char="●"/>
            </a:pPr>
            <a:r>
              <a:rPr b="0" i="0" lang="en" sz="1700" u="none" cap="none" strike="noStrike">
                <a:solidFill>
                  <a:srgbClr val="222222"/>
                </a:solidFill>
                <a:latin typeface="Arial"/>
                <a:ea typeface="Arial"/>
                <a:cs typeface="Arial"/>
                <a:sym typeface="Arial"/>
              </a:rPr>
              <a:t>These metrics help discourage unnecessary complexity.</a:t>
            </a:r>
            <a:endParaRPr b="0" i="0" sz="1700" u="none" cap="none" strike="noStrike">
              <a:solidFill>
                <a:schemeClr val="dk1"/>
              </a:solidFill>
              <a:latin typeface="Arial"/>
              <a:ea typeface="Arial"/>
              <a:cs typeface="Arial"/>
              <a:sym typeface="Arial"/>
            </a:endParaRPr>
          </a:p>
        </p:txBody>
      </p:sp>
      <p:sp>
        <p:nvSpPr>
          <p:cNvPr id="122" name="Google Shape;122;p21"/>
          <p:cNvSpPr/>
          <p:nvPr/>
        </p:nvSpPr>
        <p:spPr>
          <a:xfrm>
            <a:off x="6206690" y="1337300"/>
            <a:ext cx="1028700" cy="30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878A8"/>
              </a:buClr>
              <a:buSzPts val="2000"/>
              <a:buFont typeface="Play"/>
              <a:buNone/>
            </a:pPr>
            <a:r>
              <a:rPr b="1" i="0" lang="en" sz="2000" u="none" cap="none" strike="noStrike">
                <a:solidFill>
                  <a:srgbClr val="2878A8"/>
                </a:solidFill>
                <a:latin typeface="Play"/>
                <a:ea typeface="Play"/>
                <a:cs typeface="Play"/>
                <a:sym typeface="Play"/>
              </a:rPr>
              <a:t>Fit</a:t>
            </a:r>
            <a:endParaRPr b="0" i="0" sz="2000" u="none" cap="none" strike="noStrike">
              <a:solidFill>
                <a:schemeClr val="dk1"/>
              </a:solidFill>
              <a:latin typeface="Arial"/>
              <a:ea typeface="Arial"/>
              <a:cs typeface="Arial"/>
              <a:sym typeface="Arial"/>
            </a:endParaRPr>
          </a:p>
        </p:txBody>
      </p:sp>
      <p:sp>
        <p:nvSpPr>
          <p:cNvPr id="123" name="Google Shape;123;p21"/>
          <p:cNvSpPr/>
          <p:nvPr/>
        </p:nvSpPr>
        <p:spPr>
          <a:xfrm>
            <a:off x="6069496" y="3111500"/>
            <a:ext cx="1371600" cy="30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958A8"/>
              </a:buClr>
              <a:buSzPts val="2000"/>
              <a:buFont typeface="Play"/>
              <a:buNone/>
            </a:pPr>
            <a:r>
              <a:rPr b="1" i="0" lang="en" sz="2000" u="none" cap="none" strike="noStrike">
                <a:solidFill>
                  <a:srgbClr val="6958A8"/>
                </a:solidFill>
                <a:latin typeface="Play"/>
                <a:ea typeface="Play"/>
                <a:cs typeface="Play"/>
                <a:sym typeface="Play"/>
              </a:rPr>
              <a:t>Simplicity</a:t>
            </a:r>
            <a:endParaRPr b="0" i="0" sz="2000" u="none" cap="none" strike="noStrike">
              <a:solidFill>
                <a:schemeClr val="dk1"/>
              </a:solidFill>
              <a:latin typeface="Arial"/>
              <a:ea typeface="Arial"/>
              <a:cs typeface="Arial"/>
              <a:sym typeface="Arial"/>
            </a:endParaRPr>
          </a:p>
        </p:txBody>
      </p:sp>
      <p:sp>
        <p:nvSpPr>
          <p:cNvPr id="124" name="Google Shape;124;p21"/>
          <p:cNvSpPr/>
          <p:nvPr/>
        </p:nvSpPr>
        <p:spPr>
          <a:xfrm>
            <a:off x="5863781" y="1851650"/>
            <a:ext cx="17832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1100"/>
              <a:buFont typeface="Arial"/>
              <a:buNone/>
            </a:pPr>
            <a:r>
              <a:rPr b="0" i="0" lang="en" u="none" cap="none" strike="noStrike">
                <a:solidFill>
                  <a:srgbClr val="6B7280"/>
                </a:solidFill>
                <a:latin typeface="Arial"/>
                <a:ea typeface="Arial"/>
                <a:cs typeface="Arial"/>
                <a:sym typeface="Arial"/>
              </a:rPr>
              <a:t>better prediction of seen data</a:t>
            </a:r>
            <a:endParaRPr b="0" i="0" u="none" cap="none" strike="noStrike">
              <a:solidFill>
                <a:schemeClr val="dk1"/>
              </a:solidFill>
              <a:latin typeface="Arial"/>
              <a:ea typeface="Arial"/>
              <a:cs typeface="Arial"/>
              <a:sym typeface="Arial"/>
            </a:endParaRPr>
          </a:p>
        </p:txBody>
      </p:sp>
      <p:sp>
        <p:nvSpPr>
          <p:cNvPr id="125" name="Google Shape;125;p21"/>
          <p:cNvSpPr/>
          <p:nvPr/>
        </p:nvSpPr>
        <p:spPr>
          <a:xfrm>
            <a:off x="5863751" y="3625850"/>
            <a:ext cx="17832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1100"/>
              <a:buFont typeface="Arial"/>
              <a:buNone/>
            </a:pPr>
            <a:r>
              <a:rPr b="0" i="0" lang="en" u="none" cap="none" strike="noStrike">
                <a:solidFill>
                  <a:srgbClr val="6B7280"/>
                </a:solidFill>
                <a:latin typeface="Arial"/>
                <a:ea typeface="Arial"/>
                <a:cs typeface="Arial"/>
                <a:sym typeface="Arial"/>
              </a:rPr>
              <a:t>fewer unnecessary parameters</a:t>
            </a:r>
            <a:endParaRPr b="0" i="0" u="none" cap="none" strike="noStrike">
              <a:solidFill>
                <a:schemeClr val="dk1"/>
              </a:solidFill>
              <a:latin typeface="Arial"/>
              <a:ea typeface="Arial"/>
              <a:cs typeface="Arial"/>
              <a:sym typeface="Arial"/>
            </a:endParaRPr>
          </a:p>
        </p:txBody>
      </p:sp>
      <p:sp>
        <p:nvSpPr>
          <p:cNvPr id="126" name="Google Shape;126;p21"/>
          <p:cNvSpPr/>
          <p:nvPr/>
        </p:nvSpPr>
        <p:spPr>
          <a:xfrm>
            <a:off x="6241015" y="2438300"/>
            <a:ext cx="1028700" cy="30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878A8"/>
              </a:buClr>
              <a:buSzPts val="2000"/>
              <a:buFont typeface="Play"/>
              <a:buNone/>
            </a:pPr>
            <a:r>
              <a:rPr b="1" lang="en" sz="2000">
                <a:solidFill>
                  <a:srgbClr val="222222"/>
                </a:solidFill>
                <a:latin typeface="Play"/>
                <a:ea typeface="Play"/>
                <a:cs typeface="Play"/>
                <a:sym typeface="Play"/>
              </a:rPr>
              <a:t>vs</a:t>
            </a:r>
            <a:endParaRPr b="0" i="0" sz="2000" u="none" cap="none" strike="noStrike">
              <a:solidFill>
                <a:srgbClr val="222222"/>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131" name="Shape 131"/>
        <p:cNvGrpSpPr/>
        <p:nvPr/>
      </p:nvGrpSpPr>
      <p:grpSpPr>
        <a:xfrm>
          <a:off x="0" y="0"/>
          <a:ext cx="0" cy="0"/>
          <a:chOff x="0" y="0"/>
          <a:chExt cx="0" cy="0"/>
        </a:xfrm>
      </p:grpSpPr>
      <p:sp>
        <p:nvSpPr>
          <p:cNvPr id="132" name="Google Shape;132;p22"/>
          <p:cNvSpPr/>
          <p:nvPr/>
        </p:nvSpPr>
        <p:spPr>
          <a:xfrm>
            <a:off x="0" y="0"/>
            <a:ext cx="96015" cy="5143500"/>
          </a:xfrm>
          <a:prstGeom prst="rect">
            <a:avLst/>
          </a:prstGeom>
          <a:solidFill>
            <a:srgbClr val="6958A8"/>
          </a:solidFill>
          <a:ln cap="flat" cmpd="sng" w="12700">
            <a:solidFill>
              <a:srgbClr val="6958A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3" name="Google Shape;133;p22"/>
          <p:cNvSpPr/>
          <p:nvPr/>
        </p:nvSpPr>
        <p:spPr>
          <a:xfrm>
            <a:off x="377200" y="240030"/>
            <a:ext cx="8161238" cy="30861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18324A"/>
              </a:buClr>
              <a:buSzPts val="2300"/>
              <a:buFont typeface="Play"/>
              <a:buNone/>
            </a:pPr>
            <a:r>
              <a:rPr b="1" i="0" lang="en" sz="2300" u="none" cap="none" strike="noStrike">
                <a:solidFill>
                  <a:srgbClr val="18324A"/>
                </a:solidFill>
                <a:latin typeface="Play"/>
                <a:ea typeface="Play"/>
                <a:cs typeface="Play"/>
                <a:sym typeface="Play"/>
              </a:rPr>
              <a:t>Dimensionality Reduction: PCA Core Ideas</a:t>
            </a:r>
            <a:endParaRPr b="0" i="0" sz="2300" u="none" cap="none" strike="noStrike">
              <a:solidFill>
                <a:schemeClr val="dk1"/>
              </a:solidFill>
              <a:latin typeface="Arial"/>
              <a:ea typeface="Arial"/>
              <a:cs typeface="Arial"/>
              <a:sym typeface="Arial"/>
            </a:endParaRPr>
          </a:p>
        </p:txBody>
      </p:sp>
      <p:sp>
        <p:nvSpPr>
          <p:cNvPr id="134" name="Google Shape;134;p22"/>
          <p:cNvSpPr/>
          <p:nvPr/>
        </p:nvSpPr>
        <p:spPr>
          <a:xfrm>
            <a:off x="384058" y="624078"/>
            <a:ext cx="7338256"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 sz="900" u="none" cap="none" strike="noStrike">
                <a:solidFill>
                  <a:srgbClr val="6B7280"/>
                </a:solidFill>
                <a:latin typeface="Arial"/>
                <a:ea typeface="Arial"/>
                <a:cs typeface="Arial"/>
                <a:sym typeface="Arial"/>
              </a:rPr>
              <a:t>PCA turns many numeric variables into fewer components.</a:t>
            </a:r>
            <a:endParaRPr b="0" i="0" sz="900" u="none" cap="none" strike="noStrike">
              <a:solidFill>
                <a:schemeClr val="dk1"/>
              </a:solidFill>
              <a:latin typeface="Arial"/>
              <a:ea typeface="Arial"/>
              <a:cs typeface="Arial"/>
              <a:sym typeface="Arial"/>
            </a:endParaRPr>
          </a:p>
        </p:txBody>
      </p:sp>
      <p:pic>
        <p:nvPicPr>
          <p:cNvPr descr="/mnt/data/review_assets/pca_terms.png" id="135" name="Google Shape;135;p22"/>
          <p:cNvPicPr preferRelativeResize="0"/>
          <p:nvPr/>
        </p:nvPicPr>
        <p:blipFill rotWithShape="1">
          <a:blip r:embed="rId3">
            <a:alphaModFix/>
          </a:blip>
          <a:srcRect b="0" l="0" r="0" t="0"/>
          <a:stretch/>
        </p:blipFill>
        <p:spPr>
          <a:xfrm>
            <a:off x="384050" y="1051175"/>
            <a:ext cx="5737352" cy="3312999"/>
          </a:xfrm>
          <a:prstGeom prst="rect">
            <a:avLst/>
          </a:prstGeom>
          <a:noFill/>
          <a:ln>
            <a:noFill/>
          </a:ln>
        </p:spPr>
      </p:pic>
      <p:sp>
        <p:nvSpPr>
          <p:cNvPr id="136" name="Google Shape;136;p22"/>
          <p:cNvSpPr/>
          <p:nvPr/>
        </p:nvSpPr>
        <p:spPr>
          <a:xfrm>
            <a:off x="6121400" y="1051175"/>
            <a:ext cx="2933700" cy="3407400"/>
          </a:xfrm>
          <a:prstGeom prst="rect">
            <a:avLst/>
          </a:prstGeom>
          <a:noFill/>
          <a:ln>
            <a:noFill/>
          </a:ln>
        </p:spPr>
        <p:txBody>
          <a:bodyPr anchorCtr="0" anchor="t" bIns="375" lIns="375" spcFirstLastPara="1" rIns="375" wrap="square" tIns="375">
            <a:noAutofit/>
          </a:bodyPr>
          <a:lstStyle/>
          <a:p>
            <a:pPr indent="-336550" lvl="0" marL="457200" marR="0" rtl="0" algn="l">
              <a:spcBef>
                <a:spcPts val="0"/>
              </a:spcBef>
              <a:spcAft>
                <a:spcPts val="0"/>
              </a:spcAft>
              <a:buClr>
                <a:srgbClr val="222222"/>
              </a:buClr>
              <a:buSzPts val="1700"/>
              <a:buFont typeface="Arial"/>
              <a:buChar char="●"/>
            </a:pPr>
            <a:r>
              <a:rPr b="0" i="0" lang="en" sz="1700" u="none" cap="none" strike="noStrike">
                <a:solidFill>
                  <a:srgbClr val="222222"/>
                </a:solidFill>
                <a:latin typeface="Arial"/>
                <a:ea typeface="Arial"/>
                <a:cs typeface="Arial"/>
                <a:sym typeface="Arial"/>
              </a:rPr>
              <a:t>A principal component is built from the original variables.</a:t>
            </a:r>
            <a:endParaRPr b="0" i="0" sz="1700" u="none" cap="none" strike="noStrike">
              <a:solidFill>
                <a:schemeClr val="dk1"/>
              </a:solidFill>
              <a:latin typeface="Arial"/>
              <a:ea typeface="Arial"/>
              <a:cs typeface="Arial"/>
              <a:sym typeface="Arial"/>
            </a:endParaRPr>
          </a:p>
          <a:p>
            <a:pPr indent="-336550" lvl="0" marL="457200" marR="0" rtl="0" algn="l">
              <a:spcBef>
                <a:spcPts val="0"/>
              </a:spcBef>
              <a:spcAft>
                <a:spcPts val="0"/>
              </a:spcAft>
              <a:buClr>
                <a:srgbClr val="222222"/>
              </a:buClr>
              <a:buSzPts val="1700"/>
              <a:buFont typeface="Arial"/>
              <a:buChar char="●"/>
            </a:pPr>
            <a:r>
              <a:rPr b="0" i="0" lang="en" sz="1700" u="none" cap="none" strike="noStrike">
                <a:solidFill>
                  <a:srgbClr val="222222"/>
                </a:solidFill>
                <a:latin typeface="Arial"/>
                <a:ea typeface="Arial"/>
                <a:cs typeface="Arial"/>
                <a:sym typeface="Arial"/>
              </a:rPr>
              <a:t>Loadings are the weights used to form each component.</a:t>
            </a:r>
            <a:endParaRPr b="0" i="0" sz="1700" u="none" cap="none" strike="noStrike">
              <a:solidFill>
                <a:schemeClr val="dk1"/>
              </a:solidFill>
              <a:latin typeface="Arial"/>
              <a:ea typeface="Arial"/>
              <a:cs typeface="Arial"/>
              <a:sym typeface="Arial"/>
            </a:endParaRPr>
          </a:p>
          <a:p>
            <a:pPr indent="-336550" lvl="0" marL="457200" marR="0" rtl="0" algn="l">
              <a:spcBef>
                <a:spcPts val="0"/>
              </a:spcBef>
              <a:spcAft>
                <a:spcPts val="0"/>
              </a:spcAft>
              <a:buClr>
                <a:srgbClr val="222222"/>
              </a:buClr>
              <a:buSzPts val="1700"/>
              <a:buFont typeface="Arial"/>
              <a:buChar char="●"/>
            </a:pPr>
            <a:r>
              <a:rPr b="0" i="0" lang="en" sz="1700" u="none" cap="none" strike="noStrike">
                <a:solidFill>
                  <a:srgbClr val="222222"/>
                </a:solidFill>
                <a:latin typeface="Arial"/>
                <a:ea typeface="Arial"/>
                <a:cs typeface="Arial"/>
                <a:sym typeface="Arial"/>
              </a:rPr>
              <a:t>Components are ordered by how much variance they capture.</a:t>
            </a:r>
            <a:endParaRPr b="0" i="0" sz="1700" u="none" cap="none" strike="noStrike">
              <a:solidFill>
                <a:schemeClr val="dk1"/>
              </a:solidFill>
              <a:latin typeface="Arial"/>
              <a:ea typeface="Arial"/>
              <a:cs typeface="Arial"/>
              <a:sym typeface="Arial"/>
            </a:endParaRPr>
          </a:p>
          <a:p>
            <a:pPr indent="-336550" lvl="0" marL="457200" marR="0" rtl="0" algn="l">
              <a:spcBef>
                <a:spcPts val="0"/>
              </a:spcBef>
              <a:spcAft>
                <a:spcPts val="0"/>
              </a:spcAft>
              <a:buClr>
                <a:srgbClr val="222222"/>
              </a:buClr>
              <a:buSzPts val="1700"/>
              <a:buFont typeface="Arial"/>
              <a:buChar char="●"/>
            </a:pPr>
            <a:r>
              <a:rPr b="0" i="0" lang="en" sz="1700" u="none" cap="none" strike="noStrike">
                <a:solidFill>
                  <a:srgbClr val="222222"/>
                </a:solidFill>
                <a:latin typeface="Arial"/>
                <a:ea typeface="Arial"/>
                <a:cs typeface="Arial"/>
                <a:sym typeface="Arial"/>
              </a:rPr>
              <a:t>PCA is linear, so it works best when linear projections are useful.</a:t>
            </a:r>
            <a:endParaRPr b="0" i="0" sz="17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141" name="Shape 141"/>
        <p:cNvGrpSpPr/>
        <p:nvPr/>
      </p:nvGrpSpPr>
      <p:grpSpPr>
        <a:xfrm>
          <a:off x="0" y="0"/>
          <a:ext cx="0" cy="0"/>
          <a:chOff x="0" y="0"/>
          <a:chExt cx="0" cy="0"/>
        </a:xfrm>
      </p:grpSpPr>
      <p:sp>
        <p:nvSpPr>
          <p:cNvPr id="142" name="Google Shape;142;p23"/>
          <p:cNvSpPr/>
          <p:nvPr/>
        </p:nvSpPr>
        <p:spPr>
          <a:xfrm>
            <a:off x="0" y="0"/>
            <a:ext cx="96015" cy="5143500"/>
          </a:xfrm>
          <a:prstGeom prst="rect">
            <a:avLst/>
          </a:prstGeom>
          <a:solidFill>
            <a:srgbClr val="6958A8"/>
          </a:solidFill>
          <a:ln cap="flat" cmpd="sng" w="12700">
            <a:solidFill>
              <a:srgbClr val="6958A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3" name="Google Shape;143;p23"/>
          <p:cNvSpPr/>
          <p:nvPr/>
        </p:nvSpPr>
        <p:spPr>
          <a:xfrm>
            <a:off x="377200" y="240030"/>
            <a:ext cx="8161238" cy="30861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18324A"/>
              </a:buClr>
              <a:buSzPts val="2300"/>
              <a:buFont typeface="Play"/>
              <a:buNone/>
            </a:pPr>
            <a:r>
              <a:rPr b="1" i="0" lang="en" sz="2300" u="none" cap="none" strike="noStrike">
                <a:solidFill>
                  <a:srgbClr val="18324A"/>
                </a:solidFill>
                <a:latin typeface="Play"/>
                <a:ea typeface="Play"/>
                <a:cs typeface="Play"/>
                <a:sym typeface="Play"/>
              </a:rPr>
              <a:t>PCA Workflow: From Data to Components</a:t>
            </a:r>
            <a:endParaRPr b="0" i="0" sz="2300" u="none" cap="none" strike="noStrike">
              <a:solidFill>
                <a:schemeClr val="dk1"/>
              </a:solidFill>
              <a:latin typeface="Arial"/>
              <a:ea typeface="Arial"/>
              <a:cs typeface="Arial"/>
              <a:sym typeface="Arial"/>
            </a:endParaRPr>
          </a:p>
        </p:txBody>
      </p:sp>
      <p:sp>
        <p:nvSpPr>
          <p:cNvPr id="144" name="Google Shape;144;p23"/>
          <p:cNvSpPr/>
          <p:nvPr/>
        </p:nvSpPr>
        <p:spPr>
          <a:xfrm>
            <a:off x="384058" y="624078"/>
            <a:ext cx="7338256"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 sz="900" u="none" cap="none" strike="noStrike">
                <a:solidFill>
                  <a:srgbClr val="6B7280"/>
                </a:solidFill>
                <a:latin typeface="Arial"/>
                <a:ea typeface="Arial"/>
                <a:cs typeface="Arial"/>
                <a:sym typeface="Arial"/>
              </a:rPr>
              <a:t>The workflow matters because PCA is sensitive to scaling and centering.</a:t>
            </a:r>
            <a:endParaRPr b="0" i="0" sz="900" u="none" cap="none" strike="noStrike">
              <a:solidFill>
                <a:schemeClr val="dk1"/>
              </a:solidFill>
              <a:latin typeface="Arial"/>
              <a:ea typeface="Arial"/>
              <a:cs typeface="Arial"/>
              <a:sym typeface="Arial"/>
            </a:endParaRPr>
          </a:p>
        </p:txBody>
      </p:sp>
      <p:pic>
        <p:nvPicPr>
          <p:cNvPr descr="/mnt/data/review_assets/pca_workflow.png" id="145" name="Google Shape;145;p23"/>
          <p:cNvPicPr preferRelativeResize="0"/>
          <p:nvPr/>
        </p:nvPicPr>
        <p:blipFill rotWithShape="1">
          <a:blip r:embed="rId3">
            <a:alphaModFix/>
          </a:blip>
          <a:srcRect b="0" l="0" r="0" t="0"/>
          <a:stretch/>
        </p:blipFill>
        <p:spPr>
          <a:xfrm>
            <a:off x="451504" y="857250"/>
            <a:ext cx="6921851" cy="38935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150" name="Shape 150"/>
        <p:cNvGrpSpPr/>
        <p:nvPr/>
      </p:nvGrpSpPr>
      <p:grpSpPr>
        <a:xfrm>
          <a:off x="0" y="0"/>
          <a:ext cx="0" cy="0"/>
          <a:chOff x="0" y="0"/>
          <a:chExt cx="0" cy="0"/>
        </a:xfrm>
      </p:grpSpPr>
      <p:sp>
        <p:nvSpPr>
          <p:cNvPr id="151" name="Google Shape;151;p24"/>
          <p:cNvSpPr/>
          <p:nvPr/>
        </p:nvSpPr>
        <p:spPr>
          <a:xfrm>
            <a:off x="0" y="0"/>
            <a:ext cx="96000" cy="5143500"/>
          </a:xfrm>
          <a:prstGeom prst="rect">
            <a:avLst/>
          </a:prstGeom>
          <a:solidFill>
            <a:srgbClr val="6958A8"/>
          </a:solidFill>
          <a:ln cap="flat" cmpd="sng" w="12700">
            <a:solidFill>
              <a:srgbClr val="6958A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2" name="Google Shape;152;p24"/>
          <p:cNvSpPr/>
          <p:nvPr/>
        </p:nvSpPr>
        <p:spPr>
          <a:xfrm>
            <a:off x="377200" y="240030"/>
            <a:ext cx="8161200" cy="30870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18324A"/>
              </a:buClr>
              <a:buSzPts val="2300"/>
              <a:buFont typeface="Play"/>
              <a:buNone/>
            </a:pPr>
            <a:r>
              <a:rPr b="1" i="0" lang="en" sz="2300" u="none" cap="none" strike="noStrike">
                <a:solidFill>
                  <a:srgbClr val="18324A"/>
                </a:solidFill>
                <a:latin typeface="Play"/>
                <a:ea typeface="Play"/>
                <a:cs typeface="Play"/>
                <a:sym typeface="Play"/>
              </a:rPr>
              <a:t>PCA Workflow: From Data to Components</a:t>
            </a:r>
            <a:endParaRPr b="0" i="0" sz="2300" u="none" cap="none" strike="noStrike">
              <a:solidFill>
                <a:schemeClr val="dk1"/>
              </a:solidFill>
              <a:latin typeface="Arial"/>
              <a:ea typeface="Arial"/>
              <a:cs typeface="Arial"/>
              <a:sym typeface="Arial"/>
            </a:endParaRPr>
          </a:p>
        </p:txBody>
      </p:sp>
      <p:sp>
        <p:nvSpPr>
          <p:cNvPr id="153" name="Google Shape;153;p24"/>
          <p:cNvSpPr/>
          <p:nvPr/>
        </p:nvSpPr>
        <p:spPr>
          <a:xfrm>
            <a:off x="384058" y="624078"/>
            <a:ext cx="7338300" cy="1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 sz="900" u="none" cap="none" strike="noStrike">
                <a:solidFill>
                  <a:srgbClr val="6B7280"/>
                </a:solidFill>
                <a:latin typeface="Arial"/>
                <a:ea typeface="Arial"/>
                <a:cs typeface="Arial"/>
                <a:sym typeface="Arial"/>
              </a:rPr>
              <a:t>The workflow matters because PCA is sensitive to scaling and centering.</a:t>
            </a:r>
            <a:endParaRPr b="0" i="0" sz="900" u="none" cap="none" strike="noStrike">
              <a:solidFill>
                <a:schemeClr val="dk1"/>
              </a:solidFill>
              <a:latin typeface="Arial"/>
              <a:ea typeface="Arial"/>
              <a:cs typeface="Arial"/>
              <a:sym typeface="Arial"/>
            </a:endParaRPr>
          </a:p>
        </p:txBody>
      </p:sp>
      <p:pic>
        <p:nvPicPr>
          <p:cNvPr descr="/mnt/data/review_assets/pca_select.png" id="154" name="Google Shape;154;p24"/>
          <p:cNvPicPr preferRelativeResize="0"/>
          <p:nvPr/>
        </p:nvPicPr>
        <p:blipFill rotWithShape="1">
          <a:blip r:embed="rId3">
            <a:alphaModFix/>
          </a:blip>
          <a:srcRect b="0" l="0" r="0" t="0"/>
          <a:stretch/>
        </p:blipFill>
        <p:spPr>
          <a:xfrm>
            <a:off x="511551" y="871026"/>
            <a:ext cx="7338300" cy="41278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159" name="Shape 159"/>
        <p:cNvGrpSpPr/>
        <p:nvPr/>
      </p:nvGrpSpPr>
      <p:grpSpPr>
        <a:xfrm>
          <a:off x="0" y="0"/>
          <a:ext cx="0" cy="0"/>
          <a:chOff x="0" y="0"/>
          <a:chExt cx="0" cy="0"/>
        </a:xfrm>
      </p:grpSpPr>
      <p:sp>
        <p:nvSpPr>
          <p:cNvPr id="160" name="Google Shape;160;p25"/>
          <p:cNvSpPr/>
          <p:nvPr/>
        </p:nvSpPr>
        <p:spPr>
          <a:xfrm>
            <a:off x="0" y="0"/>
            <a:ext cx="96015" cy="5143500"/>
          </a:xfrm>
          <a:prstGeom prst="rect">
            <a:avLst/>
          </a:prstGeom>
          <a:solidFill>
            <a:srgbClr val="6958A8"/>
          </a:solidFill>
          <a:ln cap="flat" cmpd="sng" w="12700">
            <a:solidFill>
              <a:srgbClr val="6958A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1" name="Google Shape;161;p25"/>
          <p:cNvSpPr/>
          <p:nvPr/>
        </p:nvSpPr>
        <p:spPr>
          <a:xfrm>
            <a:off x="377200" y="240030"/>
            <a:ext cx="8161238" cy="30861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18324A"/>
              </a:buClr>
              <a:buSzPts val="2300"/>
              <a:buFont typeface="Play"/>
              <a:buNone/>
            </a:pPr>
            <a:r>
              <a:rPr b="1" i="0" lang="en" sz="2300" u="none" cap="none" strike="noStrike">
                <a:solidFill>
                  <a:srgbClr val="18324A"/>
                </a:solidFill>
                <a:latin typeface="Play"/>
                <a:ea typeface="Play"/>
                <a:cs typeface="Play"/>
                <a:sym typeface="Play"/>
              </a:rPr>
              <a:t>Manifold Learning &amp; t-SNE</a:t>
            </a:r>
            <a:endParaRPr b="0" i="0" sz="2300" u="none" cap="none" strike="noStrike">
              <a:solidFill>
                <a:schemeClr val="dk1"/>
              </a:solidFill>
              <a:latin typeface="Arial"/>
              <a:ea typeface="Arial"/>
              <a:cs typeface="Arial"/>
              <a:sym typeface="Arial"/>
            </a:endParaRPr>
          </a:p>
        </p:txBody>
      </p:sp>
      <p:sp>
        <p:nvSpPr>
          <p:cNvPr id="162" name="Google Shape;162;p25"/>
          <p:cNvSpPr/>
          <p:nvPr/>
        </p:nvSpPr>
        <p:spPr>
          <a:xfrm>
            <a:off x="384058" y="624078"/>
            <a:ext cx="7338256"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 sz="900" u="none" cap="none" strike="noStrike">
                <a:solidFill>
                  <a:srgbClr val="6B7280"/>
                </a:solidFill>
                <a:latin typeface="Arial"/>
                <a:ea typeface="Arial"/>
                <a:cs typeface="Arial"/>
                <a:sym typeface="Arial"/>
              </a:rPr>
              <a:t>When linear projection is not enough, local neighborhoods become the focus.</a:t>
            </a:r>
            <a:endParaRPr b="0" i="0" sz="900" u="none" cap="none" strike="noStrike">
              <a:solidFill>
                <a:schemeClr val="dk1"/>
              </a:solidFill>
              <a:latin typeface="Arial"/>
              <a:ea typeface="Arial"/>
              <a:cs typeface="Arial"/>
              <a:sym typeface="Arial"/>
            </a:endParaRPr>
          </a:p>
        </p:txBody>
      </p:sp>
      <p:pic>
        <p:nvPicPr>
          <p:cNvPr descr="/mnt/data/review_assets/tsne_local.png" id="163" name="Google Shape;163;p25"/>
          <p:cNvPicPr preferRelativeResize="0"/>
          <p:nvPr/>
        </p:nvPicPr>
        <p:blipFill rotWithShape="1">
          <a:blip r:embed="rId3">
            <a:alphaModFix/>
          </a:blip>
          <a:srcRect b="0" l="0" r="0" t="0"/>
          <a:stretch/>
        </p:blipFill>
        <p:spPr>
          <a:xfrm>
            <a:off x="466356" y="865822"/>
            <a:ext cx="3566160" cy="2005965"/>
          </a:xfrm>
          <a:prstGeom prst="rect">
            <a:avLst/>
          </a:prstGeom>
          <a:noFill/>
          <a:ln>
            <a:noFill/>
          </a:ln>
        </p:spPr>
      </p:pic>
      <p:sp>
        <p:nvSpPr>
          <p:cNvPr id="164" name="Google Shape;164;p25"/>
          <p:cNvSpPr/>
          <p:nvPr/>
        </p:nvSpPr>
        <p:spPr>
          <a:xfrm>
            <a:off x="466356" y="857250"/>
            <a:ext cx="3566255" cy="2023110"/>
          </a:xfrm>
          <a:prstGeom prst="rect">
            <a:avLst/>
          </a:prstGeom>
          <a:solidFill>
            <a:srgbClr val="FFFFFF">
              <a:alpha val="0"/>
            </a:srgbClr>
          </a:solidFill>
          <a:ln cap="flat" cmpd="sng" w="9525">
            <a:solidFill>
              <a:srgbClr val="D9E2E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5" name="Google Shape;165;p25"/>
          <p:cNvSpPr/>
          <p:nvPr/>
        </p:nvSpPr>
        <p:spPr>
          <a:xfrm>
            <a:off x="466356" y="2928366"/>
            <a:ext cx="3566255" cy="1508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700"/>
              <a:buFont typeface="Arial"/>
              <a:buNone/>
            </a:pPr>
            <a:r>
              <a:rPr b="0" i="0" lang="en" sz="700" u="none" cap="none" strike="noStrike">
                <a:solidFill>
                  <a:srgbClr val="6B7280"/>
                </a:solidFill>
                <a:latin typeface="Arial"/>
                <a:ea typeface="Arial"/>
                <a:cs typeface="Arial"/>
                <a:sym typeface="Arial"/>
              </a:rPr>
              <a:t>t-SNE local-structure idea</a:t>
            </a:r>
            <a:endParaRPr b="0" i="0" sz="700" u="none" cap="none" strike="noStrike">
              <a:solidFill>
                <a:schemeClr val="dk1"/>
              </a:solidFill>
              <a:latin typeface="Arial"/>
              <a:ea typeface="Arial"/>
              <a:cs typeface="Arial"/>
              <a:sym typeface="Arial"/>
            </a:endParaRPr>
          </a:p>
        </p:txBody>
      </p:sp>
      <p:pic>
        <p:nvPicPr>
          <p:cNvPr descr="/mnt/data/review_assets/tsne_perplexity2.png" id="166" name="Google Shape;166;p25"/>
          <p:cNvPicPr preferRelativeResize="0"/>
          <p:nvPr/>
        </p:nvPicPr>
        <p:blipFill rotWithShape="1">
          <a:blip r:embed="rId4">
            <a:alphaModFix/>
          </a:blip>
          <a:srcRect b="0" l="0" r="0" t="0"/>
          <a:stretch/>
        </p:blipFill>
        <p:spPr>
          <a:xfrm>
            <a:off x="5006473" y="914043"/>
            <a:ext cx="3394710" cy="1909525"/>
          </a:xfrm>
          <a:prstGeom prst="rect">
            <a:avLst/>
          </a:prstGeom>
          <a:noFill/>
          <a:ln>
            <a:noFill/>
          </a:ln>
        </p:spPr>
      </p:pic>
      <p:sp>
        <p:nvSpPr>
          <p:cNvPr id="167" name="Google Shape;167;p25"/>
          <p:cNvSpPr/>
          <p:nvPr/>
        </p:nvSpPr>
        <p:spPr>
          <a:xfrm>
            <a:off x="5006473" y="857250"/>
            <a:ext cx="3394800" cy="2023110"/>
          </a:xfrm>
          <a:prstGeom prst="rect">
            <a:avLst/>
          </a:prstGeom>
          <a:solidFill>
            <a:srgbClr val="FFFFFF">
              <a:alpha val="0"/>
            </a:srgbClr>
          </a:solidFill>
          <a:ln cap="flat" cmpd="sng" w="9525">
            <a:solidFill>
              <a:srgbClr val="D9E2E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8" name="Google Shape;168;p25"/>
          <p:cNvSpPr/>
          <p:nvPr/>
        </p:nvSpPr>
        <p:spPr>
          <a:xfrm>
            <a:off x="5006473" y="2928366"/>
            <a:ext cx="3394800" cy="1508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700"/>
              <a:buFont typeface="Arial"/>
              <a:buNone/>
            </a:pPr>
            <a:r>
              <a:rPr b="0" i="0" lang="en" sz="700" u="none" cap="none" strike="noStrike">
                <a:solidFill>
                  <a:srgbClr val="6B7280"/>
                </a:solidFill>
                <a:latin typeface="Arial"/>
                <a:ea typeface="Arial"/>
                <a:cs typeface="Arial"/>
                <a:sym typeface="Arial"/>
              </a:rPr>
              <a:t>Perplexity tradeoff</a:t>
            </a:r>
            <a:endParaRPr b="0" i="0" sz="700" u="none" cap="none" strike="noStrike">
              <a:solidFill>
                <a:schemeClr val="dk1"/>
              </a:solidFill>
              <a:latin typeface="Arial"/>
              <a:ea typeface="Arial"/>
              <a:cs typeface="Arial"/>
              <a:sym typeface="Arial"/>
            </a:endParaRPr>
          </a:p>
        </p:txBody>
      </p:sp>
      <p:sp>
        <p:nvSpPr>
          <p:cNvPr id="169" name="Google Shape;169;p25"/>
          <p:cNvSpPr/>
          <p:nvPr/>
        </p:nvSpPr>
        <p:spPr>
          <a:xfrm>
            <a:off x="377200" y="3394700"/>
            <a:ext cx="8589000" cy="857400"/>
          </a:xfrm>
          <a:prstGeom prst="rect">
            <a:avLst/>
          </a:prstGeom>
          <a:noFill/>
          <a:ln>
            <a:noFill/>
          </a:ln>
        </p:spPr>
        <p:txBody>
          <a:bodyPr anchorCtr="0" anchor="t" bIns="375" lIns="375" spcFirstLastPara="1" rIns="375" wrap="square" tIns="375">
            <a:noAutofit/>
          </a:bodyPr>
          <a:lstStyle/>
          <a:p>
            <a:pPr indent="-336550" lvl="0" marL="457200" marR="0" rtl="0" algn="l">
              <a:spcBef>
                <a:spcPts val="0"/>
              </a:spcBef>
              <a:spcAft>
                <a:spcPts val="0"/>
              </a:spcAft>
              <a:buClr>
                <a:srgbClr val="222222"/>
              </a:buClr>
              <a:buSzPts val="1700"/>
              <a:buFont typeface="Arial"/>
              <a:buChar char="●"/>
            </a:pPr>
            <a:r>
              <a:rPr b="0" i="0" lang="en" sz="1700" u="none" cap="none" strike="noStrike">
                <a:solidFill>
                  <a:srgbClr val="222222"/>
                </a:solidFill>
                <a:latin typeface="Arial"/>
                <a:ea typeface="Arial"/>
                <a:cs typeface="Arial"/>
                <a:sym typeface="Arial"/>
              </a:rPr>
              <a:t>Manifold learning looks for lower-dimensional structure inside</a:t>
            </a:r>
            <a:r>
              <a:rPr lang="en" sz="1700">
                <a:solidFill>
                  <a:srgbClr val="222222"/>
                </a:solidFill>
              </a:rPr>
              <a:t> </a:t>
            </a:r>
            <a:r>
              <a:rPr b="0" i="0" lang="en" sz="1700" u="none" cap="none" strike="noStrike">
                <a:solidFill>
                  <a:srgbClr val="222222"/>
                </a:solidFill>
                <a:latin typeface="Arial"/>
                <a:ea typeface="Arial"/>
                <a:cs typeface="Arial"/>
                <a:sym typeface="Arial"/>
              </a:rPr>
              <a:t>high-dimensional data.</a:t>
            </a:r>
            <a:endParaRPr b="0" i="0" sz="1700" u="none" cap="none" strike="noStrike">
              <a:solidFill>
                <a:schemeClr val="dk1"/>
              </a:solidFill>
              <a:latin typeface="Arial"/>
              <a:ea typeface="Arial"/>
              <a:cs typeface="Arial"/>
              <a:sym typeface="Arial"/>
            </a:endParaRPr>
          </a:p>
          <a:p>
            <a:pPr indent="-336550" lvl="0" marL="457200" marR="0" rtl="0" algn="l">
              <a:spcBef>
                <a:spcPts val="0"/>
              </a:spcBef>
              <a:spcAft>
                <a:spcPts val="0"/>
              </a:spcAft>
              <a:buClr>
                <a:srgbClr val="222222"/>
              </a:buClr>
              <a:buSzPts val="1700"/>
              <a:buFont typeface="Arial"/>
              <a:buChar char="●"/>
            </a:pPr>
            <a:r>
              <a:rPr b="0" i="0" lang="en" sz="1700" u="none" cap="none" strike="noStrike">
                <a:solidFill>
                  <a:srgbClr val="222222"/>
                </a:solidFill>
                <a:latin typeface="Arial"/>
                <a:ea typeface="Arial"/>
                <a:cs typeface="Arial"/>
                <a:sym typeface="Arial"/>
              </a:rPr>
              <a:t>t-SNE emphasizes nearby points staying nearby.</a:t>
            </a:r>
            <a:endParaRPr b="0" i="0" sz="1700" u="none" cap="none" strike="noStrike">
              <a:solidFill>
                <a:schemeClr val="dk1"/>
              </a:solidFill>
              <a:latin typeface="Arial"/>
              <a:ea typeface="Arial"/>
              <a:cs typeface="Arial"/>
              <a:sym typeface="Arial"/>
            </a:endParaRPr>
          </a:p>
          <a:p>
            <a:pPr indent="-336550" lvl="0" marL="457200" marR="0" rtl="0" algn="l">
              <a:spcBef>
                <a:spcPts val="0"/>
              </a:spcBef>
              <a:spcAft>
                <a:spcPts val="0"/>
              </a:spcAft>
              <a:buClr>
                <a:srgbClr val="222222"/>
              </a:buClr>
              <a:buSzPts val="1700"/>
              <a:buFont typeface="Arial"/>
              <a:buChar char="●"/>
            </a:pPr>
            <a:r>
              <a:rPr b="0" i="0" lang="en" sz="1700" u="none" cap="none" strike="noStrike">
                <a:solidFill>
                  <a:srgbClr val="222222"/>
                </a:solidFill>
                <a:latin typeface="Arial"/>
                <a:ea typeface="Arial"/>
                <a:cs typeface="Arial"/>
                <a:sym typeface="Arial"/>
              </a:rPr>
              <a:t>Perplexity changes the local-versus-global emphasis.</a:t>
            </a:r>
            <a:endParaRPr b="0" i="0" sz="1700" u="none" cap="none" strike="noStrike">
              <a:solidFill>
                <a:schemeClr val="dk1"/>
              </a:solidFill>
              <a:latin typeface="Arial"/>
              <a:ea typeface="Arial"/>
              <a:cs typeface="Arial"/>
              <a:sym typeface="Arial"/>
            </a:endParaRPr>
          </a:p>
          <a:p>
            <a:pPr indent="-336550" lvl="0" marL="457200" marR="0" rtl="0" algn="l">
              <a:spcBef>
                <a:spcPts val="0"/>
              </a:spcBef>
              <a:spcAft>
                <a:spcPts val="0"/>
              </a:spcAft>
              <a:buClr>
                <a:srgbClr val="222222"/>
              </a:buClr>
              <a:buSzPts val="1700"/>
              <a:buFont typeface="Arial"/>
              <a:buChar char="●"/>
            </a:pPr>
            <a:r>
              <a:rPr b="0" i="0" lang="en" sz="1700" u="none" cap="none" strike="noStrike">
                <a:solidFill>
                  <a:srgbClr val="222222"/>
                </a:solidFill>
                <a:latin typeface="Arial"/>
                <a:ea typeface="Arial"/>
                <a:cs typeface="Arial"/>
                <a:sym typeface="Arial"/>
              </a:rPr>
              <a:t>Visual clusters should be interpreted carefully.</a:t>
            </a:r>
            <a:endParaRPr b="0" i="0" sz="17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174" name="Shape 174"/>
        <p:cNvGrpSpPr/>
        <p:nvPr/>
      </p:nvGrpSpPr>
      <p:grpSpPr>
        <a:xfrm>
          <a:off x="0" y="0"/>
          <a:ext cx="0" cy="0"/>
          <a:chOff x="0" y="0"/>
          <a:chExt cx="0" cy="0"/>
        </a:xfrm>
      </p:grpSpPr>
      <p:sp>
        <p:nvSpPr>
          <p:cNvPr id="175" name="Google Shape;175;p26"/>
          <p:cNvSpPr/>
          <p:nvPr/>
        </p:nvSpPr>
        <p:spPr>
          <a:xfrm>
            <a:off x="0" y="0"/>
            <a:ext cx="96015" cy="5143500"/>
          </a:xfrm>
          <a:prstGeom prst="rect">
            <a:avLst/>
          </a:prstGeom>
          <a:solidFill>
            <a:srgbClr val="2878A8"/>
          </a:solidFill>
          <a:ln cap="flat" cmpd="sng" w="12700">
            <a:solidFill>
              <a:srgbClr val="2878A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6" name="Google Shape;176;p26"/>
          <p:cNvSpPr/>
          <p:nvPr/>
        </p:nvSpPr>
        <p:spPr>
          <a:xfrm>
            <a:off x="377200" y="240030"/>
            <a:ext cx="8161238" cy="30861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18324A"/>
              </a:buClr>
              <a:buSzPts val="2300"/>
              <a:buFont typeface="Play"/>
              <a:buNone/>
            </a:pPr>
            <a:r>
              <a:rPr b="1" i="0" lang="en" sz="2300" u="none" cap="none" strike="noStrike">
                <a:solidFill>
                  <a:srgbClr val="18324A"/>
                </a:solidFill>
                <a:latin typeface="Play"/>
                <a:ea typeface="Play"/>
                <a:cs typeface="Play"/>
                <a:sym typeface="Play"/>
              </a:rPr>
              <a:t>Machine Learning Workflow</a:t>
            </a:r>
            <a:endParaRPr b="0" i="0" sz="2300" u="none" cap="none" strike="noStrike">
              <a:solidFill>
                <a:schemeClr val="dk1"/>
              </a:solidFill>
              <a:latin typeface="Arial"/>
              <a:ea typeface="Arial"/>
              <a:cs typeface="Arial"/>
              <a:sym typeface="Arial"/>
            </a:endParaRPr>
          </a:p>
        </p:txBody>
      </p:sp>
      <p:sp>
        <p:nvSpPr>
          <p:cNvPr id="177" name="Google Shape;177;p26"/>
          <p:cNvSpPr/>
          <p:nvPr/>
        </p:nvSpPr>
        <p:spPr>
          <a:xfrm>
            <a:off x="384058" y="624078"/>
            <a:ext cx="7338256"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 sz="900" u="none" cap="none" strike="noStrike">
                <a:solidFill>
                  <a:srgbClr val="6B7280"/>
                </a:solidFill>
                <a:latin typeface="Arial"/>
                <a:ea typeface="Arial"/>
                <a:cs typeface="Arial"/>
                <a:sym typeface="Arial"/>
              </a:rPr>
              <a:t>Prediction requires a workflow that protects against overfitting.</a:t>
            </a:r>
            <a:endParaRPr b="0" i="0" sz="900" u="none" cap="none" strike="noStrike">
              <a:solidFill>
                <a:schemeClr val="dk1"/>
              </a:solidFill>
              <a:latin typeface="Arial"/>
              <a:ea typeface="Arial"/>
              <a:cs typeface="Arial"/>
              <a:sym typeface="Arial"/>
            </a:endParaRPr>
          </a:p>
        </p:txBody>
      </p:sp>
      <p:sp>
        <p:nvSpPr>
          <p:cNvPr id="178" name="Google Shape;178;p26"/>
          <p:cNvSpPr/>
          <p:nvPr/>
        </p:nvSpPr>
        <p:spPr>
          <a:xfrm>
            <a:off x="322725" y="870950"/>
            <a:ext cx="3690900" cy="2989500"/>
          </a:xfrm>
          <a:prstGeom prst="rect">
            <a:avLst/>
          </a:prstGeom>
          <a:noFill/>
          <a:ln>
            <a:noFill/>
          </a:ln>
        </p:spPr>
        <p:txBody>
          <a:bodyPr anchorCtr="0" anchor="t" bIns="375" lIns="375" spcFirstLastPara="1" rIns="375" wrap="square" tIns="37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1. Data Partitioning</a:t>
            </a:r>
            <a:endParaRPr b="1" sz="1300">
              <a:solidFill>
                <a:schemeClr val="dk1"/>
              </a:solidFill>
            </a:endParaRPr>
          </a:p>
          <a:p>
            <a:pPr indent="-298450" lvl="0" marL="457200" rtl="0" algn="l">
              <a:lnSpc>
                <a:spcPct val="115000"/>
              </a:lnSpc>
              <a:spcBef>
                <a:spcPts val="1400"/>
              </a:spcBef>
              <a:spcAft>
                <a:spcPts val="0"/>
              </a:spcAft>
              <a:buClr>
                <a:schemeClr val="dk1"/>
              </a:buClr>
              <a:buSzPts val="1100"/>
              <a:buChar char="●"/>
            </a:pPr>
            <a:r>
              <a:rPr lang="en" sz="1100">
                <a:solidFill>
                  <a:schemeClr val="dk1"/>
                </a:solidFill>
              </a:rPr>
              <a:t>Split data into:</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Training set, Validation set, Test set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Prevents information leakage</a:t>
            </a:r>
            <a:endParaRPr sz="11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2. Feature &amp; Model Selection</a:t>
            </a:r>
            <a:endParaRPr b="1" sz="1300">
              <a:solidFill>
                <a:schemeClr val="dk1"/>
              </a:solidFill>
            </a:endParaRPr>
          </a:p>
          <a:p>
            <a:pPr indent="-298450" lvl="0" marL="457200" rtl="0" algn="l">
              <a:lnSpc>
                <a:spcPct val="115000"/>
              </a:lnSpc>
              <a:spcBef>
                <a:spcPts val="1400"/>
              </a:spcBef>
              <a:spcAft>
                <a:spcPts val="0"/>
              </a:spcAft>
              <a:buClr>
                <a:schemeClr val="dk1"/>
              </a:buClr>
              <a:buSzPts val="1100"/>
              <a:buChar char="●"/>
            </a:pPr>
            <a:r>
              <a:rPr lang="en" sz="1100">
                <a:solidFill>
                  <a:schemeClr val="dk1"/>
                </a:solidFill>
              </a:rPr>
              <a:t>Select useful features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Choose appropriate model architecture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Decisions should rely only on training/validation data</a:t>
            </a:r>
            <a:endParaRPr>
              <a:solidFill>
                <a:srgbClr val="222222"/>
              </a:solidFill>
            </a:endParaRPr>
          </a:p>
        </p:txBody>
      </p:sp>
      <p:sp>
        <p:nvSpPr>
          <p:cNvPr id="179" name="Google Shape;179;p26"/>
          <p:cNvSpPr txBox="1"/>
          <p:nvPr/>
        </p:nvSpPr>
        <p:spPr>
          <a:xfrm>
            <a:off x="4701875" y="795525"/>
            <a:ext cx="3690900" cy="3331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300">
                <a:solidFill>
                  <a:schemeClr val="dk1"/>
                </a:solidFill>
              </a:rPr>
              <a:t>3. Hyperparameter Tuning</a:t>
            </a:r>
            <a:endParaRPr b="1" sz="1300">
              <a:solidFill>
                <a:schemeClr val="dk1"/>
              </a:solidFill>
            </a:endParaRPr>
          </a:p>
          <a:p>
            <a:pPr indent="-298450" lvl="0" marL="457200" rtl="0" algn="l">
              <a:lnSpc>
                <a:spcPct val="115000"/>
              </a:lnSpc>
              <a:spcBef>
                <a:spcPts val="1400"/>
              </a:spcBef>
              <a:spcAft>
                <a:spcPts val="0"/>
              </a:spcAft>
              <a:buClr>
                <a:schemeClr val="dk1"/>
              </a:buClr>
              <a:buSzPts val="1100"/>
              <a:buChar char="●"/>
            </a:pPr>
            <a:r>
              <a:rPr lang="en" sz="1100">
                <a:solidFill>
                  <a:schemeClr val="dk1"/>
                </a:solidFill>
              </a:rPr>
              <a:t>Optimize parameters such as: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learning rate</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number of neighbors (K)</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tree depth</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Never tune directly on the test set</a:t>
            </a:r>
            <a:endParaRPr sz="1100">
              <a:solidFill>
                <a:schemeClr val="dk1"/>
              </a:solidFill>
            </a:endParaRPr>
          </a:p>
          <a:p>
            <a:pPr indent="0" lvl="0" marL="0" rtl="0" algn="l">
              <a:lnSpc>
                <a:spcPct val="115000"/>
              </a:lnSpc>
              <a:spcBef>
                <a:spcPts val="1400"/>
              </a:spcBef>
              <a:spcAft>
                <a:spcPts val="0"/>
              </a:spcAft>
              <a:buNone/>
            </a:pPr>
            <a:r>
              <a:rPr b="1" lang="en" sz="1300">
                <a:solidFill>
                  <a:schemeClr val="dk1"/>
                </a:solidFill>
              </a:rPr>
              <a:t>4. Model Assessment</a:t>
            </a:r>
            <a:endParaRPr b="1" sz="1300">
              <a:solidFill>
                <a:schemeClr val="dk1"/>
              </a:solidFill>
            </a:endParaRPr>
          </a:p>
          <a:p>
            <a:pPr indent="-298450" lvl="0" marL="457200" rtl="0" algn="l">
              <a:lnSpc>
                <a:spcPct val="115000"/>
              </a:lnSpc>
              <a:spcBef>
                <a:spcPts val="1400"/>
              </a:spcBef>
              <a:spcAft>
                <a:spcPts val="0"/>
              </a:spcAft>
              <a:buClr>
                <a:schemeClr val="dk1"/>
              </a:buClr>
              <a:buSzPts val="1100"/>
              <a:buChar char="●"/>
            </a:pPr>
            <a:r>
              <a:rPr lang="en" sz="1100">
                <a:solidFill>
                  <a:schemeClr val="dk1"/>
                </a:solidFill>
              </a:rPr>
              <a:t>Evaluate final performance on held-out test data</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Measures generalization to unseen samples</a:t>
            </a:r>
            <a:endParaRPr sz="1100">
              <a:solidFill>
                <a:schemeClr val="dk1"/>
              </a:solidFill>
            </a:endParaRPr>
          </a:p>
          <a:p>
            <a:pPr indent="0" lvl="0" marL="0" rtl="0" algn="l">
              <a:spcBef>
                <a:spcPts val="1400"/>
              </a:spcBef>
              <a:spcAft>
                <a:spcPts val="0"/>
              </a:spcAft>
              <a:buNone/>
            </a:pPr>
            <a:r>
              <a:t/>
            </a:r>
            <a:endParaRPr>
              <a:solidFill>
                <a:srgbClr val="22222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184" name="Shape 184"/>
        <p:cNvGrpSpPr/>
        <p:nvPr/>
      </p:nvGrpSpPr>
      <p:grpSpPr>
        <a:xfrm>
          <a:off x="0" y="0"/>
          <a:ext cx="0" cy="0"/>
          <a:chOff x="0" y="0"/>
          <a:chExt cx="0" cy="0"/>
        </a:xfrm>
      </p:grpSpPr>
      <p:sp>
        <p:nvSpPr>
          <p:cNvPr id="185" name="Google Shape;185;p27"/>
          <p:cNvSpPr/>
          <p:nvPr/>
        </p:nvSpPr>
        <p:spPr>
          <a:xfrm>
            <a:off x="0" y="0"/>
            <a:ext cx="96015" cy="5143500"/>
          </a:xfrm>
          <a:prstGeom prst="rect">
            <a:avLst/>
          </a:prstGeom>
          <a:solidFill>
            <a:srgbClr val="2878A8"/>
          </a:solidFill>
          <a:ln cap="flat" cmpd="sng" w="12700">
            <a:solidFill>
              <a:srgbClr val="2878A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6" name="Google Shape;186;p27"/>
          <p:cNvSpPr/>
          <p:nvPr/>
        </p:nvSpPr>
        <p:spPr>
          <a:xfrm>
            <a:off x="377200" y="240030"/>
            <a:ext cx="8161238" cy="30861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18324A"/>
              </a:buClr>
              <a:buSzPts val="2300"/>
              <a:buFont typeface="Play"/>
              <a:buNone/>
            </a:pPr>
            <a:r>
              <a:rPr b="1" i="0" lang="en" sz="2300" u="none" cap="none" strike="noStrike">
                <a:solidFill>
                  <a:srgbClr val="18324A"/>
                </a:solidFill>
                <a:latin typeface="Play"/>
                <a:ea typeface="Play"/>
                <a:cs typeface="Play"/>
                <a:sym typeface="Play"/>
              </a:rPr>
              <a:t>Data Partitioning &amp; Cross-Validation</a:t>
            </a:r>
            <a:endParaRPr b="0" i="0" sz="2300" u="none" cap="none" strike="noStrike">
              <a:solidFill>
                <a:schemeClr val="dk1"/>
              </a:solidFill>
              <a:latin typeface="Arial"/>
              <a:ea typeface="Arial"/>
              <a:cs typeface="Arial"/>
              <a:sym typeface="Arial"/>
            </a:endParaRPr>
          </a:p>
        </p:txBody>
      </p:sp>
      <p:sp>
        <p:nvSpPr>
          <p:cNvPr id="187" name="Google Shape;187;p27"/>
          <p:cNvSpPr/>
          <p:nvPr/>
        </p:nvSpPr>
        <p:spPr>
          <a:xfrm>
            <a:off x="384058" y="624078"/>
            <a:ext cx="7338256"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 sz="900" u="none" cap="none" strike="noStrike">
                <a:solidFill>
                  <a:srgbClr val="6B7280"/>
                </a:solidFill>
                <a:latin typeface="Arial"/>
                <a:ea typeface="Arial"/>
                <a:cs typeface="Arial"/>
                <a:sym typeface="Arial"/>
              </a:rPr>
              <a:t>Separate model building, model tuning, and final model assessment.</a:t>
            </a:r>
            <a:endParaRPr b="0" i="0" sz="900" u="none" cap="none" strike="noStrike">
              <a:solidFill>
                <a:schemeClr val="dk1"/>
              </a:solidFill>
              <a:latin typeface="Arial"/>
              <a:ea typeface="Arial"/>
              <a:cs typeface="Arial"/>
              <a:sym typeface="Arial"/>
            </a:endParaRPr>
          </a:p>
        </p:txBody>
      </p:sp>
      <p:pic>
        <p:nvPicPr>
          <p:cNvPr descr="/mnt/data/review_assets/data_partition.png" id="188" name="Google Shape;188;p27"/>
          <p:cNvPicPr preferRelativeResize="0"/>
          <p:nvPr/>
        </p:nvPicPr>
        <p:blipFill rotWithShape="1">
          <a:blip r:embed="rId3">
            <a:alphaModFix/>
          </a:blip>
          <a:srcRect b="0" l="0" r="0" t="0"/>
          <a:stretch/>
        </p:blipFill>
        <p:spPr>
          <a:xfrm>
            <a:off x="445782" y="953399"/>
            <a:ext cx="3497580" cy="1967971"/>
          </a:xfrm>
          <a:prstGeom prst="rect">
            <a:avLst/>
          </a:prstGeom>
          <a:noFill/>
          <a:ln>
            <a:noFill/>
          </a:ln>
        </p:spPr>
      </p:pic>
      <p:sp>
        <p:nvSpPr>
          <p:cNvPr id="189" name="Google Shape;189;p27"/>
          <p:cNvSpPr/>
          <p:nvPr/>
        </p:nvSpPr>
        <p:spPr>
          <a:xfrm>
            <a:off x="445782" y="925830"/>
            <a:ext cx="3497673" cy="2023110"/>
          </a:xfrm>
          <a:prstGeom prst="rect">
            <a:avLst/>
          </a:prstGeom>
          <a:solidFill>
            <a:srgbClr val="FFFFFF">
              <a:alpha val="0"/>
            </a:srgbClr>
          </a:solidFill>
          <a:ln cap="flat" cmpd="sng" w="9525">
            <a:solidFill>
              <a:srgbClr val="D9E2E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0" name="Google Shape;190;p27"/>
          <p:cNvSpPr/>
          <p:nvPr/>
        </p:nvSpPr>
        <p:spPr>
          <a:xfrm>
            <a:off x="445782" y="2996946"/>
            <a:ext cx="3497673" cy="1508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700"/>
              <a:buFont typeface="Arial"/>
              <a:buNone/>
            </a:pPr>
            <a:r>
              <a:rPr b="0" i="0" lang="en" sz="700" u="none" cap="none" strike="noStrike">
                <a:solidFill>
                  <a:srgbClr val="6B7280"/>
                </a:solidFill>
                <a:latin typeface="Arial"/>
                <a:ea typeface="Arial"/>
                <a:cs typeface="Arial"/>
                <a:sym typeface="Arial"/>
              </a:rPr>
              <a:t>Train / validation / test split</a:t>
            </a:r>
            <a:endParaRPr b="0" i="0" sz="700" u="none" cap="none" strike="noStrike">
              <a:solidFill>
                <a:schemeClr val="dk1"/>
              </a:solidFill>
              <a:latin typeface="Arial"/>
              <a:ea typeface="Arial"/>
              <a:cs typeface="Arial"/>
              <a:sym typeface="Arial"/>
            </a:endParaRPr>
          </a:p>
        </p:txBody>
      </p:sp>
      <p:pic>
        <p:nvPicPr>
          <p:cNvPr descr="/mnt/data/review_assets/kfold.png" id="191" name="Google Shape;191;p27"/>
          <p:cNvPicPr preferRelativeResize="0"/>
          <p:nvPr/>
        </p:nvPicPr>
        <p:blipFill rotWithShape="1">
          <a:blip r:embed="rId4">
            <a:alphaModFix/>
          </a:blip>
          <a:srcRect b="0" l="0" r="0" t="0"/>
          <a:stretch/>
        </p:blipFill>
        <p:spPr>
          <a:xfrm>
            <a:off x="5040764" y="1088456"/>
            <a:ext cx="3017520" cy="1697858"/>
          </a:xfrm>
          <a:prstGeom prst="rect">
            <a:avLst/>
          </a:prstGeom>
          <a:noFill/>
          <a:ln>
            <a:noFill/>
          </a:ln>
        </p:spPr>
      </p:pic>
      <p:sp>
        <p:nvSpPr>
          <p:cNvPr id="192" name="Google Shape;192;p27"/>
          <p:cNvSpPr/>
          <p:nvPr/>
        </p:nvSpPr>
        <p:spPr>
          <a:xfrm>
            <a:off x="5040764" y="925830"/>
            <a:ext cx="3017600" cy="2023110"/>
          </a:xfrm>
          <a:prstGeom prst="rect">
            <a:avLst/>
          </a:prstGeom>
          <a:solidFill>
            <a:srgbClr val="FFFFFF">
              <a:alpha val="0"/>
            </a:srgbClr>
          </a:solidFill>
          <a:ln cap="flat" cmpd="sng" w="9525">
            <a:solidFill>
              <a:srgbClr val="D9E2E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3" name="Google Shape;193;p27"/>
          <p:cNvSpPr/>
          <p:nvPr/>
        </p:nvSpPr>
        <p:spPr>
          <a:xfrm>
            <a:off x="5040764" y="2996946"/>
            <a:ext cx="3017600" cy="1508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700"/>
              <a:buFont typeface="Arial"/>
              <a:buNone/>
            </a:pPr>
            <a:r>
              <a:rPr b="0" i="0" lang="en" sz="700" u="none" cap="none" strike="noStrike">
                <a:solidFill>
                  <a:srgbClr val="6B7280"/>
                </a:solidFill>
                <a:latin typeface="Arial"/>
                <a:ea typeface="Arial"/>
                <a:cs typeface="Arial"/>
                <a:sym typeface="Arial"/>
              </a:rPr>
              <a:t>K-fold cross-validation</a:t>
            </a:r>
            <a:endParaRPr b="0" i="0" sz="700" u="none" cap="none" strike="noStrike">
              <a:solidFill>
                <a:schemeClr val="dk1"/>
              </a:solidFill>
              <a:latin typeface="Arial"/>
              <a:ea typeface="Arial"/>
              <a:cs typeface="Arial"/>
              <a:sym typeface="Arial"/>
            </a:endParaRPr>
          </a:p>
        </p:txBody>
      </p:sp>
      <p:sp>
        <p:nvSpPr>
          <p:cNvPr id="194" name="Google Shape;194;p27"/>
          <p:cNvSpPr/>
          <p:nvPr/>
        </p:nvSpPr>
        <p:spPr>
          <a:xfrm>
            <a:off x="651527" y="3463290"/>
            <a:ext cx="7681165" cy="857250"/>
          </a:xfrm>
          <a:prstGeom prst="rect">
            <a:avLst/>
          </a:prstGeom>
          <a:noFill/>
          <a:ln>
            <a:noFill/>
          </a:ln>
        </p:spPr>
        <p:txBody>
          <a:bodyPr anchorCtr="0" anchor="t" bIns="375" lIns="375" spcFirstLastPara="1" rIns="375" wrap="square" tIns="375">
            <a:noAutofit/>
          </a:bodyPr>
          <a:lstStyle/>
          <a:p>
            <a:pPr indent="-336550" lvl="0" marL="457200" marR="0" rtl="0" algn="l">
              <a:spcBef>
                <a:spcPts val="0"/>
              </a:spcBef>
              <a:spcAft>
                <a:spcPts val="0"/>
              </a:spcAft>
              <a:buClr>
                <a:srgbClr val="222222"/>
              </a:buClr>
              <a:buSzPts val="1700"/>
              <a:buFont typeface="Arial"/>
              <a:buChar char="●"/>
            </a:pPr>
            <a:r>
              <a:rPr b="0" i="0" lang="en" sz="1700" u="none" cap="none" strike="noStrike">
                <a:solidFill>
                  <a:srgbClr val="222222"/>
                </a:solidFill>
                <a:latin typeface="Arial"/>
                <a:ea typeface="Arial"/>
                <a:cs typeface="Arial"/>
                <a:sym typeface="Arial"/>
              </a:rPr>
              <a:t>Training set: fit the model.</a:t>
            </a:r>
            <a:endParaRPr b="0" i="0" sz="1700" u="none" cap="none" strike="noStrike">
              <a:solidFill>
                <a:schemeClr val="dk1"/>
              </a:solidFill>
              <a:latin typeface="Arial"/>
              <a:ea typeface="Arial"/>
              <a:cs typeface="Arial"/>
              <a:sym typeface="Arial"/>
            </a:endParaRPr>
          </a:p>
          <a:p>
            <a:pPr indent="-336550" lvl="0" marL="457200" marR="0" rtl="0" algn="l">
              <a:spcBef>
                <a:spcPts val="0"/>
              </a:spcBef>
              <a:spcAft>
                <a:spcPts val="0"/>
              </a:spcAft>
              <a:buClr>
                <a:srgbClr val="222222"/>
              </a:buClr>
              <a:buSzPts val="1700"/>
              <a:buFont typeface="Arial"/>
              <a:buChar char="●"/>
            </a:pPr>
            <a:r>
              <a:rPr b="0" i="0" lang="en" sz="1700" u="none" cap="none" strike="noStrike">
                <a:solidFill>
                  <a:srgbClr val="222222"/>
                </a:solidFill>
                <a:latin typeface="Arial"/>
                <a:ea typeface="Arial"/>
                <a:cs typeface="Arial"/>
                <a:sym typeface="Arial"/>
              </a:rPr>
              <a:t>Validation set: tune or choose among models.</a:t>
            </a:r>
            <a:endParaRPr b="0" i="0" sz="1700" u="none" cap="none" strike="noStrike">
              <a:solidFill>
                <a:schemeClr val="dk1"/>
              </a:solidFill>
              <a:latin typeface="Arial"/>
              <a:ea typeface="Arial"/>
              <a:cs typeface="Arial"/>
              <a:sym typeface="Arial"/>
            </a:endParaRPr>
          </a:p>
          <a:p>
            <a:pPr indent="-336550" lvl="0" marL="457200" marR="0" rtl="0" algn="l">
              <a:spcBef>
                <a:spcPts val="0"/>
              </a:spcBef>
              <a:spcAft>
                <a:spcPts val="0"/>
              </a:spcAft>
              <a:buClr>
                <a:srgbClr val="222222"/>
              </a:buClr>
              <a:buSzPts val="1700"/>
              <a:buFont typeface="Arial"/>
              <a:buChar char="●"/>
            </a:pPr>
            <a:r>
              <a:rPr b="0" i="0" lang="en" sz="1700" u="none" cap="none" strike="noStrike">
                <a:solidFill>
                  <a:srgbClr val="222222"/>
                </a:solidFill>
                <a:latin typeface="Arial"/>
                <a:ea typeface="Arial"/>
                <a:cs typeface="Arial"/>
                <a:sym typeface="Arial"/>
              </a:rPr>
              <a:t>Test set: estimate final generalization.</a:t>
            </a:r>
            <a:endParaRPr b="0" i="0" sz="1700" u="none" cap="none" strike="noStrike">
              <a:solidFill>
                <a:schemeClr val="dk1"/>
              </a:solidFill>
              <a:latin typeface="Arial"/>
              <a:ea typeface="Arial"/>
              <a:cs typeface="Arial"/>
              <a:sym typeface="Arial"/>
            </a:endParaRPr>
          </a:p>
          <a:p>
            <a:pPr indent="-336550" lvl="0" marL="457200" marR="0" rtl="0" algn="l">
              <a:spcBef>
                <a:spcPts val="0"/>
              </a:spcBef>
              <a:spcAft>
                <a:spcPts val="0"/>
              </a:spcAft>
              <a:buClr>
                <a:srgbClr val="222222"/>
              </a:buClr>
              <a:buSzPts val="1700"/>
              <a:buFont typeface="Arial"/>
              <a:buChar char="●"/>
            </a:pPr>
            <a:r>
              <a:rPr b="0" i="0" lang="en" sz="1700" u="none" cap="none" strike="noStrike">
                <a:solidFill>
                  <a:srgbClr val="222222"/>
                </a:solidFill>
                <a:latin typeface="Arial"/>
                <a:ea typeface="Arial"/>
                <a:cs typeface="Arial"/>
                <a:sym typeface="Arial"/>
              </a:rPr>
              <a:t>K-fold CV reuses limited data more efficiently by rotating the validation fold.</a:t>
            </a:r>
            <a:endParaRPr b="0" i="0" sz="17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199" name="Shape 199"/>
        <p:cNvGrpSpPr/>
        <p:nvPr/>
      </p:nvGrpSpPr>
      <p:grpSpPr>
        <a:xfrm>
          <a:off x="0" y="0"/>
          <a:ext cx="0" cy="0"/>
          <a:chOff x="0" y="0"/>
          <a:chExt cx="0" cy="0"/>
        </a:xfrm>
      </p:grpSpPr>
      <p:sp>
        <p:nvSpPr>
          <p:cNvPr id="200" name="Google Shape;200;p28"/>
          <p:cNvSpPr/>
          <p:nvPr/>
        </p:nvSpPr>
        <p:spPr>
          <a:xfrm>
            <a:off x="0" y="0"/>
            <a:ext cx="96015" cy="5143500"/>
          </a:xfrm>
          <a:prstGeom prst="rect">
            <a:avLst/>
          </a:prstGeom>
          <a:solidFill>
            <a:srgbClr val="E9873B"/>
          </a:solidFill>
          <a:ln cap="flat" cmpd="sng" w="12700">
            <a:solidFill>
              <a:srgbClr val="E9873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1" name="Google Shape;201;p28"/>
          <p:cNvSpPr/>
          <p:nvPr/>
        </p:nvSpPr>
        <p:spPr>
          <a:xfrm>
            <a:off x="377200" y="240030"/>
            <a:ext cx="8161238" cy="30861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18324A"/>
              </a:buClr>
              <a:buSzPts val="2300"/>
              <a:buFont typeface="Play"/>
              <a:buNone/>
            </a:pPr>
            <a:r>
              <a:rPr b="1" i="0" lang="en" sz="2300" u="none" cap="none" strike="noStrike">
                <a:solidFill>
                  <a:srgbClr val="18324A"/>
                </a:solidFill>
                <a:latin typeface="Play"/>
                <a:ea typeface="Play"/>
                <a:cs typeface="Play"/>
                <a:sym typeface="Play"/>
              </a:rPr>
              <a:t>Learning Modes &amp; Classification Metrics</a:t>
            </a:r>
            <a:endParaRPr b="0" i="0" sz="2300" u="none" cap="none" strike="noStrike">
              <a:solidFill>
                <a:schemeClr val="dk1"/>
              </a:solidFill>
              <a:latin typeface="Arial"/>
              <a:ea typeface="Arial"/>
              <a:cs typeface="Arial"/>
              <a:sym typeface="Arial"/>
            </a:endParaRPr>
          </a:p>
        </p:txBody>
      </p:sp>
      <p:sp>
        <p:nvSpPr>
          <p:cNvPr id="202" name="Google Shape;202;p28"/>
          <p:cNvSpPr/>
          <p:nvPr/>
        </p:nvSpPr>
        <p:spPr>
          <a:xfrm>
            <a:off x="384058" y="624078"/>
            <a:ext cx="7338256"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 sz="900" u="none" cap="none" strike="noStrike">
                <a:solidFill>
                  <a:srgbClr val="6B7280"/>
                </a:solidFill>
                <a:latin typeface="Arial"/>
                <a:ea typeface="Arial"/>
                <a:cs typeface="Arial"/>
                <a:sym typeface="Arial"/>
              </a:rPr>
              <a:t>Before choosing a metric, identify the task and the error you care about.</a:t>
            </a:r>
            <a:endParaRPr b="0" i="0" sz="900" u="none" cap="none" strike="noStrike">
              <a:solidFill>
                <a:schemeClr val="dk1"/>
              </a:solidFill>
              <a:latin typeface="Arial"/>
              <a:ea typeface="Arial"/>
              <a:cs typeface="Arial"/>
              <a:sym typeface="Arial"/>
            </a:endParaRPr>
          </a:p>
        </p:txBody>
      </p:sp>
      <p:sp>
        <p:nvSpPr>
          <p:cNvPr id="203" name="Google Shape;203;p28"/>
          <p:cNvSpPr/>
          <p:nvPr/>
        </p:nvSpPr>
        <p:spPr>
          <a:xfrm>
            <a:off x="548650" y="946362"/>
            <a:ext cx="2575500" cy="308700"/>
          </a:xfrm>
          <a:prstGeom prst="rect">
            <a:avLst/>
          </a:prstGeom>
          <a:solidFill>
            <a:srgbClr val="EEF7EF"/>
          </a:solidFill>
          <a:ln cap="flat" cmpd="sng" w="9525">
            <a:solidFill>
              <a:srgbClr val="EEF7EF"/>
            </a:solidFill>
            <a:prstDash val="solid"/>
            <a:round/>
            <a:headEnd len="sm" w="sm" type="none"/>
            <a:tailEnd len="sm" w="sm" type="none"/>
          </a:ln>
        </p:spPr>
        <p:txBody>
          <a:bodyPr anchorCtr="0" anchor="ctr" bIns="575" lIns="575" spcFirstLastPara="1" rIns="575" wrap="square" tIns="575">
            <a:noAutofit/>
          </a:bodyPr>
          <a:lstStyle/>
          <a:p>
            <a:pPr indent="0" lvl="0" marL="0" marR="0" rtl="0" algn="ctr">
              <a:spcBef>
                <a:spcPts val="0"/>
              </a:spcBef>
              <a:spcAft>
                <a:spcPts val="0"/>
              </a:spcAft>
              <a:buClr>
                <a:srgbClr val="3AA6A6"/>
              </a:buClr>
              <a:buSzPts val="800"/>
              <a:buFont typeface="Arial"/>
              <a:buNone/>
            </a:pPr>
            <a:r>
              <a:rPr b="1" lang="en" sz="1800">
                <a:solidFill>
                  <a:srgbClr val="3AA6A6"/>
                </a:solidFill>
              </a:rPr>
              <a:t>Supervised Learning</a:t>
            </a:r>
            <a:endParaRPr b="1" sz="1800">
              <a:solidFill>
                <a:srgbClr val="3AA6A6"/>
              </a:solidFill>
            </a:endParaRPr>
          </a:p>
        </p:txBody>
      </p:sp>
      <p:sp>
        <p:nvSpPr>
          <p:cNvPr id="204" name="Google Shape;204;p28"/>
          <p:cNvSpPr/>
          <p:nvPr/>
        </p:nvSpPr>
        <p:spPr>
          <a:xfrm>
            <a:off x="548650" y="1405875"/>
            <a:ext cx="3703500" cy="3293100"/>
          </a:xfrm>
          <a:prstGeom prst="rect">
            <a:avLst/>
          </a:prstGeom>
          <a:noFill/>
          <a:ln>
            <a:noFill/>
          </a:ln>
        </p:spPr>
        <p:txBody>
          <a:bodyPr anchorCtr="0" anchor="t" bIns="375" lIns="375" spcFirstLastPara="1" rIns="375" wrap="square" tIns="375">
            <a:noAutofit/>
          </a:bodyPr>
          <a:lstStyle/>
          <a:p>
            <a:pPr indent="-349250" lvl="0" marL="457200" marR="0" rtl="0" algn="l">
              <a:spcBef>
                <a:spcPts val="0"/>
              </a:spcBef>
              <a:spcAft>
                <a:spcPts val="0"/>
              </a:spcAft>
              <a:buClr>
                <a:srgbClr val="222222"/>
              </a:buClr>
              <a:buSzPts val="1900"/>
              <a:buFont typeface="Arial"/>
              <a:buChar char="●"/>
            </a:pPr>
            <a:r>
              <a:rPr lang="en" sz="1900">
                <a:solidFill>
                  <a:srgbClr val="222222"/>
                </a:solidFill>
              </a:rPr>
              <a:t>Use labeled data</a:t>
            </a:r>
            <a:endParaRPr sz="1900">
              <a:solidFill>
                <a:srgbClr val="222222"/>
              </a:solidFill>
            </a:endParaRPr>
          </a:p>
          <a:p>
            <a:pPr indent="-349250" lvl="0" marL="457200" marR="0" rtl="0" algn="l">
              <a:spcBef>
                <a:spcPts val="0"/>
              </a:spcBef>
              <a:spcAft>
                <a:spcPts val="0"/>
              </a:spcAft>
              <a:buClr>
                <a:srgbClr val="222222"/>
              </a:buClr>
              <a:buSzPts val="1900"/>
              <a:buChar char="●"/>
            </a:pPr>
            <a:r>
              <a:rPr lang="en" sz="1900">
                <a:solidFill>
                  <a:srgbClr val="222222"/>
                </a:solidFill>
              </a:rPr>
              <a:t>Learns relationship between features and known targets</a:t>
            </a:r>
            <a:endParaRPr sz="1900">
              <a:solidFill>
                <a:srgbClr val="222222"/>
              </a:solidFill>
            </a:endParaRPr>
          </a:p>
          <a:p>
            <a:pPr indent="-349250" lvl="0" marL="457200" marR="0" rtl="0" algn="l">
              <a:spcBef>
                <a:spcPts val="0"/>
              </a:spcBef>
              <a:spcAft>
                <a:spcPts val="0"/>
              </a:spcAft>
              <a:buClr>
                <a:srgbClr val="222222"/>
              </a:buClr>
              <a:buSzPts val="1900"/>
              <a:buChar char="●"/>
            </a:pPr>
            <a:r>
              <a:rPr lang="en" sz="1900">
                <a:solidFill>
                  <a:srgbClr val="222222"/>
                </a:solidFill>
              </a:rPr>
              <a:t>Goal is prediction/classification</a:t>
            </a:r>
            <a:endParaRPr sz="1900">
              <a:solidFill>
                <a:srgbClr val="222222"/>
              </a:solidFill>
            </a:endParaRPr>
          </a:p>
          <a:p>
            <a:pPr indent="-349250" lvl="0" marL="457200" marR="0" rtl="0" algn="l">
              <a:spcBef>
                <a:spcPts val="0"/>
              </a:spcBef>
              <a:spcAft>
                <a:spcPts val="0"/>
              </a:spcAft>
              <a:buClr>
                <a:srgbClr val="222222"/>
              </a:buClr>
              <a:buSzPts val="1900"/>
              <a:buChar char="●"/>
            </a:pPr>
            <a:r>
              <a:rPr lang="en" sz="1900">
                <a:solidFill>
                  <a:srgbClr val="222222"/>
                </a:solidFill>
              </a:rPr>
              <a:t>Has ground truth labels during training</a:t>
            </a:r>
            <a:endParaRPr sz="1900">
              <a:solidFill>
                <a:srgbClr val="222222"/>
              </a:solidFill>
            </a:endParaRPr>
          </a:p>
          <a:p>
            <a:pPr indent="-349250" lvl="0" marL="457200" marR="0" rtl="0" algn="l">
              <a:spcBef>
                <a:spcPts val="0"/>
              </a:spcBef>
              <a:spcAft>
                <a:spcPts val="0"/>
              </a:spcAft>
              <a:buClr>
                <a:srgbClr val="222222"/>
              </a:buClr>
              <a:buSzPts val="1900"/>
              <a:buChar char="●"/>
            </a:pPr>
            <a:r>
              <a:rPr lang="en" sz="1900">
                <a:solidFill>
                  <a:srgbClr val="222222"/>
                </a:solidFill>
              </a:rPr>
              <a:t>Examples: Linear Regression, Logistic Regression, SVM, Random Forest</a:t>
            </a:r>
            <a:endParaRPr sz="1900">
              <a:solidFill>
                <a:srgbClr val="222222"/>
              </a:solidFill>
            </a:endParaRPr>
          </a:p>
        </p:txBody>
      </p:sp>
      <p:sp>
        <p:nvSpPr>
          <p:cNvPr id="205" name="Google Shape;205;p28"/>
          <p:cNvSpPr/>
          <p:nvPr/>
        </p:nvSpPr>
        <p:spPr>
          <a:xfrm>
            <a:off x="4883025" y="1405900"/>
            <a:ext cx="4146600" cy="1645800"/>
          </a:xfrm>
          <a:prstGeom prst="rect">
            <a:avLst/>
          </a:prstGeom>
          <a:noFill/>
          <a:ln>
            <a:noFill/>
          </a:ln>
        </p:spPr>
        <p:txBody>
          <a:bodyPr anchorCtr="0" anchor="t" bIns="375" lIns="375" spcFirstLastPara="1" rIns="375" wrap="square" tIns="375">
            <a:noAutofit/>
          </a:bodyPr>
          <a:lstStyle/>
          <a:p>
            <a:pPr indent="-349250" lvl="0" marL="457200" marR="0" rtl="0" algn="l">
              <a:spcBef>
                <a:spcPts val="0"/>
              </a:spcBef>
              <a:spcAft>
                <a:spcPts val="0"/>
              </a:spcAft>
              <a:buClr>
                <a:srgbClr val="222222"/>
              </a:buClr>
              <a:buSzPts val="1900"/>
              <a:buFont typeface="Arial"/>
              <a:buChar char="●"/>
            </a:pPr>
            <a:r>
              <a:rPr lang="en" sz="1900">
                <a:solidFill>
                  <a:srgbClr val="222222"/>
                </a:solidFill>
              </a:rPr>
              <a:t>Use unlabeled data</a:t>
            </a:r>
            <a:endParaRPr sz="1900">
              <a:solidFill>
                <a:srgbClr val="222222"/>
              </a:solidFill>
            </a:endParaRPr>
          </a:p>
          <a:p>
            <a:pPr indent="-349250" lvl="0" marL="457200" marR="0" rtl="0" algn="l">
              <a:spcBef>
                <a:spcPts val="0"/>
              </a:spcBef>
              <a:spcAft>
                <a:spcPts val="0"/>
              </a:spcAft>
              <a:buClr>
                <a:srgbClr val="222222"/>
              </a:buClr>
              <a:buSzPts val="1900"/>
              <a:buChar char="●"/>
            </a:pPr>
            <a:r>
              <a:rPr lang="en" sz="1900">
                <a:solidFill>
                  <a:srgbClr val="222222"/>
                </a:solidFill>
              </a:rPr>
              <a:t>Finds hidden structure or patterns in data</a:t>
            </a:r>
            <a:endParaRPr sz="1900">
              <a:solidFill>
                <a:srgbClr val="222222"/>
              </a:solidFill>
            </a:endParaRPr>
          </a:p>
          <a:p>
            <a:pPr indent="-349250" lvl="0" marL="457200" marR="0" rtl="0" algn="l">
              <a:spcBef>
                <a:spcPts val="0"/>
              </a:spcBef>
              <a:spcAft>
                <a:spcPts val="0"/>
              </a:spcAft>
              <a:buClr>
                <a:srgbClr val="222222"/>
              </a:buClr>
              <a:buSzPts val="1900"/>
              <a:buChar char="●"/>
            </a:pPr>
            <a:r>
              <a:rPr lang="en" sz="1900">
                <a:solidFill>
                  <a:srgbClr val="222222"/>
                </a:solidFill>
              </a:rPr>
              <a:t>Goal is discovery, grouping, or dimensionality reduction</a:t>
            </a:r>
            <a:endParaRPr sz="1900">
              <a:solidFill>
                <a:srgbClr val="222222"/>
              </a:solidFill>
            </a:endParaRPr>
          </a:p>
          <a:p>
            <a:pPr indent="-349250" lvl="0" marL="457200" marR="0" rtl="0" algn="l">
              <a:spcBef>
                <a:spcPts val="0"/>
              </a:spcBef>
              <a:spcAft>
                <a:spcPts val="0"/>
              </a:spcAft>
              <a:buClr>
                <a:srgbClr val="222222"/>
              </a:buClr>
              <a:buSzPts val="1900"/>
              <a:buChar char="●"/>
            </a:pPr>
            <a:r>
              <a:rPr lang="en" sz="1900">
                <a:solidFill>
                  <a:srgbClr val="222222"/>
                </a:solidFill>
              </a:rPr>
              <a:t>No ground truth labels provided</a:t>
            </a:r>
            <a:endParaRPr sz="1900">
              <a:solidFill>
                <a:srgbClr val="222222"/>
              </a:solidFill>
            </a:endParaRPr>
          </a:p>
          <a:p>
            <a:pPr indent="-349250" lvl="0" marL="457200" marR="0" rtl="0" algn="l">
              <a:spcBef>
                <a:spcPts val="0"/>
              </a:spcBef>
              <a:spcAft>
                <a:spcPts val="0"/>
              </a:spcAft>
              <a:buClr>
                <a:srgbClr val="222222"/>
              </a:buClr>
              <a:buSzPts val="1900"/>
              <a:buChar char="●"/>
            </a:pPr>
            <a:r>
              <a:rPr lang="en" sz="1900">
                <a:solidFill>
                  <a:srgbClr val="222222"/>
                </a:solidFill>
              </a:rPr>
              <a:t>Examples: K-means, PCA, t-SNE, Hierarchical Clustering</a:t>
            </a:r>
            <a:endParaRPr sz="1900">
              <a:solidFill>
                <a:srgbClr val="222222"/>
              </a:solidFill>
            </a:endParaRPr>
          </a:p>
        </p:txBody>
      </p:sp>
      <p:sp>
        <p:nvSpPr>
          <p:cNvPr id="206" name="Google Shape;206;p28"/>
          <p:cNvSpPr/>
          <p:nvPr/>
        </p:nvSpPr>
        <p:spPr>
          <a:xfrm>
            <a:off x="5044450" y="946375"/>
            <a:ext cx="2575500" cy="308700"/>
          </a:xfrm>
          <a:prstGeom prst="rect">
            <a:avLst/>
          </a:prstGeom>
          <a:solidFill>
            <a:srgbClr val="EEF7EF"/>
          </a:solidFill>
          <a:ln cap="flat" cmpd="sng" w="9525">
            <a:solidFill>
              <a:srgbClr val="EEF7EF"/>
            </a:solidFill>
            <a:prstDash val="solid"/>
            <a:round/>
            <a:headEnd len="sm" w="sm" type="none"/>
            <a:tailEnd len="sm" w="sm" type="none"/>
          </a:ln>
        </p:spPr>
        <p:txBody>
          <a:bodyPr anchorCtr="0" anchor="ctr" bIns="575" lIns="575" spcFirstLastPara="1" rIns="575" wrap="square" tIns="575">
            <a:noAutofit/>
          </a:bodyPr>
          <a:lstStyle/>
          <a:p>
            <a:pPr indent="0" lvl="0" marL="0" marR="0" rtl="0" algn="ctr">
              <a:spcBef>
                <a:spcPts val="0"/>
              </a:spcBef>
              <a:spcAft>
                <a:spcPts val="0"/>
              </a:spcAft>
              <a:buClr>
                <a:srgbClr val="3AA6A6"/>
              </a:buClr>
              <a:buSzPts val="800"/>
              <a:buFont typeface="Arial"/>
              <a:buNone/>
            </a:pPr>
            <a:r>
              <a:rPr b="1" lang="en" sz="1800">
                <a:solidFill>
                  <a:srgbClr val="3AA6A6"/>
                </a:solidFill>
              </a:rPr>
              <a:t>Uns</a:t>
            </a:r>
            <a:r>
              <a:rPr b="1" lang="en" sz="1800">
                <a:solidFill>
                  <a:srgbClr val="3AA6A6"/>
                </a:solidFill>
              </a:rPr>
              <a:t>upervised Learning</a:t>
            </a:r>
            <a:endParaRPr b="1" sz="1800">
              <a:solidFill>
                <a:srgbClr val="3AA6A6"/>
              </a:solidFill>
            </a:endParaRPr>
          </a:p>
        </p:txBody>
      </p:sp>
      <p:sp>
        <p:nvSpPr>
          <p:cNvPr id="207" name="Google Shape;207;p28"/>
          <p:cNvSpPr/>
          <p:nvPr/>
        </p:nvSpPr>
        <p:spPr>
          <a:xfrm>
            <a:off x="799950" y="4474475"/>
            <a:ext cx="7544100" cy="30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b="1" lang="en" sz="1700">
                <a:solidFill>
                  <a:srgbClr val="E9873B"/>
                </a:solidFill>
                <a:latin typeface="Play"/>
                <a:ea typeface="Play"/>
                <a:cs typeface="Play"/>
                <a:sym typeface="Play"/>
              </a:rPr>
              <a:t>Supervised learning learns from known answers.</a:t>
            </a:r>
            <a:endParaRPr b="1" sz="1700">
              <a:solidFill>
                <a:srgbClr val="E9873B"/>
              </a:solidFill>
              <a:latin typeface="Play"/>
              <a:ea typeface="Play"/>
              <a:cs typeface="Play"/>
              <a:sym typeface="Play"/>
            </a:endParaRPr>
          </a:p>
          <a:p>
            <a:pPr indent="0" lvl="0" marL="0" rtl="0" algn="ctr">
              <a:spcBef>
                <a:spcPts val="0"/>
              </a:spcBef>
              <a:spcAft>
                <a:spcPts val="0"/>
              </a:spcAft>
              <a:buClr>
                <a:schemeClr val="dk1"/>
              </a:buClr>
              <a:buSzPts val="1100"/>
              <a:buFont typeface="Arial"/>
              <a:buNone/>
            </a:pPr>
            <a:r>
              <a:rPr b="1" lang="en" sz="1700">
                <a:solidFill>
                  <a:srgbClr val="E9873B"/>
                </a:solidFill>
                <a:latin typeface="Play"/>
                <a:ea typeface="Play"/>
                <a:cs typeface="Play"/>
                <a:sym typeface="Play"/>
              </a:rPr>
              <a:t>Unsupervised learning tries to discover patterns without answers.</a:t>
            </a:r>
            <a:endParaRPr b="1" sz="1700">
              <a:solidFill>
                <a:srgbClr val="E9873B"/>
              </a:solidFill>
              <a:latin typeface="Play"/>
              <a:ea typeface="Play"/>
              <a:cs typeface="Play"/>
              <a:sym typeface="Play"/>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212" name="Shape 212"/>
        <p:cNvGrpSpPr/>
        <p:nvPr/>
      </p:nvGrpSpPr>
      <p:grpSpPr>
        <a:xfrm>
          <a:off x="0" y="0"/>
          <a:ext cx="0" cy="0"/>
          <a:chOff x="0" y="0"/>
          <a:chExt cx="0" cy="0"/>
        </a:xfrm>
      </p:grpSpPr>
      <p:sp>
        <p:nvSpPr>
          <p:cNvPr id="213" name="Google Shape;213;p29"/>
          <p:cNvSpPr/>
          <p:nvPr/>
        </p:nvSpPr>
        <p:spPr>
          <a:xfrm>
            <a:off x="0" y="0"/>
            <a:ext cx="96000" cy="5143500"/>
          </a:xfrm>
          <a:prstGeom prst="rect">
            <a:avLst/>
          </a:prstGeom>
          <a:solidFill>
            <a:srgbClr val="E9873B"/>
          </a:solidFill>
          <a:ln cap="flat" cmpd="sng" w="12700">
            <a:solidFill>
              <a:srgbClr val="E9873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4" name="Google Shape;214;p29"/>
          <p:cNvSpPr/>
          <p:nvPr/>
        </p:nvSpPr>
        <p:spPr>
          <a:xfrm>
            <a:off x="377200" y="240030"/>
            <a:ext cx="8161200" cy="30870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18324A"/>
              </a:buClr>
              <a:buSzPts val="2300"/>
              <a:buFont typeface="Play"/>
              <a:buNone/>
            </a:pPr>
            <a:r>
              <a:rPr b="1" i="0" lang="en" sz="2300" u="none" cap="none" strike="noStrike">
                <a:solidFill>
                  <a:srgbClr val="18324A"/>
                </a:solidFill>
                <a:latin typeface="Play"/>
                <a:ea typeface="Play"/>
                <a:cs typeface="Play"/>
                <a:sym typeface="Play"/>
              </a:rPr>
              <a:t>Learning Modes &amp; Classification Metrics</a:t>
            </a:r>
            <a:endParaRPr b="0" i="0" sz="2300" u="none" cap="none" strike="noStrike">
              <a:solidFill>
                <a:schemeClr val="dk1"/>
              </a:solidFill>
              <a:latin typeface="Arial"/>
              <a:ea typeface="Arial"/>
              <a:cs typeface="Arial"/>
              <a:sym typeface="Arial"/>
            </a:endParaRPr>
          </a:p>
        </p:txBody>
      </p:sp>
      <p:sp>
        <p:nvSpPr>
          <p:cNvPr id="215" name="Google Shape;215;p29"/>
          <p:cNvSpPr/>
          <p:nvPr/>
        </p:nvSpPr>
        <p:spPr>
          <a:xfrm>
            <a:off x="384058" y="624078"/>
            <a:ext cx="7338300" cy="1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 sz="900" u="none" cap="none" strike="noStrike">
                <a:solidFill>
                  <a:srgbClr val="6B7280"/>
                </a:solidFill>
                <a:latin typeface="Arial"/>
                <a:ea typeface="Arial"/>
                <a:cs typeface="Arial"/>
                <a:sym typeface="Arial"/>
              </a:rPr>
              <a:t>Before choosing a metric, identify the task and the error you care about.</a:t>
            </a:r>
            <a:endParaRPr b="0" i="0" sz="900" u="none" cap="none" strike="noStrike">
              <a:solidFill>
                <a:schemeClr val="dk1"/>
              </a:solidFill>
              <a:latin typeface="Arial"/>
              <a:ea typeface="Arial"/>
              <a:cs typeface="Arial"/>
              <a:sym typeface="Arial"/>
            </a:endParaRPr>
          </a:p>
        </p:txBody>
      </p:sp>
      <p:sp>
        <p:nvSpPr>
          <p:cNvPr id="216" name="Google Shape;216;p29"/>
          <p:cNvSpPr/>
          <p:nvPr/>
        </p:nvSpPr>
        <p:spPr>
          <a:xfrm>
            <a:off x="384050" y="943051"/>
            <a:ext cx="2905200" cy="288000"/>
          </a:xfrm>
          <a:prstGeom prst="rect">
            <a:avLst/>
          </a:prstGeom>
          <a:solidFill>
            <a:srgbClr val="FFF1E6"/>
          </a:solidFill>
          <a:ln cap="flat" cmpd="sng" w="9525">
            <a:solidFill>
              <a:srgbClr val="FFF1E6"/>
            </a:solidFill>
            <a:prstDash val="solid"/>
            <a:round/>
            <a:headEnd len="sm" w="sm" type="none"/>
            <a:tailEnd len="sm" w="sm" type="none"/>
          </a:ln>
        </p:spPr>
        <p:txBody>
          <a:bodyPr anchorCtr="0" anchor="ctr" bIns="575" lIns="575" spcFirstLastPara="1" rIns="575" wrap="square" tIns="575">
            <a:noAutofit/>
          </a:bodyPr>
          <a:lstStyle/>
          <a:p>
            <a:pPr indent="0" lvl="0" marL="0" marR="0" rtl="0" algn="ctr">
              <a:spcBef>
                <a:spcPts val="0"/>
              </a:spcBef>
              <a:spcAft>
                <a:spcPts val="0"/>
              </a:spcAft>
              <a:buClr>
                <a:srgbClr val="E9873B"/>
              </a:buClr>
              <a:buSzPts val="800"/>
              <a:buFont typeface="Arial"/>
              <a:buNone/>
            </a:pPr>
            <a:r>
              <a:rPr b="1" i="0" lang="en" u="none" cap="none" strike="noStrike">
                <a:solidFill>
                  <a:srgbClr val="E9873B"/>
                </a:solidFill>
                <a:latin typeface="Arial"/>
                <a:ea typeface="Arial"/>
                <a:cs typeface="Arial"/>
                <a:sym typeface="Arial"/>
              </a:rPr>
              <a:t>Classification metric questions</a:t>
            </a:r>
            <a:endParaRPr b="0" i="0" u="none" cap="none" strike="noStrike">
              <a:solidFill>
                <a:schemeClr val="dk1"/>
              </a:solidFill>
              <a:latin typeface="Arial"/>
              <a:ea typeface="Arial"/>
              <a:cs typeface="Arial"/>
              <a:sym typeface="Arial"/>
            </a:endParaRPr>
          </a:p>
        </p:txBody>
      </p:sp>
      <p:sp>
        <p:nvSpPr>
          <p:cNvPr id="217" name="Google Shape;217;p29"/>
          <p:cNvSpPr/>
          <p:nvPr/>
        </p:nvSpPr>
        <p:spPr>
          <a:xfrm>
            <a:off x="418357" y="1354525"/>
            <a:ext cx="6757200" cy="2297400"/>
          </a:xfrm>
          <a:prstGeom prst="rect">
            <a:avLst/>
          </a:prstGeom>
          <a:noFill/>
          <a:ln>
            <a:noFill/>
          </a:ln>
        </p:spPr>
        <p:txBody>
          <a:bodyPr anchorCtr="0" anchor="t" bIns="375" lIns="375" spcFirstLastPara="1" rIns="375" wrap="square" tIns="375">
            <a:noAutofit/>
          </a:bodyPr>
          <a:lstStyle/>
          <a:p>
            <a:pPr indent="-336550" lvl="0" marL="457200" marR="0" rtl="0" algn="l">
              <a:spcBef>
                <a:spcPts val="0"/>
              </a:spcBef>
              <a:spcAft>
                <a:spcPts val="0"/>
              </a:spcAft>
              <a:buClr>
                <a:srgbClr val="222222"/>
              </a:buClr>
              <a:buSzPts val="1700"/>
              <a:buFont typeface="Arial"/>
              <a:buChar char="●"/>
            </a:pPr>
            <a:r>
              <a:rPr b="0" i="0" lang="en" sz="1700" u="none" cap="none" strike="noStrike">
                <a:solidFill>
                  <a:srgbClr val="222222"/>
                </a:solidFill>
                <a:latin typeface="Arial"/>
                <a:ea typeface="Arial"/>
                <a:cs typeface="Arial"/>
                <a:sym typeface="Arial"/>
              </a:rPr>
              <a:t>Are the labels known during training?</a:t>
            </a:r>
            <a:endParaRPr b="0" i="0" sz="1700" u="none" cap="none" strike="noStrike">
              <a:solidFill>
                <a:schemeClr val="dk1"/>
              </a:solidFill>
              <a:latin typeface="Arial"/>
              <a:ea typeface="Arial"/>
              <a:cs typeface="Arial"/>
              <a:sym typeface="Arial"/>
            </a:endParaRPr>
          </a:p>
          <a:p>
            <a:pPr indent="-336550" lvl="0" marL="457200" marR="0" rtl="0" algn="l">
              <a:spcBef>
                <a:spcPts val="0"/>
              </a:spcBef>
              <a:spcAft>
                <a:spcPts val="0"/>
              </a:spcAft>
              <a:buClr>
                <a:srgbClr val="222222"/>
              </a:buClr>
              <a:buSzPts val="1700"/>
              <a:buFont typeface="Arial"/>
              <a:buChar char="●"/>
            </a:pPr>
            <a:r>
              <a:rPr b="0" i="0" lang="en" sz="1700" u="none" cap="none" strike="noStrike">
                <a:solidFill>
                  <a:srgbClr val="222222"/>
                </a:solidFill>
                <a:latin typeface="Arial"/>
                <a:ea typeface="Arial"/>
                <a:cs typeface="Arial"/>
                <a:sym typeface="Arial"/>
              </a:rPr>
              <a:t>Is the task classification or regression?</a:t>
            </a:r>
            <a:endParaRPr b="0" i="0" sz="1700" u="none" cap="none" strike="noStrike">
              <a:solidFill>
                <a:schemeClr val="dk1"/>
              </a:solidFill>
              <a:latin typeface="Arial"/>
              <a:ea typeface="Arial"/>
              <a:cs typeface="Arial"/>
              <a:sym typeface="Arial"/>
            </a:endParaRPr>
          </a:p>
          <a:p>
            <a:pPr indent="-336550" lvl="0" marL="457200" marR="0" rtl="0" algn="l">
              <a:spcBef>
                <a:spcPts val="0"/>
              </a:spcBef>
              <a:spcAft>
                <a:spcPts val="0"/>
              </a:spcAft>
              <a:buClr>
                <a:srgbClr val="222222"/>
              </a:buClr>
              <a:buSzPts val="1700"/>
              <a:buFont typeface="Arial"/>
              <a:buChar char="●"/>
            </a:pPr>
            <a:r>
              <a:rPr b="0" i="0" lang="en" sz="1700" u="none" cap="none" strike="noStrike">
                <a:solidFill>
                  <a:srgbClr val="222222"/>
                </a:solidFill>
                <a:latin typeface="Arial"/>
                <a:ea typeface="Arial"/>
                <a:cs typeface="Arial"/>
                <a:sym typeface="Arial"/>
              </a:rPr>
              <a:t>Are the classes balanced?</a:t>
            </a:r>
            <a:endParaRPr b="0" i="0" sz="1700" u="none" cap="none" strike="noStrike">
              <a:solidFill>
                <a:schemeClr val="dk1"/>
              </a:solidFill>
              <a:latin typeface="Arial"/>
              <a:ea typeface="Arial"/>
              <a:cs typeface="Arial"/>
              <a:sym typeface="Arial"/>
            </a:endParaRPr>
          </a:p>
          <a:p>
            <a:pPr indent="-336550" lvl="0" marL="457200" marR="0" rtl="0" algn="l">
              <a:spcBef>
                <a:spcPts val="0"/>
              </a:spcBef>
              <a:spcAft>
                <a:spcPts val="0"/>
              </a:spcAft>
              <a:buClr>
                <a:srgbClr val="222222"/>
              </a:buClr>
              <a:buSzPts val="1700"/>
              <a:buFont typeface="Arial"/>
              <a:buChar char="●"/>
            </a:pPr>
            <a:r>
              <a:rPr b="0" i="0" lang="en" sz="1700" u="none" cap="none" strike="noStrike">
                <a:solidFill>
                  <a:srgbClr val="222222"/>
                </a:solidFill>
                <a:latin typeface="Arial"/>
                <a:ea typeface="Arial"/>
                <a:cs typeface="Arial"/>
                <a:sym typeface="Arial"/>
              </a:rPr>
              <a:t>Which mistake is more costly: false positive or false negative?</a:t>
            </a:r>
            <a:endParaRPr b="0" i="0" sz="1700" u="none" cap="none" strike="noStrike">
              <a:solidFill>
                <a:schemeClr val="dk1"/>
              </a:solidFill>
              <a:latin typeface="Arial"/>
              <a:ea typeface="Arial"/>
              <a:cs typeface="Arial"/>
              <a:sym typeface="Arial"/>
            </a:endParaRPr>
          </a:p>
          <a:p>
            <a:pPr indent="-336550" lvl="0" marL="457200" marR="0" rtl="0" algn="l">
              <a:spcBef>
                <a:spcPts val="0"/>
              </a:spcBef>
              <a:spcAft>
                <a:spcPts val="0"/>
              </a:spcAft>
              <a:buClr>
                <a:srgbClr val="222222"/>
              </a:buClr>
              <a:buSzPts val="1700"/>
              <a:buFont typeface="Arial"/>
              <a:buChar char="●"/>
            </a:pPr>
            <a:r>
              <a:rPr b="0" i="0" lang="en" sz="1700" u="none" cap="none" strike="noStrike">
                <a:solidFill>
                  <a:srgbClr val="222222"/>
                </a:solidFill>
                <a:latin typeface="Arial"/>
                <a:ea typeface="Arial"/>
                <a:cs typeface="Arial"/>
                <a:sym typeface="Arial"/>
              </a:rPr>
              <a:t>Would raw accuracy hide poor performance on the rare class?</a:t>
            </a:r>
            <a:endParaRPr b="0" i="0" sz="1700" u="none" cap="none" strike="noStrike">
              <a:solidFill>
                <a:schemeClr val="dk1"/>
              </a:solidFill>
              <a:latin typeface="Arial"/>
              <a:ea typeface="Arial"/>
              <a:cs typeface="Arial"/>
              <a:sym typeface="Arial"/>
            </a:endParaRPr>
          </a:p>
        </p:txBody>
      </p:sp>
      <p:sp>
        <p:nvSpPr>
          <p:cNvPr id="218" name="Google Shape;218;p29"/>
          <p:cNvSpPr/>
          <p:nvPr/>
        </p:nvSpPr>
        <p:spPr>
          <a:xfrm>
            <a:off x="754400" y="4046220"/>
            <a:ext cx="7544100" cy="288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9873B"/>
              </a:buClr>
              <a:buSzPts val="1700"/>
              <a:buFont typeface="Play"/>
              <a:buNone/>
            </a:pPr>
            <a:r>
              <a:rPr b="1" i="0" lang="en" sz="1700" u="none" cap="none" strike="noStrike">
                <a:solidFill>
                  <a:srgbClr val="E9873B"/>
                </a:solidFill>
                <a:latin typeface="Play"/>
                <a:ea typeface="Play"/>
                <a:cs typeface="Play"/>
                <a:sym typeface="Play"/>
              </a:rPr>
              <a:t>Metric choice should match the decision problem.</a:t>
            </a:r>
            <a:endParaRPr b="0" i="0" sz="170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Clr>
                <a:schemeClr val="dk1"/>
              </a:buClr>
              <a:buSzPct val="39286"/>
              <a:buFont typeface="Arial"/>
              <a:buNone/>
            </a:pPr>
            <a:r>
              <a:rPr lang="en"/>
              <a:t>Academic Integrity Reminder for Quizzes</a:t>
            </a:r>
            <a:endParaRPr/>
          </a:p>
          <a:p>
            <a:pPr indent="0" lvl="0" marL="0" rtl="0" algn="l">
              <a:spcBef>
                <a:spcPts val="1200"/>
              </a:spcBef>
              <a:spcAft>
                <a:spcPts val="0"/>
              </a:spcAft>
              <a:buNone/>
            </a:pPr>
            <a:r>
              <a:t/>
            </a:r>
            <a:endParaRPr/>
          </a:p>
        </p:txBody>
      </p:sp>
      <p:sp>
        <p:nvSpPr>
          <p:cNvPr id="224" name="Google Shape;224;p3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6710" lvl="0" marL="457200" rtl="0" algn="l">
              <a:spcBef>
                <a:spcPts val="1200"/>
              </a:spcBef>
              <a:spcAft>
                <a:spcPts val="0"/>
              </a:spcAft>
              <a:buClr>
                <a:schemeClr val="dk1"/>
              </a:buClr>
              <a:buSzPts val="1860"/>
              <a:buChar char="●"/>
            </a:pPr>
            <a:r>
              <a:rPr lang="en" sz="1860">
                <a:solidFill>
                  <a:schemeClr val="dk1"/>
                </a:solidFill>
              </a:rPr>
              <a:t>Quiz activity and LockDown Browser logs are </a:t>
            </a:r>
            <a:r>
              <a:rPr b="1" lang="en" sz="1860">
                <a:solidFill>
                  <a:srgbClr val="FF0000"/>
                </a:solidFill>
              </a:rPr>
              <a:t>monitored.</a:t>
            </a:r>
            <a:endParaRPr sz="1860">
              <a:solidFill>
                <a:schemeClr val="dk1"/>
              </a:solidFill>
            </a:endParaRPr>
          </a:p>
          <a:p>
            <a:pPr indent="-346710" lvl="0" marL="457200" rtl="0" algn="l">
              <a:spcBef>
                <a:spcPts val="0"/>
              </a:spcBef>
              <a:spcAft>
                <a:spcPts val="0"/>
              </a:spcAft>
              <a:buClr>
                <a:schemeClr val="dk1"/>
              </a:buClr>
              <a:buSzPts val="1860"/>
              <a:buChar char="●"/>
            </a:pPr>
            <a:r>
              <a:rPr b="1" lang="en" sz="1860">
                <a:solidFill>
                  <a:srgbClr val="FF0000"/>
                </a:solidFill>
              </a:rPr>
              <a:t>Suspicious activity has been recorded.</a:t>
            </a:r>
            <a:endParaRPr sz="1860">
              <a:solidFill>
                <a:schemeClr val="dk1"/>
              </a:solidFill>
            </a:endParaRPr>
          </a:p>
          <a:p>
            <a:pPr indent="-346710" lvl="0" marL="457200" rtl="0" algn="l">
              <a:spcBef>
                <a:spcPts val="0"/>
              </a:spcBef>
              <a:spcAft>
                <a:spcPts val="0"/>
              </a:spcAft>
              <a:buClr>
                <a:schemeClr val="dk1"/>
              </a:buClr>
              <a:buSzPts val="1860"/>
              <a:buChar char="●"/>
            </a:pPr>
            <a:r>
              <a:rPr b="1" lang="en" sz="1860">
                <a:solidFill>
                  <a:srgbClr val="FF0000"/>
                </a:solidFill>
              </a:rPr>
              <a:t>Do not cheat in any form</a:t>
            </a:r>
            <a:r>
              <a:rPr lang="en" sz="1860">
                <a:solidFill>
                  <a:schemeClr val="dk1"/>
                </a:solidFill>
              </a:rPr>
              <a:t>, including:</a:t>
            </a:r>
            <a:endParaRPr sz="1860">
              <a:solidFill>
                <a:schemeClr val="dk1"/>
              </a:solidFill>
            </a:endParaRPr>
          </a:p>
          <a:p>
            <a:pPr indent="-346710" lvl="1" marL="914400" rtl="0" algn="l">
              <a:spcBef>
                <a:spcPts val="0"/>
              </a:spcBef>
              <a:spcAft>
                <a:spcPts val="0"/>
              </a:spcAft>
              <a:buClr>
                <a:schemeClr val="dk1"/>
              </a:buClr>
              <a:buSzPts val="1860"/>
              <a:buChar char="○"/>
            </a:pPr>
            <a:r>
              <a:rPr lang="en" sz="1860">
                <a:solidFill>
                  <a:schemeClr val="dk1"/>
                </a:solidFill>
              </a:rPr>
              <a:t>using AI/notes</a:t>
            </a:r>
            <a:endParaRPr sz="1860">
              <a:solidFill>
                <a:schemeClr val="dk1"/>
              </a:solidFill>
            </a:endParaRPr>
          </a:p>
          <a:p>
            <a:pPr indent="-346710" lvl="1" marL="914400" rtl="0" algn="l">
              <a:spcBef>
                <a:spcPts val="0"/>
              </a:spcBef>
              <a:spcAft>
                <a:spcPts val="0"/>
              </a:spcAft>
              <a:buClr>
                <a:schemeClr val="dk1"/>
              </a:buClr>
              <a:buSzPts val="1860"/>
              <a:buChar char="○"/>
            </a:pPr>
            <a:r>
              <a:rPr lang="en" sz="1860">
                <a:solidFill>
                  <a:schemeClr val="dk1"/>
                </a:solidFill>
              </a:rPr>
              <a:t>sharing codes or answers</a:t>
            </a:r>
            <a:endParaRPr sz="1860">
              <a:solidFill>
                <a:schemeClr val="dk1"/>
              </a:solidFill>
            </a:endParaRPr>
          </a:p>
          <a:p>
            <a:pPr indent="-346710" lvl="1" marL="914400" rtl="0" algn="l">
              <a:spcBef>
                <a:spcPts val="0"/>
              </a:spcBef>
              <a:spcAft>
                <a:spcPts val="0"/>
              </a:spcAft>
              <a:buClr>
                <a:schemeClr val="dk1"/>
              </a:buClr>
              <a:buSzPts val="1860"/>
              <a:buChar char="○"/>
            </a:pPr>
            <a:r>
              <a:rPr lang="en" sz="1860">
                <a:solidFill>
                  <a:schemeClr val="dk1"/>
                </a:solidFill>
              </a:rPr>
              <a:t>communicating with others</a:t>
            </a:r>
            <a:endParaRPr sz="1860">
              <a:solidFill>
                <a:schemeClr val="dk1"/>
              </a:solidFill>
            </a:endParaRPr>
          </a:p>
          <a:p>
            <a:pPr indent="-346710" lvl="1" marL="914400" rtl="0" algn="l">
              <a:spcBef>
                <a:spcPts val="0"/>
              </a:spcBef>
              <a:spcAft>
                <a:spcPts val="0"/>
              </a:spcAft>
              <a:buClr>
                <a:schemeClr val="dk1"/>
              </a:buClr>
              <a:buSzPts val="1860"/>
              <a:buChar char="○"/>
            </a:pPr>
            <a:r>
              <a:rPr lang="en" sz="1860">
                <a:solidFill>
                  <a:schemeClr val="dk1"/>
                </a:solidFill>
              </a:rPr>
              <a:t>taking the quiz outside section.</a:t>
            </a:r>
            <a:endParaRPr sz="1860">
              <a:solidFill>
                <a:schemeClr val="dk1"/>
              </a:solidFill>
            </a:endParaRPr>
          </a:p>
          <a:p>
            <a:pPr indent="-346710" lvl="0" marL="457200" rtl="0" algn="l">
              <a:spcBef>
                <a:spcPts val="0"/>
              </a:spcBef>
              <a:spcAft>
                <a:spcPts val="0"/>
              </a:spcAft>
              <a:buClr>
                <a:schemeClr val="dk1"/>
              </a:buClr>
              <a:buSzPts val="1860"/>
              <a:buChar char="●"/>
            </a:pPr>
            <a:r>
              <a:rPr b="1" lang="en" sz="1860">
                <a:solidFill>
                  <a:srgbClr val="FF0000"/>
                </a:solidFill>
              </a:rPr>
              <a:t>Further violations will be reported to the Academic Integrity Office.</a:t>
            </a:r>
            <a:endParaRPr b="1" sz="1860">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5000"/>
              <a:t>Quiz Time</a:t>
            </a:r>
            <a:endParaRPr sz="5000"/>
          </a:p>
        </p:txBody>
      </p:sp>
      <p:sp>
        <p:nvSpPr>
          <p:cNvPr id="230" name="Google Shape;230;p31"/>
          <p:cNvSpPr txBox="1"/>
          <p:nvPr/>
        </p:nvSpPr>
        <p:spPr>
          <a:xfrm>
            <a:off x="5203325" y="4372900"/>
            <a:ext cx="3821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dk2"/>
                </a:solidFill>
              </a:rPr>
              <a:t>Access Code: springsteen</a:t>
            </a:r>
            <a:endParaRPr b="1" sz="3600">
              <a:solidFill>
                <a:schemeClr val="dk2"/>
              </a:solidFill>
            </a:endParaRPr>
          </a:p>
        </p:txBody>
      </p:sp>
      <p:sp>
        <p:nvSpPr>
          <p:cNvPr id="231" name="Google Shape;231;p31"/>
          <p:cNvSpPr txBox="1"/>
          <p:nvPr/>
        </p:nvSpPr>
        <p:spPr>
          <a:xfrm>
            <a:off x="1444950" y="3181100"/>
            <a:ext cx="62541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a:solidFill>
                  <a:schemeClr val="dk2"/>
                </a:solidFill>
              </a:rPr>
              <a:t>NO Phone, NO Communication, No Notes</a:t>
            </a:r>
            <a:endParaRPr sz="2400">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2"/>
          <p:cNvSpPr txBox="1"/>
          <p:nvPr>
            <p:ph type="title"/>
          </p:nvPr>
        </p:nvSpPr>
        <p:spPr>
          <a:xfrm>
            <a:off x="311700" y="445025"/>
            <a:ext cx="8520600" cy="572700"/>
          </a:xfrm>
          <a:prstGeom prst="rect">
            <a:avLst/>
          </a:prstGeom>
          <a:noFill/>
          <a:ln>
            <a:noFill/>
          </a:ln>
        </p:spPr>
        <p:txBody>
          <a:bodyPr anchorCtr="0" anchor="ctr" bIns="19050" lIns="19050" spcFirstLastPara="1" rIns="19050" wrap="square" tIns="19050">
            <a:normAutofit/>
          </a:bodyPr>
          <a:lstStyle/>
          <a:p>
            <a:pPr indent="0" lvl="0" marL="0" rtl="0" algn="l">
              <a:lnSpc>
                <a:spcPct val="100000"/>
              </a:lnSpc>
              <a:spcBef>
                <a:spcPts val="0"/>
              </a:spcBef>
              <a:spcAft>
                <a:spcPts val="0"/>
              </a:spcAft>
              <a:buClr>
                <a:srgbClr val="000000"/>
              </a:buClr>
              <a:buSzPts val="4200"/>
              <a:buFont typeface="Avenir"/>
              <a:buNone/>
            </a:pPr>
            <a:r>
              <a:rPr lang="en" sz="3000">
                <a:latin typeface="Avenir"/>
                <a:ea typeface="Avenir"/>
                <a:cs typeface="Avenir"/>
                <a:sym typeface="Avenir"/>
              </a:rPr>
              <a:t>Your time to …</a:t>
            </a:r>
            <a:endParaRPr sz="3000">
              <a:latin typeface="Avenir"/>
              <a:ea typeface="Avenir"/>
              <a:cs typeface="Avenir"/>
              <a:sym typeface="Avenir"/>
            </a:endParaRPr>
          </a:p>
        </p:txBody>
      </p:sp>
      <p:sp>
        <p:nvSpPr>
          <p:cNvPr id="237" name="Google Shape;237;p32"/>
          <p:cNvSpPr txBox="1"/>
          <p:nvPr>
            <p:ph idx="1" type="body"/>
          </p:nvPr>
        </p:nvSpPr>
        <p:spPr>
          <a:xfrm>
            <a:off x="633413" y="1362075"/>
            <a:ext cx="7624800" cy="3528600"/>
          </a:xfrm>
          <a:prstGeom prst="rect">
            <a:avLst/>
          </a:prstGeom>
          <a:noFill/>
          <a:ln>
            <a:noFill/>
          </a:ln>
        </p:spPr>
        <p:txBody>
          <a:bodyPr anchorCtr="0" anchor="t" bIns="19050" lIns="19050" spcFirstLastPara="1" rIns="19050" wrap="square" tIns="19050">
            <a:normAutofit/>
          </a:bodyPr>
          <a:lstStyle/>
          <a:p>
            <a:pPr indent="-234950" lvl="0" marL="266700" rtl="0" algn="l">
              <a:lnSpc>
                <a:spcPct val="100000"/>
              </a:lnSpc>
              <a:spcBef>
                <a:spcPts val="1500"/>
              </a:spcBef>
              <a:spcAft>
                <a:spcPts val="0"/>
              </a:spcAft>
              <a:buSzPts val="2100"/>
              <a:buFont typeface="Avenir"/>
              <a:buChar char="●"/>
            </a:pPr>
            <a:r>
              <a:rPr lang="en" sz="2100">
                <a:latin typeface="Avenir"/>
                <a:ea typeface="Avenir"/>
                <a:cs typeface="Avenir"/>
                <a:sym typeface="Avenir"/>
              </a:rPr>
              <a:t>Work on projects</a:t>
            </a:r>
            <a:endParaRPr sz="2100">
              <a:latin typeface="Avenir"/>
              <a:ea typeface="Avenir"/>
              <a:cs typeface="Avenir"/>
              <a:sym typeface="Avenir"/>
            </a:endParaRPr>
          </a:p>
          <a:p>
            <a:pPr indent="-234950" lvl="0" marL="266700" rtl="0" algn="l">
              <a:lnSpc>
                <a:spcPct val="100000"/>
              </a:lnSpc>
              <a:spcBef>
                <a:spcPts val="1500"/>
              </a:spcBef>
              <a:spcAft>
                <a:spcPts val="0"/>
              </a:spcAft>
              <a:buSzPts val="2100"/>
              <a:buFont typeface="Avenir"/>
              <a:buChar char="●"/>
            </a:pPr>
            <a:r>
              <a:rPr lang="en" sz="2100">
                <a:latin typeface="Avenir"/>
                <a:ea typeface="Avenir"/>
                <a:cs typeface="Avenir"/>
                <a:sym typeface="Avenir"/>
              </a:rPr>
              <a:t>Finish Checkpoint</a:t>
            </a:r>
            <a:endParaRPr sz="2100">
              <a:latin typeface="Avenir"/>
              <a:ea typeface="Avenir"/>
              <a:cs typeface="Avenir"/>
              <a:sym typeface="Avenir"/>
            </a:endParaRPr>
          </a:p>
          <a:p>
            <a:pPr indent="-234950" lvl="0" marL="266700" rtl="0" algn="l">
              <a:lnSpc>
                <a:spcPct val="100000"/>
              </a:lnSpc>
              <a:spcBef>
                <a:spcPts val="1500"/>
              </a:spcBef>
              <a:spcAft>
                <a:spcPts val="0"/>
              </a:spcAft>
              <a:buSzPts val="2100"/>
              <a:buFont typeface="Avenir"/>
              <a:buChar char="●"/>
            </a:pPr>
            <a:r>
              <a:rPr lang="en" sz="2100">
                <a:latin typeface="Avenir"/>
                <a:ea typeface="Avenir"/>
                <a:cs typeface="Avenir"/>
                <a:sym typeface="Avenir"/>
              </a:rPr>
              <a:t>Finish D6</a:t>
            </a:r>
            <a:endParaRPr sz="2100">
              <a:latin typeface="Avenir"/>
              <a:ea typeface="Avenir"/>
              <a:cs typeface="Avenir"/>
              <a:sym typeface="Avenir"/>
            </a:endParaRPr>
          </a:p>
          <a:p>
            <a:pPr indent="-234950" lvl="0" marL="266700" rtl="0" algn="l">
              <a:lnSpc>
                <a:spcPct val="100000"/>
              </a:lnSpc>
              <a:spcBef>
                <a:spcPts val="1500"/>
              </a:spcBef>
              <a:spcAft>
                <a:spcPts val="0"/>
              </a:spcAft>
              <a:buSzPts val="2100"/>
              <a:buFont typeface="Avenir"/>
              <a:buChar char="●"/>
            </a:pPr>
            <a:r>
              <a:rPr lang="en" sz="2100">
                <a:latin typeface="Avenir"/>
                <a:ea typeface="Avenir"/>
                <a:cs typeface="Avenir"/>
                <a:sym typeface="Avenir"/>
              </a:rPr>
              <a:t>Have fun...</a:t>
            </a:r>
            <a:endParaRPr sz="2100">
              <a:latin typeface="Avenir"/>
              <a:ea typeface="Avenir"/>
              <a:cs typeface="Avenir"/>
              <a:sym typeface="Aveni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